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Handelson Three" charset="1" panose="00000100000000000000"/>
      <p:regular r:id="rId22"/>
    </p:embeddedFont>
    <p:embeddedFont>
      <p:font typeface="Engravers' Old English BT Bold" charset="1" panose="03040802040708030602"/>
      <p:regular r:id="rId23"/>
    </p:embeddedFont>
    <p:embeddedFont>
      <p:font typeface="Tex Gyre Termes Bold" charset="1" panose="00000800000000000000"/>
      <p:regular r:id="rId24"/>
    </p:embeddedFont>
    <p:embeddedFont>
      <p:font typeface="Times New Roman" charset="1" panose="02020603050405020304"/>
      <p:regular r:id="rId25"/>
    </p:embeddedFont>
    <p:embeddedFont>
      <p:font typeface="Times New Roman Bold" charset="1" panose="02020803070505020304"/>
      <p:regular r:id="rId26"/>
    </p:embeddedFont>
    <p:embeddedFont>
      <p:font typeface="Red Hat Display Bold" charset="1" panose="02010803040201060303"/>
      <p:regular r:id="rId27"/>
    </p:embeddedFont>
    <p:embeddedFont>
      <p:font typeface="CanvaSansSC-Regular" charset="1" panose="00000000000000000000"/>
      <p:regular r:id="rId28"/>
    </p:embeddedFont>
    <p:embeddedFont>
      <p:font typeface="Red Hat Display" charset="1" panose="02010503040201060303"/>
      <p:regular r:id="rId29"/>
    </p:embeddedFont>
    <p:embeddedFont>
      <p:font typeface="Red Hat Display Italics" charset="1" panose="020105030402010D0303"/>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jpe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jpe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jpeg" Type="http://schemas.openxmlformats.org/officeDocument/2006/relationships/image"/><Relationship Id="rId3" Target="../media/image22.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jpeg" Type="http://schemas.openxmlformats.org/officeDocument/2006/relationships/image"/><Relationship Id="rId3" Target="../media/image24.jpeg" Type="http://schemas.openxmlformats.org/officeDocument/2006/relationships/image"/><Relationship Id="rId4" Target="../media/image12.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jpeg" Type="http://schemas.openxmlformats.org/officeDocument/2006/relationships/image"/><Relationship Id="rId3" Target="../media/image28.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jpeg" Type="http://schemas.openxmlformats.org/officeDocument/2006/relationships/image"/><Relationship Id="rId3" Target="../media/image30.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jpeg" Type="http://schemas.openxmlformats.org/officeDocument/2006/relationships/image"/><Relationship Id="rId3" Target="../media/image32.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 Id="rId3" Target="../media/image34.svg" Type="http://schemas.openxmlformats.org/officeDocument/2006/relationships/image"/><Relationship Id="rId4" Target="../media/image35.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D9A85F"/>
        </a:solidFill>
      </p:bgPr>
    </p:bg>
    <p:spTree>
      <p:nvGrpSpPr>
        <p:cNvPr id="1" name=""/>
        <p:cNvGrpSpPr/>
        <p:nvPr/>
      </p:nvGrpSpPr>
      <p:grpSpPr>
        <a:xfrm>
          <a:off x="0" y="0"/>
          <a:ext cx="0" cy="0"/>
          <a:chOff x="0" y="0"/>
          <a:chExt cx="0" cy="0"/>
        </a:xfrm>
      </p:grpSpPr>
      <p:grpSp>
        <p:nvGrpSpPr>
          <p:cNvPr name="Group 2" id="2"/>
          <p:cNvGrpSpPr/>
          <p:nvPr/>
        </p:nvGrpSpPr>
        <p:grpSpPr>
          <a:xfrm rot="0">
            <a:off x="-63503" y="-63503"/>
            <a:ext cx="18418045" cy="10413997"/>
            <a:chOff x="0" y="0"/>
            <a:chExt cx="18418048" cy="10414000"/>
          </a:xfrm>
        </p:grpSpPr>
        <p:sp>
          <p:nvSpPr>
            <p:cNvPr name="Freeform 3" id="3"/>
            <p:cNvSpPr/>
            <p:nvPr/>
          </p:nvSpPr>
          <p:spPr>
            <a:xfrm flipH="false" flipV="false" rot="0">
              <a:off x="63500" y="2077339"/>
              <a:ext cx="18288000" cy="9525"/>
            </a:xfrm>
            <a:custGeom>
              <a:avLst/>
              <a:gdLst/>
              <a:ahLst/>
              <a:cxnLst/>
              <a:rect r="r" b="b" t="t" l="l"/>
              <a:pathLst>
                <a:path h="9525" w="18288000">
                  <a:moveTo>
                    <a:pt x="0" y="0"/>
                  </a:moveTo>
                  <a:lnTo>
                    <a:pt x="0" y="9525"/>
                  </a:lnTo>
                  <a:lnTo>
                    <a:pt x="18288000" y="9525"/>
                  </a:lnTo>
                  <a:lnTo>
                    <a:pt x="18288000" y="0"/>
                  </a:lnTo>
                  <a:close/>
                </a:path>
              </a:pathLst>
            </a:custGeom>
            <a:solidFill>
              <a:srgbClr val="272727"/>
            </a:solidFill>
          </p:spPr>
        </p:sp>
        <p:sp>
          <p:nvSpPr>
            <p:cNvPr name="Freeform 4" id="4"/>
            <p:cNvSpPr/>
            <p:nvPr/>
          </p:nvSpPr>
          <p:spPr>
            <a:xfrm flipH="false" flipV="false" rot="0">
              <a:off x="63500" y="7602474"/>
              <a:ext cx="18288000" cy="9525"/>
            </a:xfrm>
            <a:custGeom>
              <a:avLst/>
              <a:gdLst/>
              <a:ahLst/>
              <a:cxnLst/>
              <a:rect r="r" b="b" t="t" l="l"/>
              <a:pathLst>
                <a:path h="9525" w="18288000">
                  <a:moveTo>
                    <a:pt x="0" y="0"/>
                  </a:moveTo>
                  <a:lnTo>
                    <a:pt x="0" y="9525"/>
                  </a:lnTo>
                  <a:lnTo>
                    <a:pt x="18288000" y="9525"/>
                  </a:lnTo>
                  <a:lnTo>
                    <a:pt x="18288000" y="0"/>
                  </a:lnTo>
                  <a:close/>
                </a:path>
              </a:pathLst>
            </a:custGeom>
            <a:solidFill>
              <a:srgbClr val="272727"/>
            </a:solidFill>
          </p:spPr>
        </p:sp>
        <p:sp>
          <p:nvSpPr>
            <p:cNvPr name="Freeform 5" id="5"/>
            <p:cNvSpPr/>
            <p:nvPr/>
          </p:nvSpPr>
          <p:spPr>
            <a:xfrm flipH="false" flipV="false" rot="0">
              <a:off x="9207500" y="63500"/>
              <a:ext cx="9144000" cy="10287000"/>
            </a:xfrm>
            <a:custGeom>
              <a:avLst/>
              <a:gdLst/>
              <a:ahLst/>
              <a:cxnLst/>
              <a:rect r="r" b="b" t="t" l="l"/>
              <a:pathLst>
                <a:path h="10287000" w="9144000">
                  <a:moveTo>
                    <a:pt x="0" y="0"/>
                  </a:moveTo>
                  <a:lnTo>
                    <a:pt x="9144000" y="0"/>
                  </a:lnTo>
                  <a:lnTo>
                    <a:pt x="9144000" y="10287000"/>
                  </a:lnTo>
                  <a:lnTo>
                    <a:pt x="0" y="10287000"/>
                  </a:lnTo>
                  <a:close/>
                </a:path>
              </a:pathLst>
            </a:custGeom>
            <a:solidFill>
              <a:srgbClr val="603838"/>
            </a:solidFill>
          </p:spPr>
        </p:sp>
        <p:sp>
          <p:nvSpPr>
            <p:cNvPr name="Freeform 6" id="6"/>
            <p:cNvSpPr/>
            <p:nvPr/>
          </p:nvSpPr>
          <p:spPr>
            <a:xfrm flipH="false" flipV="false" rot="0">
              <a:off x="9197975" y="63500"/>
              <a:ext cx="9525" cy="10287000"/>
            </a:xfrm>
            <a:custGeom>
              <a:avLst/>
              <a:gdLst/>
              <a:ahLst/>
              <a:cxnLst/>
              <a:rect r="r" b="b" t="t" l="l"/>
              <a:pathLst>
                <a:path h="10287000" w="9525">
                  <a:moveTo>
                    <a:pt x="0" y="0"/>
                  </a:moveTo>
                  <a:lnTo>
                    <a:pt x="0" y="10287000"/>
                  </a:lnTo>
                  <a:lnTo>
                    <a:pt x="9525" y="10287000"/>
                  </a:lnTo>
                  <a:lnTo>
                    <a:pt x="9525" y="0"/>
                  </a:lnTo>
                  <a:close/>
                </a:path>
              </a:pathLst>
            </a:custGeom>
            <a:solidFill>
              <a:srgbClr val="272727"/>
            </a:solidFill>
          </p:spPr>
        </p:sp>
        <p:sp>
          <p:nvSpPr>
            <p:cNvPr name="Freeform 7" id="7"/>
            <p:cNvSpPr/>
            <p:nvPr/>
          </p:nvSpPr>
          <p:spPr>
            <a:xfrm flipH="false" flipV="false" rot="0">
              <a:off x="67691" y="63500"/>
              <a:ext cx="1028700" cy="10287000"/>
            </a:xfrm>
            <a:custGeom>
              <a:avLst/>
              <a:gdLst/>
              <a:ahLst/>
              <a:cxnLst/>
              <a:rect r="r" b="b" t="t" l="l"/>
              <a:pathLst>
                <a:path h="10287000" w="1028700">
                  <a:moveTo>
                    <a:pt x="0" y="0"/>
                  </a:moveTo>
                  <a:lnTo>
                    <a:pt x="0" y="10287000"/>
                  </a:lnTo>
                  <a:lnTo>
                    <a:pt x="1028700" y="10287000"/>
                  </a:lnTo>
                  <a:lnTo>
                    <a:pt x="1028700" y="0"/>
                  </a:lnTo>
                  <a:close/>
                </a:path>
              </a:pathLst>
            </a:custGeom>
            <a:solidFill>
              <a:srgbClr val="EEF0F2"/>
            </a:solidFill>
          </p:spPr>
        </p:sp>
      </p:grpSp>
      <p:grpSp>
        <p:nvGrpSpPr>
          <p:cNvPr name="Group 8" id="8"/>
          <p:cNvGrpSpPr/>
          <p:nvPr/>
        </p:nvGrpSpPr>
        <p:grpSpPr>
          <a:xfrm rot="0">
            <a:off x="1771536" y="63722"/>
            <a:ext cx="2425979" cy="2183378"/>
            <a:chOff x="0" y="0"/>
            <a:chExt cx="3234639" cy="2911170"/>
          </a:xfrm>
        </p:grpSpPr>
        <p:sp>
          <p:nvSpPr>
            <p:cNvPr name="Freeform 9" id="9"/>
            <p:cNvSpPr/>
            <p:nvPr/>
          </p:nvSpPr>
          <p:spPr>
            <a:xfrm flipH="false" flipV="false" rot="0">
              <a:off x="0" y="0"/>
              <a:ext cx="3234690" cy="2911221"/>
            </a:xfrm>
            <a:custGeom>
              <a:avLst/>
              <a:gdLst/>
              <a:ahLst/>
              <a:cxnLst/>
              <a:rect r="r" b="b" t="t" l="l"/>
              <a:pathLst>
                <a:path h="2911221" w="3234690">
                  <a:moveTo>
                    <a:pt x="0" y="0"/>
                  </a:moveTo>
                  <a:lnTo>
                    <a:pt x="3234690" y="0"/>
                  </a:lnTo>
                  <a:lnTo>
                    <a:pt x="3234690" y="2911221"/>
                  </a:lnTo>
                  <a:lnTo>
                    <a:pt x="0" y="2911221"/>
                  </a:lnTo>
                  <a:lnTo>
                    <a:pt x="0" y="0"/>
                  </a:lnTo>
                  <a:close/>
                </a:path>
              </a:pathLst>
            </a:custGeom>
            <a:blipFill>
              <a:blip r:embed="rId2"/>
              <a:stretch>
                <a:fillRect l="0" t="-2346" r="1" b="-2352"/>
              </a:stretch>
            </a:blipFill>
          </p:spPr>
        </p:sp>
      </p:grpSp>
      <p:grpSp>
        <p:nvGrpSpPr>
          <p:cNvPr name="Group 10" id="10"/>
          <p:cNvGrpSpPr/>
          <p:nvPr/>
        </p:nvGrpSpPr>
        <p:grpSpPr>
          <a:xfrm rot="0">
            <a:off x="13507936" y="0"/>
            <a:ext cx="2675868" cy="2320928"/>
            <a:chOff x="0" y="0"/>
            <a:chExt cx="3567824" cy="3094571"/>
          </a:xfrm>
        </p:grpSpPr>
        <p:sp>
          <p:nvSpPr>
            <p:cNvPr name="Freeform 11" id="11"/>
            <p:cNvSpPr/>
            <p:nvPr/>
          </p:nvSpPr>
          <p:spPr>
            <a:xfrm flipH="false" flipV="false" rot="0">
              <a:off x="0" y="0"/>
              <a:ext cx="3567938" cy="3094609"/>
            </a:xfrm>
            <a:custGeom>
              <a:avLst/>
              <a:gdLst/>
              <a:ahLst/>
              <a:cxnLst/>
              <a:rect r="r" b="b" t="t" l="l"/>
              <a:pathLst>
                <a:path h="3094609" w="3567938">
                  <a:moveTo>
                    <a:pt x="752602" y="0"/>
                  </a:moveTo>
                  <a:cubicBezTo>
                    <a:pt x="297180" y="308737"/>
                    <a:pt x="0" y="816483"/>
                    <a:pt x="0" y="1390523"/>
                  </a:cubicBezTo>
                  <a:cubicBezTo>
                    <a:pt x="0" y="2331593"/>
                    <a:pt x="798830" y="3094609"/>
                    <a:pt x="1784223" y="3094609"/>
                  </a:cubicBezTo>
                  <a:cubicBezTo>
                    <a:pt x="2755265" y="3094609"/>
                    <a:pt x="3545205" y="2353691"/>
                    <a:pt x="3567938" y="1431417"/>
                  </a:cubicBezTo>
                  <a:lnTo>
                    <a:pt x="3567938" y="1349756"/>
                  </a:lnTo>
                  <a:cubicBezTo>
                    <a:pt x="3554095" y="792480"/>
                    <a:pt x="3260344" y="301371"/>
                    <a:pt x="2815717" y="0"/>
                  </a:cubicBezTo>
                  <a:close/>
                </a:path>
              </a:pathLst>
            </a:custGeom>
            <a:blipFill>
              <a:blip r:embed="rId3"/>
              <a:stretch>
                <a:fillRect l="0" t="-13767" r="3" b="-3674"/>
              </a:stretch>
            </a:blipFill>
          </p:spPr>
        </p:sp>
      </p:grpSp>
      <p:grpSp>
        <p:nvGrpSpPr>
          <p:cNvPr name="Group 12" id="12"/>
          <p:cNvGrpSpPr/>
          <p:nvPr/>
        </p:nvGrpSpPr>
        <p:grpSpPr>
          <a:xfrm rot="0">
            <a:off x="10403938" y="2464737"/>
            <a:ext cx="1810150" cy="793109"/>
            <a:chOff x="0" y="0"/>
            <a:chExt cx="2413533" cy="1057478"/>
          </a:xfrm>
        </p:grpSpPr>
        <p:sp>
          <p:nvSpPr>
            <p:cNvPr name="Freeform 13" id="13"/>
            <p:cNvSpPr/>
            <p:nvPr/>
          </p:nvSpPr>
          <p:spPr>
            <a:xfrm flipH="false" flipV="false" rot="0">
              <a:off x="0" y="0"/>
              <a:ext cx="2413508" cy="1057529"/>
            </a:xfrm>
            <a:custGeom>
              <a:avLst/>
              <a:gdLst/>
              <a:ahLst/>
              <a:cxnLst/>
              <a:rect r="r" b="b" t="t" l="l"/>
              <a:pathLst>
                <a:path h="1057529" w="2413508">
                  <a:moveTo>
                    <a:pt x="0" y="0"/>
                  </a:moveTo>
                  <a:lnTo>
                    <a:pt x="2413508" y="0"/>
                  </a:lnTo>
                  <a:lnTo>
                    <a:pt x="2413508" y="1057529"/>
                  </a:lnTo>
                  <a:lnTo>
                    <a:pt x="0" y="1057529"/>
                  </a:lnTo>
                  <a:lnTo>
                    <a:pt x="0" y="0"/>
                  </a:lnTo>
                  <a:close/>
                </a:path>
              </a:pathLst>
            </a:custGeom>
            <a:blipFill>
              <a:blip r:embed="rId4"/>
              <a:stretch>
                <a:fillRect l="0" t="-6266" r="-4124" b="-6669"/>
              </a:stretch>
            </a:blipFill>
          </p:spPr>
        </p:sp>
      </p:grpSp>
      <p:grpSp>
        <p:nvGrpSpPr>
          <p:cNvPr name="Group 14" id="14"/>
          <p:cNvGrpSpPr/>
          <p:nvPr/>
        </p:nvGrpSpPr>
        <p:grpSpPr>
          <a:xfrm rot="0">
            <a:off x="7653480" y="2363524"/>
            <a:ext cx="1399604" cy="998382"/>
            <a:chOff x="0" y="0"/>
            <a:chExt cx="1866138" cy="1331176"/>
          </a:xfrm>
        </p:grpSpPr>
        <p:sp>
          <p:nvSpPr>
            <p:cNvPr name="Freeform 15" id="15"/>
            <p:cNvSpPr/>
            <p:nvPr/>
          </p:nvSpPr>
          <p:spPr>
            <a:xfrm flipH="false" flipV="false" rot="0">
              <a:off x="0" y="0"/>
              <a:ext cx="1866138" cy="1331214"/>
            </a:xfrm>
            <a:custGeom>
              <a:avLst/>
              <a:gdLst/>
              <a:ahLst/>
              <a:cxnLst/>
              <a:rect r="r" b="b" t="t" l="l"/>
              <a:pathLst>
                <a:path h="1331214" w="1866138">
                  <a:moveTo>
                    <a:pt x="0" y="0"/>
                  </a:moveTo>
                  <a:lnTo>
                    <a:pt x="1866138" y="0"/>
                  </a:lnTo>
                  <a:lnTo>
                    <a:pt x="1866138" y="1331214"/>
                  </a:lnTo>
                  <a:lnTo>
                    <a:pt x="0" y="1331214"/>
                  </a:lnTo>
                  <a:lnTo>
                    <a:pt x="0" y="0"/>
                  </a:lnTo>
                  <a:close/>
                </a:path>
              </a:pathLst>
            </a:custGeom>
            <a:blipFill>
              <a:blip r:embed="rId5"/>
              <a:stretch>
                <a:fillRect l="0" t="-2344" r="-87999" b="-2324"/>
              </a:stretch>
            </a:blipFill>
          </p:spPr>
        </p:sp>
      </p:grpSp>
      <p:sp>
        <p:nvSpPr>
          <p:cNvPr name="Freeform 16" id="16"/>
          <p:cNvSpPr/>
          <p:nvPr/>
        </p:nvSpPr>
        <p:spPr>
          <a:xfrm flipH="false" flipV="false" rot="0">
            <a:off x="7363644" y="2363514"/>
            <a:ext cx="74647" cy="967216"/>
          </a:xfrm>
          <a:custGeom>
            <a:avLst/>
            <a:gdLst/>
            <a:ahLst/>
            <a:cxnLst/>
            <a:rect r="r" b="b" t="t" l="l"/>
            <a:pathLst>
              <a:path h="967216" w="74647">
                <a:moveTo>
                  <a:pt x="0" y="0"/>
                </a:moveTo>
                <a:lnTo>
                  <a:pt x="74648" y="0"/>
                </a:lnTo>
                <a:lnTo>
                  <a:pt x="74648" y="967217"/>
                </a:lnTo>
                <a:lnTo>
                  <a:pt x="0" y="96721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false" flipV="false" rot="0">
            <a:off x="10139744" y="2355409"/>
            <a:ext cx="74647" cy="967216"/>
          </a:xfrm>
          <a:custGeom>
            <a:avLst/>
            <a:gdLst/>
            <a:ahLst/>
            <a:cxnLst/>
            <a:rect r="r" b="b" t="t" l="l"/>
            <a:pathLst>
              <a:path h="967216" w="74647">
                <a:moveTo>
                  <a:pt x="0" y="0"/>
                </a:moveTo>
                <a:lnTo>
                  <a:pt x="74647" y="0"/>
                </a:lnTo>
                <a:lnTo>
                  <a:pt x="74647" y="967216"/>
                </a:lnTo>
                <a:lnTo>
                  <a:pt x="0" y="96721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8" id="18"/>
          <p:cNvGrpSpPr/>
          <p:nvPr/>
        </p:nvGrpSpPr>
        <p:grpSpPr>
          <a:xfrm rot="0">
            <a:off x="12940713" y="2363524"/>
            <a:ext cx="951728" cy="886416"/>
            <a:chOff x="0" y="0"/>
            <a:chExt cx="1268971" cy="1181887"/>
          </a:xfrm>
        </p:grpSpPr>
        <p:sp>
          <p:nvSpPr>
            <p:cNvPr name="Freeform 19" id="19"/>
            <p:cNvSpPr/>
            <p:nvPr/>
          </p:nvSpPr>
          <p:spPr>
            <a:xfrm flipH="false" flipV="false" rot="0">
              <a:off x="0" y="0"/>
              <a:ext cx="1268984" cy="1181862"/>
            </a:xfrm>
            <a:custGeom>
              <a:avLst/>
              <a:gdLst/>
              <a:ahLst/>
              <a:cxnLst/>
              <a:rect r="r" b="b" t="t" l="l"/>
              <a:pathLst>
                <a:path h="1181862" w="1268984">
                  <a:moveTo>
                    <a:pt x="0" y="0"/>
                  </a:moveTo>
                  <a:lnTo>
                    <a:pt x="1268984" y="0"/>
                  </a:lnTo>
                  <a:lnTo>
                    <a:pt x="1268984" y="1181862"/>
                  </a:lnTo>
                  <a:lnTo>
                    <a:pt x="0" y="1181862"/>
                  </a:lnTo>
                  <a:lnTo>
                    <a:pt x="0" y="0"/>
                  </a:lnTo>
                  <a:close/>
                </a:path>
              </a:pathLst>
            </a:custGeom>
            <a:blipFill>
              <a:blip r:embed="rId10"/>
              <a:stretch>
                <a:fillRect l="0" t="-2352" r="0" b="-1860"/>
              </a:stretch>
            </a:blipFill>
          </p:spPr>
        </p:sp>
      </p:grpSp>
      <p:sp>
        <p:nvSpPr>
          <p:cNvPr name="Freeform 20" id="20"/>
          <p:cNvSpPr/>
          <p:nvPr/>
        </p:nvSpPr>
        <p:spPr>
          <a:xfrm flipH="false" flipV="false" rot="0">
            <a:off x="12439650" y="2320909"/>
            <a:ext cx="74647" cy="967216"/>
          </a:xfrm>
          <a:custGeom>
            <a:avLst/>
            <a:gdLst/>
            <a:ahLst/>
            <a:cxnLst/>
            <a:rect r="r" b="b" t="t" l="l"/>
            <a:pathLst>
              <a:path h="967216" w="74647">
                <a:moveTo>
                  <a:pt x="0" y="0"/>
                </a:moveTo>
                <a:lnTo>
                  <a:pt x="74647" y="0"/>
                </a:lnTo>
                <a:lnTo>
                  <a:pt x="74647" y="967216"/>
                </a:lnTo>
                <a:lnTo>
                  <a:pt x="0" y="967216"/>
                </a:lnTo>
                <a:lnTo>
                  <a:pt x="0" y="0"/>
                </a:lnTo>
                <a:close/>
              </a:path>
            </a:pathLst>
          </a:custGeom>
          <a:blipFill>
            <a:blip r:embed="rId8">
              <a:extLst>
                <a:ext uri="{96DAC541-7B7A-43D3-8B79-37D633B846F1}">
                  <asvg:svgBlip xmlns:asvg="http://schemas.microsoft.com/office/drawing/2016/SVG/main" r:embed="rId11"/>
                </a:ext>
              </a:extLst>
            </a:blip>
            <a:stretch>
              <a:fillRect l="0" t="0" r="0" b="0"/>
            </a:stretch>
          </a:blipFill>
        </p:spPr>
      </p:sp>
      <p:grpSp>
        <p:nvGrpSpPr>
          <p:cNvPr name="Group 21" id="21"/>
          <p:cNvGrpSpPr/>
          <p:nvPr/>
        </p:nvGrpSpPr>
        <p:grpSpPr>
          <a:xfrm rot="0">
            <a:off x="5049450" y="2509904"/>
            <a:ext cx="1931451" cy="774449"/>
            <a:chOff x="0" y="0"/>
            <a:chExt cx="2575268" cy="1032599"/>
          </a:xfrm>
        </p:grpSpPr>
        <p:sp>
          <p:nvSpPr>
            <p:cNvPr name="Freeform 22" id="22"/>
            <p:cNvSpPr/>
            <p:nvPr/>
          </p:nvSpPr>
          <p:spPr>
            <a:xfrm flipH="false" flipV="false" rot="0">
              <a:off x="0" y="0"/>
              <a:ext cx="2575306" cy="1032637"/>
            </a:xfrm>
            <a:custGeom>
              <a:avLst/>
              <a:gdLst/>
              <a:ahLst/>
              <a:cxnLst/>
              <a:rect r="r" b="b" t="t" l="l"/>
              <a:pathLst>
                <a:path h="1032637" w="2575306">
                  <a:moveTo>
                    <a:pt x="0" y="0"/>
                  </a:moveTo>
                  <a:lnTo>
                    <a:pt x="2575306" y="0"/>
                  </a:lnTo>
                  <a:lnTo>
                    <a:pt x="2575306" y="1032637"/>
                  </a:lnTo>
                  <a:lnTo>
                    <a:pt x="0" y="1032637"/>
                  </a:lnTo>
                  <a:lnTo>
                    <a:pt x="0" y="0"/>
                  </a:lnTo>
                  <a:close/>
                </a:path>
              </a:pathLst>
            </a:custGeom>
            <a:blipFill>
              <a:blip r:embed="rId12"/>
              <a:stretch>
                <a:fillRect l="0" t="-2362" r="1" b="-2452"/>
              </a:stretch>
            </a:blipFill>
          </p:spPr>
        </p:sp>
      </p:grpSp>
      <p:grpSp>
        <p:nvGrpSpPr>
          <p:cNvPr name="Group 23" id="23"/>
          <p:cNvGrpSpPr/>
          <p:nvPr/>
        </p:nvGrpSpPr>
        <p:grpSpPr>
          <a:xfrm rot="0">
            <a:off x="12020464" y="4349153"/>
            <a:ext cx="4410075" cy="2181225"/>
            <a:chOff x="0" y="0"/>
            <a:chExt cx="5880100" cy="2908300"/>
          </a:xfrm>
        </p:grpSpPr>
        <p:sp>
          <p:nvSpPr>
            <p:cNvPr name="Freeform 24" id="24"/>
            <p:cNvSpPr/>
            <p:nvPr/>
          </p:nvSpPr>
          <p:spPr>
            <a:xfrm flipH="false" flipV="false" rot="0">
              <a:off x="0" y="0"/>
              <a:ext cx="5880100" cy="2908300"/>
            </a:xfrm>
            <a:custGeom>
              <a:avLst/>
              <a:gdLst/>
              <a:ahLst/>
              <a:cxnLst/>
              <a:rect r="r" b="b" t="t" l="l"/>
              <a:pathLst>
                <a:path h="2908300" w="5880100">
                  <a:moveTo>
                    <a:pt x="0" y="0"/>
                  </a:moveTo>
                  <a:lnTo>
                    <a:pt x="5880100" y="0"/>
                  </a:lnTo>
                  <a:lnTo>
                    <a:pt x="5880100" y="2908300"/>
                  </a:lnTo>
                  <a:lnTo>
                    <a:pt x="0" y="2908300"/>
                  </a:lnTo>
                  <a:lnTo>
                    <a:pt x="0" y="0"/>
                  </a:lnTo>
                  <a:close/>
                </a:path>
              </a:pathLst>
            </a:custGeom>
            <a:blipFill>
              <a:blip r:embed="rId13"/>
              <a:stretch>
                <a:fillRect l="0" t="0" r="0" b="0"/>
              </a:stretch>
            </a:blipFill>
          </p:spPr>
        </p:sp>
      </p:grpSp>
      <p:grpSp>
        <p:nvGrpSpPr>
          <p:cNvPr name="Group 25" id="25"/>
          <p:cNvGrpSpPr/>
          <p:nvPr/>
        </p:nvGrpSpPr>
        <p:grpSpPr>
          <a:xfrm rot="0">
            <a:off x="-63503" y="-63503"/>
            <a:ext cx="18414997" cy="10413997"/>
            <a:chOff x="0" y="0"/>
            <a:chExt cx="18415000" cy="10414000"/>
          </a:xfrm>
        </p:grpSpPr>
        <p:sp>
          <p:nvSpPr>
            <p:cNvPr name="Freeform 26" id="26"/>
            <p:cNvSpPr/>
            <p:nvPr/>
          </p:nvSpPr>
          <p:spPr>
            <a:xfrm flipH="false" flipV="false" rot="0">
              <a:off x="67691" y="63500"/>
              <a:ext cx="1024509" cy="10287000"/>
            </a:xfrm>
            <a:custGeom>
              <a:avLst/>
              <a:gdLst/>
              <a:ahLst/>
              <a:cxnLst/>
              <a:rect r="r" b="b" t="t" l="l"/>
              <a:pathLst>
                <a:path h="10287000" w="1024509">
                  <a:moveTo>
                    <a:pt x="0" y="10287000"/>
                  </a:moveTo>
                  <a:lnTo>
                    <a:pt x="1024509" y="10287000"/>
                  </a:lnTo>
                  <a:lnTo>
                    <a:pt x="1024509" y="0"/>
                  </a:lnTo>
                  <a:lnTo>
                    <a:pt x="0" y="0"/>
                  </a:lnTo>
                  <a:close/>
                </a:path>
              </a:pathLst>
            </a:custGeom>
            <a:solidFill>
              <a:srgbClr val="000000">
                <a:alpha val="0"/>
              </a:srgbClr>
            </a:solidFill>
          </p:spPr>
        </p:sp>
        <p:sp>
          <p:nvSpPr>
            <p:cNvPr name="Freeform 27" id="27"/>
            <p:cNvSpPr/>
            <p:nvPr/>
          </p:nvSpPr>
          <p:spPr>
            <a:xfrm flipH="false" flipV="false" rot="0">
              <a:off x="12503150" y="2384425"/>
              <a:ext cx="74676" cy="967232"/>
            </a:xfrm>
            <a:custGeom>
              <a:avLst/>
              <a:gdLst/>
              <a:ahLst/>
              <a:cxnLst/>
              <a:rect r="r" b="b" t="t" l="l"/>
              <a:pathLst>
                <a:path h="967232" w="74676">
                  <a:moveTo>
                    <a:pt x="0" y="967232"/>
                  </a:moveTo>
                  <a:lnTo>
                    <a:pt x="74676" y="967232"/>
                  </a:lnTo>
                  <a:lnTo>
                    <a:pt x="74676" y="0"/>
                  </a:lnTo>
                  <a:lnTo>
                    <a:pt x="0" y="0"/>
                  </a:lnTo>
                  <a:close/>
                </a:path>
              </a:pathLst>
            </a:custGeom>
            <a:solidFill>
              <a:srgbClr val="000000">
                <a:alpha val="0"/>
              </a:srgbClr>
            </a:solidFill>
          </p:spPr>
        </p:sp>
        <p:sp>
          <p:nvSpPr>
            <p:cNvPr name="Freeform 28" id="28"/>
            <p:cNvSpPr/>
            <p:nvPr/>
          </p:nvSpPr>
          <p:spPr>
            <a:xfrm flipH="false" flipV="false" rot="0">
              <a:off x="10203307" y="2418969"/>
              <a:ext cx="74676" cy="967232"/>
            </a:xfrm>
            <a:custGeom>
              <a:avLst/>
              <a:gdLst/>
              <a:ahLst/>
              <a:cxnLst/>
              <a:rect r="r" b="b" t="t" l="l"/>
              <a:pathLst>
                <a:path h="967232" w="74676">
                  <a:moveTo>
                    <a:pt x="0" y="967232"/>
                  </a:moveTo>
                  <a:lnTo>
                    <a:pt x="74676" y="967232"/>
                  </a:lnTo>
                  <a:lnTo>
                    <a:pt x="74676" y="0"/>
                  </a:lnTo>
                  <a:lnTo>
                    <a:pt x="0" y="0"/>
                  </a:lnTo>
                  <a:close/>
                </a:path>
              </a:pathLst>
            </a:custGeom>
            <a:solidFill>
              <a:srgbClr val="000000">
                <a:alpha val="0"/>
              </a:srgbClr>
            </a:solidFill>
          </p:spPr>
        </p:sp>
        <p:sp>
          <p:nvSpPr>
            <p:cNvPr name="Freeform 29" id="29"/>
            <p:cNvSpPr/>
            <p:nvPr/>
          </p:nvSpPr>
          <p:spPr>
            <a:xfrm flipH="false" flipV="false" rot="0">
              <a:off x="7427214" y="2426970"/>
              <a:ext cx="74676" cy="967232"/>
            </a:xfrm>
            <a:custGeom>
              <a:avLst/>
              <a:gdLst/>
              <a:ahLst/>
              <a:cxnLst/>
              <a:rect r="r" b="b" t="t" l="l"/>
              <a:pathLst>
                <a:path h="967232" w="74676">
                  <a:moveTo>
                    <a:pt x="0" y="967232"/>
                  </a:moveTo>
                  <a:lnTo>
                    <a:pt x="74676" y="967232"/>
                  </a:lnTo>
                  <a:lnTo>
                    <a:pt x="74676" y="0"/>
                  </a:lnTo>
                  <a:lnTo>
                    <a:pt x="0" y="0"/>
                  </a:lnTo>
                  <a:close/>
                </a:path>
              </a:pathLst>
            </a:custGeom>
            <a:solidFill>
              <a:srgbClr val="000000">
                <a:alpha val="0"/>
              </a:srgbClr>
            </a:solidFill>
          </p:spPr>
        </p:sp>
        <p:sp>
          <p:nvSpPr>
            <p:cNvPr name="Freeform 30" id="30"/>
            <p:cNvSpPr/>
            <p:nvPr/>
          </p:nvSpPr>
          <p:spPr>
            <a:xfrm flipH="false" flipV="false" rot="0">
              <a:off x="9197975" y="63500"/>
              <a:ext cx="9525" cy="10287000"/>
            </a:xfrm>
            <a:custGeom>
              <a:avLst/>
              <a:gdLst/>
              <a:ahLst/>
              <a:cxnLst/>
              <a:rect r="r" b="b" t="t" l="l"/>
              <a:pathLst>
                <a:path h="10287000" w="9525">
                  <a:moveTo>
                    <a:pt x="0" y="0"/>
                  </a:moveTo>
                  <a:lnTo>
                    <a:pt x="0" y="10287000"/>
                  </a:lnTo>
                  <a:lnTo>
                    <a:pt x="9525" y="10287000"/>
                  </a:lnTo>
                  <a:lnTo>
                    <a:pt x="9525" y="0"/>
                  </a:lnTo>
                  <a:close/>
                </a:path>
              </a:pathLst>
            </a:custGeom>
            <a:solidFill>
              <a:srgbClr val="000000">
                <a:alpha val="0"/>
              </a:srgbClr>
            </a:solidFill>
          </p:spPr>
        </p:sp>
        <p:sp>
          <p:nvSpPr>
            <p:cNvPr name="Freeform 31" id="31"/>
            <p:cNvSpPr/>
            <p:nvPr/>
          </p:nvSpPr>
          <p:spPr>
            <a:xfrm flipH="false" flipV="false" rot="0">
              <a:off x="9207500" y="63500"/>
              <a:ext cx="9144000" cy="10287000"/>
            </a:xfrm>
            <a:custGeom>
              <a:avLst/>
              <a:gdLst/>
              <a:ahLst/>
              <a:cxnLst/>
              <a:rect r="r" b="b" t="t" l="l"/>
              <a:pathLst>
                <a:path h="10287000" w="9144000">
                  <a:moveTo>
                    <a:pt x="0" y="10287000"/>
                  </a:moveTo>
                  <a:lnTo>
                    <a:pt x="9144000" y="10287000"/>
                  </a:lnTo>
                  <a:lnTo>
                    <a:pt x="9144000" y="0"/>
                  </a:lnTo>
                  <a:lnTo>
                    <a:pt x="0" y="0"/>
                  </a:lnTo>
                  <a:close/>
                </a:path>
              </a:pathLst>
            </a:custGeom>
            <a:solidFill>
              <a:srgbClr val="000000">
                <a:alpha val="0"/>
              </a:srgbClr>
            </a:solidFill>
          </p:spPr>
        </p:sp>
        <p:sp>
          <p:nvSpPr>
            <p:cNvPr name="Freeform 32" id="32"/>
            <p:cNvSpPr/>
            <p:nvPr/>
          </p:nvSpPr>
          <p:spPr>
            <a:xfrm flipH="false" flipV="false" rot="0">
              <a:off x="63500" y="2077339"/>
              <a:ext cx="18288000" cy="9525"/>
            </a:xfrm>
            <a:custGeom>
              <a:avLst/>
              <a:gdLst/>
              <a:ahLst/>
              <a:cxnLst/>
              <a:rect r="r" b="b" t="t" l="l"/>
              <a:pathLst>
                <a:path h="9525" w="18288000">
                  <a:moveTo>
                    <a:pt x="0" y="0"/>
                  </a:moveTo>
                  <a:lnTo>
                    <a:pt x="0" y="9525"/>
                  </a:lnTo>
                  <a:lnTo>
                    <a:pt x="18288000" y="9525"/>
                  </a:lnTo>
                  <a:lnTo>
                    <a:pt x="18288000" y="0"/>
                  </a:lnTo>
                  <a:close/>
                </a:path>
              </a:pathLst>
            </a:custGeom>
            <a:solidFill>
              <a:srgbClr val="000000">
                <a:alpha val="0"/>
              </a:srgbClr>
            </a:solidFill>
          </p:spPr>
        </p:sp>
        <p:sp>
          <p:nvSpPr>
            <p:cNvPr name="Freeform 33" id="33"/>
            <p:cNvSpPr/>
            <p:nvPr/>
          </p:nvSpPr>
          <p:spPr>
            <a:xfrm flipH="false" flipV="false" rot="0">
              <a:off x="63500" y="7602474"/>
              <a:ext cx="18288000" cy="9525"/>
            </a:xfrm>
            <a:custGeom>
              <a:avLst/>
              <a:gdLst/>
              <a:ahLst/>
              <a:cxnLst/>
              <a:rect r="r" b="b" t="t" l="l"/>
              <a:pathLst>
                <a:path h="9525" w="18288000">
                  <a:moveTo>
                    <a:pt x="0" y="0"/>
                  </a:moveTo>
                  <a:lnTo>
                    <a:pt x="0" y="9525"/>
                  </a:lnTo>
                  <a:lnTo>
                    <a:pt x="18288000" y="9525"/>
                  </a:lnTo>
                  <a:lnTo>
                    <a:pt x="18288000" y="0"/>
                  </a:lnTo>
                  <a:close/>
                </a:path>
              </a:pathLst>
            </a:custGeom>
            <a:solidFill>
              <a:srgbClr val="000000">
                <a:alpha val="0"/>
              </a:srgbClr>
            </a:solidFill>
          </p:spPr>
        </p:sp>
      </p:grpSp>
      <p:sp>
        <p:nvSpPr>
          <p:cNvPr name="TextBox 34" id="34"/>
          <p:cNvSpPr txBox="true"/>
          <p:nvPr/>
        </p:nvSpPr>
        <p:spPr>
          <a:xfrm rot="0">
            <a:off x="12089101" y="6767246"/>
            <a:ext cx="4429316" cy="1372505"/>
          </a:xfrm>
          <a:prstGeom prst="rect">
            <a:avLst/>
          </a:prstGeom>
        </p:spPr>
        <p:txBody>
          <a:bodyPr anchor="t" rtlCol="false" tIns="0" lIns="0" bIns="0" rIns="0">
            <a:spAutoFit/>
          </a:bodyPr>
          <a:lstStyle/>
          <a:p>
            <a:pPr algn="l">
              <a:lnSpc>
                <a:spcPts val="11244"/>
              </a:lnSpc>
            </a:pPr>
            <a:r>
              <a:rPr lang="en-US" sz="8032">
                <a:solidFill>
                  <a:srgbClr val="FFFFFF"/>
                </a:solidFill>
                <a:latin typeface="Handelson Three"/>
                <a:ea typeface="Handelson Three"/>
                <a:cs typeface="Handelson Three"/>
                <a:sym typeface="Handelson Three"/>
              </a:rPr>
              <a:t>Celebrate Life</a:t>
            </a:r>
          </a:p>
        </p:txBody>
      </p:sp>
      <p:sp>
        <p:nvSpPr>
          <p:cNvPr name="TextBox 35" id="35"/>
          <p:cNvSpPr txBox="true"/>
          <p:nvPr/>
        </p:nvSpPr>
        <p:spPr>
          <a:xfrm rot="0">
            <a:off x="4870714" y="-110042"/>
            <a:ext cx="8802443" cy="1326642"/>
          </a:xfrm>
          <a:prstGeom prst="rect">
            <a:avLst/>
          </a:prstGeom>
        </p:spPr>
        <p:txBody>
          <a:bodyPr anchor="t" rtlCol="false" tIns="0" lIns="0" bIns="0" rIns="0">
            <a:spAutoFit/>
          </a:bodyPr>
          <a:lstStyle/>
          <a:p>
            <a:pPr algn="l">
              <a:lnSpc>
                <a:spcPts val="10779"/>
              </a:lnSpc>
            </a:pPr>
            <a:r>
              <a:rPr lang="en-US" sz="7699">
                <a:solidFill>
                  <a:srgbClr val="D8D4D4"/>
                </a:solidFill>
                <a:latin typeface="Engravers' Old English BT Bold"/>
                <a:ea typeface="Engravers' Old English BT Bold"/>
                <a:cs typeface="Engravers' Old English BT Bold"/>
                <a:sym typeface="Engravers' Old English BT Bold"/>
              </a:rPr>
              <a:t>Thiagarajar College</a:t>
            </a:r>
          </a:p>
        </p:txBody>
      </p:sp>
      <p:sp>
        <p:nvSpPr>
          <p:cNvPr name="TextBox 36" id="36"/>
          <p:cNvSpPr txBox="true"/>
          <p:nvPr/>
        </p:nvSpPr>
        <p:spPr>
          <a:xfrm rot="0">
            <a:off x="8187785" y="1238374"/>
            <a:ext cx="106375" cy="584759"/>
          </a:xfrm>
          <a:prstGeom prst="rect">
            <a:avLst/>
          </a:prstGeom>
        </p:spPr>
        <p:txBody>
          <a:bodyPr anchor="t" rtlCol="false" tIns="0" lIns="0" bIns="0" rIns="0">
            <a:spAutoFit/>
          </a:bodyPr>
          <a:lstStyle/>
          <a:p>
            <a:pPr algn="l">
              <a:lnSpc>
                <a:spcPts val="4598"/>
              </a:lnSpc>
            </a:pPr>
            <a:r>
              <a:rPr lang="en-US" b="true" sz="3284">
                <a:solidFill>
                  <a:srgbClr val="D8D4D4"/>
                </a:solidFill>
                <a:latin typeface="Tex Gyre Termes Bold"/>
                <a:ea typeface="Tex Gyre Termes Bold"/>
                <a:cs typeface="Tex Gyre Termes Bold"/>
                <a:sym typeface="Tex Gyre Termes Bold"/>
              </a:rPr>
              <a:t> </a:t>
            </a:r>
          </a:p>
        </p:txBody>
      </p:sp>
      <p:sp>
        <p:nvSpPr>
          <p:cNvPr name="TextBox 37" id="37"/>
          <p:cNvSpPr txBox="true"/>
          <p:nvPr/>
        </p:nvSpPr>
        <p:spPr>
          <a:xfrm rot="0">
            <a:off x="6507432" y="1238374"/>
            <a:ext cx="5462702" cy="584759"/>
          </a:xfrm>
          <a:prstGeom prst="rect">
            <a:avLst/>
          </a:prstGeom>
        </p:spPr>
        <p:txBody>
          <a:bodyPr anchor="t" rtlCol="false" tIns="0" lIns="0" bIns="0" rIns="0">
            <a:spAutoFit/>
          </a:bodyPr>
          <a:lstStyle/>
          <a:p>
            <a:pPr algn="l">
              <a:lnSpc>
                <a:spcPts val="4598"/>
              </a:lnSpc>
            </a:pPr>
            <a:r>
              <a:rPr lang="en-US" b="true" sz="3284">
                <a:solidFill>
                  <a:srgbClr val="D8D4D4"/>
                </a:solidFill>
                <a:latin typeface="Tex Gyre Termes Bold"/>
                <a:ea typeface="Tex Gyre Termes Bold"/>
                <a:cs typeface="Tex Gyre Termes Bold"/>
                <a:sym typeface="Tex Gyre Termes Bold"/>
              </a:rPr>
              <a:t>Madurai,</a:t>
            </a:r>
            <a:r>
              <a:rPr lang="en-US" b="true" sz="3284">
                <a:solidFill>
                  <a:srgbClr val="FFFFFF"/>
                </a:solidFill>
                <a:latin typeface="Tex Gyre Termes Bold"/>
                <a:ea typeface="Tex Gyre Termes Bold"/>
                <a:cs typeface="Tex Gyre Termes Bold"/>
                <a:sym typeface="Tex Gyre Termes Bold"/>
              </a:rPr>
              <a:t> </a:t>
            </a:r>
            <a:r>
              <a:rPr lang="en-US" b="true" sz="3284">
                <a:solidFill>
                  <a:srgbClr val="D8D4D4"/>
                </a:solidFill>
                <a:latin typeface="Tex Gyre Termes Bold"/>
                <a:ea typeface="Tex Gyre Termes Bold"/>
                <a:cs typeface="Tex Gyre Termes Bold"/>
                <a:sym typeface="Tex Gyre Termes Bold"/>
              </a:rPr>
              <a:t>Tamil</a:t>
            </a:r>
            <a:r>
              <a:rPr lang="en-US" b="true" sz="3284">
                <a:solidFill>
                  <a:srgbClr val="FFFFFF"/>
                </a:solidFill>
                <a:latin typeface="Tex Gyre Termes Bold"/>
                <a:ea typeface="Tex Gyre Termes Bold"/>
                <a:cs typeface="Tex Gyre Termes Bold"/>
                <a:sym typeface="Tex Gyre Termes Bold"/>
              </a:rPr>
              <a:t> </a:t>
            </a:r>
            <a:r>
              <a:rPr lang="en-US" b="true" sz="3284">
                <a:solidFill>
                  <a:srgbClr val="D8D4D4"/>
                </a:solidFill>
                <a:latin typeface="Tex Gyre Termes Bold"/>
                <a:ea typeface="Tex Gyre Termes Bold"/>
                <a:cs typeface="Tex Gyre Termes Bold"/>
                <a:sym typeface="Tex Gyre Termes Bold"/>
              </a:rPr>
              <a:t>Nadu</a:t>
            </a:r>
            <a:r>
              <a:rPr lang="en-US" b="true" sz="3284">
                <a:solidFill>
                  <a:srgbClr val="FFFFFF"/>
                </a:solidFill>
                <a:latin typeface="Tex Gyre Termes Bold"/>
                <a:ea typeface="Tex Gyre Termes Bold"/>
                <a:cs typeface="Tex Gyre Termes Bold"/>
                <a:sym typeface="Tex Gyre Termes Bold"/>
              </a:rPr>
              <a:t> </a:t>
            </a:r>
            <a:r>
              <a:rPr lang="en-US" b="true" sz="3284">
                <a:solidFill>
                  <a:srgbClr val="D8D4D4"/>
                </a:solidFill>
                <a:latin typeface="Tex Gyre Termes Bold"/>
                <a:ea typeface="Tex Gyre Termes Bold"/>
                <a:cs typeface="Tex Gyre Termes Bold"/>
                <a:sym typeface="Tex Gyre Termes Bold"/>
              </a:rPr>
              <a:t>625</a:t>
            </a:r>
            <a:r>
              <a:rPr lang="en-US" b="true" sz="3284">
                <a:solidFill>
                  <a:srgbClr val="FFFFFF"/>
                </a:solidFill>
                <a:latin typeface="Tex Gyre Termes Bold"/>
                <a:ea typeface="Tex Gyre Termes Bold"/>
                <a:cs typeface="Tex Gyre Termes Bold"/>
                <a:sym typeface="Tex Gyre Termes Bold"/>
              </a:rPr>
              <a:t> </a:t>
            </a:r>
            <a:r>
              <a:rPr lang="en-US" b="true" sz="3284">
                <a:solidFill>
                  <a:srgbClr val="D8D4D4"/>
                </a:solidFill>
                <a:latin typeface="Tex Gyre Termes Bold"/>
                <a:ea typeface="Tex Gyre Termes Bold"/>
                <a:cs typeface="Tex Gyre Termes Bold"/>
                <a:sym typeface="Tex Gyre Termes Bold"/>
              </a:rPr>
              <a:t>009</a:t>
            </a:r>
          </a:p>
        </p:txBody>
      </p:sp>
      <p:sp>
        <p:nvSpPr>
          <p:cNvPr name="TextBox 38" id="38"/>
          <p:cNvSpPr txBox="true"/>
          <p:nvPr/>
        </p:nvSpPr>
        <p:spPr>
          <a:xfrm rot="0">
            <a:off x="9067228" y="2888037"/>
            <a:ext cx="583530" cy="285245"/>
          </a:xfrm>
          <a:prstGeom prst="rect">
            <a:avLst/>
          </a:prstGeom>
        </p:spPr>
        <p:txBody>
          <a:bodyPr anchor="t" rtlCol="false" tIns="0" lIns="0" bIns="0" rIns="0">
            <a:spAutoFit/>
          </a:bodyPr>
          <a:lstStyle/>
          <a:p>
            <a:pPr algn="l">
              <a:lnSpc>
                <a:spcPts val="2225"/>
              </a:lnSpc>
            </a:pPr>
            <a:r>
              <a:rPr lang="en-US" sz="1589">
                <a:solidFill>
                  <a:srgbClr val="004AAD"/>
                </a:solidFill>
                <a:latin typeface="Times New Roman"/>
                <a:ea typeface="Times New Roman"/>
                <a:cs typeface="Times New Roman"/>
                <a:sym typeface="Times New Roman"/>
              </a:rPr>
              <a:t>RANK</a:t>
            </a:r>
          </a:p>
        </p:txBody>
      </p:sp>
      <p:sp>
        <p:nvSpPr>
          <p:cNvPr name="TextBox 39" id="39"/>
          <p:cNvSpPr txBox="true"/>
          <p:nvPr/>
        </p:nvSpPr>
        <p:spPr>
          <a:xfrm rot="0">
            <a:off x="8305514" y="2132762"/>
            <a:ext cx="496510" cy="377590"/>
          </a:xfrm>
          <a:prstGeom prst="rect">
            <a:avLst/>
          </a:prstGeom>
        </p:spPr>
        <p:txBody>
          <a:bodyPr anchor="t" rtlCol="false" tIns="0" lIns="0" bIns="0" rIns="0">
            <a:spAutoFit/>
          </a:bodyPr>
          <a:lstStyle/>
          <a:p>
            <a:pPr algn="l">
              <a:lnSpc>
                <a:spcPts val="3001"/>
              </a:lnSpc>
            </a:pPr>
            <a:r>
              <a:rPr lang="en-US" b="true" sz="2143">
                <a:solidFill>
                  <a:srgbClr val="004AAD"/>
                </a:solidFill>
                <a:latin typeface="Times New Roman Bold"/>
                <a:ea typeface="Times New Roman Bold"/>
                <a:cs typeface="Times New Roman Bold"/>
                <a:sym typeface="Times New Roman Bold"/>
              </a:rPr>
              <a:t>20ᵗʰ </a:t>
            </a:r>
          </a:p>
        </p:txBody>
      </p:sp>
      <p:sp>
        <p:nvSpPr>
          <p:cNvPr name="TextBox 40" id="40"/>
          <p:cNvSpPr txBox="true"/>
          <p:nvPr/>
        </p:nvSpPr>
        <p:spPr>
          <a:xfrm rot="0">
            <a:off x="1418320" y="3675336"/>
            <a:ext cx="6330477" cy="5121250"/>
          </a:xfrm>
          <a:prstGeom prst="rect">
            <a:avLst/>
          </a:prstGeom>
        </p:spPr>
        <p:txBody>
          <a:bodyPr anchor="t" rtlCol="false" tIns="0" lIns="0" bIns="0" rIns="0">
            <a:spAutoFit/>
          </a:bodyPr>
          <a:lstStyle/>
          <a:p>
            <a:pPr algn="l">
              <a:lnSpc>
                <a:spcPts val="13023"/>
              </a:lnSpc>
            </a:pPr>
            <a:r>
              <a:rPr lang="en-US" b="true" sz="9471">
                <a:solidFill>
                  <a:srgbClr val="F32F39"/>
                </a:solidFill>
                <a:latin typeface="Red Hat Display Bold"/>
                <a:ea typeface="Red Hat Display Bold"/>
                <a:cs typeface="Red Hat Display Bold"/>
                <a:sym typeface="Red Hat Display Bold"/>
              </a:rPr>
              <a:t>DABUR INDIA LTD</a:t>
            </a:r>
          </a:p>
          <a:p>
            <a:pPr algn="l">
              <a:lnSpc>
                <a:spcPts val="3300"/>
              </a:lnSpc>
            </a:pPr>
            <a:r>
              <a:rPr lang="en-US" b="true" sz="2400">
                <a:solidFill>
                  <a:srgbClr val="EEF0F2"/>
                </a:solidFill>
                <a:latin typeface="Red Hat Display Bold"/>
                <a:ea typeface="Red Hat Display Bold"/>
                <a:cs typeface="Red Hat Display Bold"/>
                <a:sym typeface="Red Hat Display Bold"/>
              </a:rPr>
              <a:t>NAME: </a:t>
            </a:r>
          </a:p>
          <a:p>
            <a:pPr algn="l">
              <a:lnSpc>
                <a:spcPts val="3300"/>
              </a:lnSpc>
            </a:pPr>
            <a:r>
              <a:rPr lang="en-US" b="true" sz="2400">
                <a:solidFill>
                  <a:srgbClr val="EEF0F2"/>
                </a:solidFill>
                <a:latin typeface="Red Hat Display Bold"/>
                <a:ea typeface="Red Hat Display Bold"/>
                <a:cs typeface="Red Hat Display Bold"/>
                <a:sym typeface="Red Hat Display Bold"/>
              </a:rPr>
              <a:t>COMPANY NAME: DABUR INDIA LTD GUIDED BY: DR. T. JOEL GNANAPRAKASH</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D9A85F"/>
        </a:solidFill>
      </p:bgPr>
    </p:bg>
    <p:spTree>
      <p:nvGrpSpPr>
        <p:cNvPr id="1" name=""/>
        <p:cNvGrpSpPr/>
        <p:nvPr/>
      </p:nvGrpSpPr>
      <p:grpSpPr>
        <a:xfrm>
          <a:off x="0" y="0"/>
          <a:ext cx="0" cy="0"/>
          <a:chOff x="0" y="0"/>
          <a:chExt cx="0" cy="0"/>
        </a:xfrm>
      </p:grpSpPr>
      <p:grpSp>
        <p:nvGrpSpPr>
          <p:cNvPr name="Group 2" id="2"/>
          <p:cNvGrpSpPr/>
          <p:nvPr/>
        </p:nvGrpSpPr>
        <p:grpSpPr>
          <a:xfrm rot="0">
            <a:off x="13936408" y="1028700"/>
            <a:ext cx="3133887" cy="8177489"/>
            <a:chOff x="0" y="0"/>
            <a:chExt cx="3133890" cy="8177492"/>
          </a:xfrm>
        </p:grpSpPr>
        <p:sp>
          <p:nvSpPr>
            <p:cNvPr name="Freeform 3" id="3"/>
            <p:cNvSpPr/>
            <p:nvPr/>
          </p:nvSpPr>
          <p:spPr>
            <a:xfrm flipH="false" flipV="false" rot="0">
              <a:off x="0" y="0"/>
              <a:ext cx="3133853" cy="8177531"/>
            </a:xfrm>
            <a:custGeom>
              <a:avLst/>
              <a:gdLst/>
              <a:ahLst/>
              <a:cxnLst/>
              <a:rect r="r" b="b" t="t" l="l"/>
              <a:pathLst>
                <a:path h="8177531" w="3133853">
                  <a:moveTo>
                    <a:pt x="0" y="0"/>
                  </a:moveTo>
                  <a:lnTo>
                    <a:pt x="0" y="8177531"/>
                  </a:lnTo>
                  <a:lnTo>
                    <a:pt x="11811" y="8177531"/>
                  </a:lnTo>
                  <a:lnTo>
                    <a:pt x="1566926" y="7641337"/>
                  </a:lnTo>
                  <a:lnTo>
                    <a:pt x="3122042" y="8177531"/>
                  </a:lnTo>
                  <a:lnTo>
                    <a:pt x="3133853" y="8177531"/>
                  </a:lnTo>
                  <a:lnTo>
                    <a:pt x="3133853" y="0"/>
                  </a:lnTo>
                  <a:close/>
                </a:path>
              </a:pathLst>
            </a:custGeom>
            <a:solidFill>
              <a:srgbClr val="004AAD"/>
            </a:solidFill>
          </p:spPr>
        </p:sp>
      </p:grpSp>
      <p:grpSp>
        <p:nvGrpSpPr>
          <p:cNvPr name="Group 4" id="4"/>
          <p:cNvGrpSpPr/>
          <p:nvPr/>
        </p:nvGrpSpPr>
        <p:grpSpPr>
          <a:xfrm rot="0">
            <a:off x="781088" y="5576059"/>
            <a:ext cx="7772400" cy="4371975"/>
            <a:chOff x="0" y="0"/>
            <a:chExt cx="10363200" cy="5829300"/>
          </a:xfrm>
        </p:grpSpPr>
        <p:sp>
          <p:nvSpPr>
            <p:cNvPr name="Freeform 5" id="5"/>
            <p:cNvSpPr/>
            <p:nvPr/>
          </p:nvSpPr>
          <p:spPr>
            <a:xfrm flipH="false" flipV="false" rot="0">
              <a:off x="0" y="0"/>
              <a:ext cx="10363200" cy="5829300"/>
            </a:xfrm>
            <a:custGeom>
              <a:avLst/>
              <a:gdLst/>
              <a:ahLst/>
              <a:cxnLst/>
              <a:rect r="r" b="b" t="t" l="l"/>
              <a:pathLst>
                <a:path h="5829300" w="10363200">
                  <a:moveTo>
                    <a:pt x="0" y="0"/>
                  </a:moveTo>
                  <a:lnTo>
                    <a:pt x="10363200" y="0"/>
                  </a:lnTo>
                  <a:lnTo>
                    <a:pt x="10363200" y="5829300"/>
                  </a:lnTo>
                  <a:lnTo>
                    <a:pt x="0" y="5829300"/>
                  </a:lnTo>
                  <a:lnTo>
                    <a:pt x="0" y="0"/>
                  </a:lnTo>
                  <a:close/>
                </a:path>
              </a:pathLst>
            </a:custGeom>
            <a:blipFill>
              <a:blip r:embed="rId2"/>
              <a:stretch>
                <a:fillRect l="0" t="0" r="0" b="0"/>
              </a:stretch>
            </a:blipFill>
          </p:spPr>
        </p:sp>
      </p:grpSp>
      <p:grpSp>
        <p:nvGrpSpPr>
          <p:cNvPr name="Group 6" id="6"/>
          <p:cNvGrpSpPr/>
          <p:nvPr/>
        </p:nvGrpSpPr>
        <p:grpSpPr>
          <a:xfrm rot="0">
            <a:off x="719252" y="1758124"/>
            <a:ext cx="104775" cy="104775"/>
            <a:chOff x="0" y="0"/>
            <a:chExt cx="104775" cy="104775"/>
          </a:xfrm>
        </p:grpSpPr>
        <p:sp>
          <p:nvSpPr>
            <p:cNvPr name="Freeform 7" id="7"/>
            <p:cNvSpPr/>
            <p:nvPr/>
          </p:nvSpPr>
          <p:spPr>
            <a:xfrm flipH="false" flipV="false" rot="0">
              <a:off x="0" y="127"/>
              <a:ext cx="104775" cy="104394"/>
            </a:xfrm>
            <a:custGeom>
              <a:avLst/>
              <a:gdLst/>
              <a:ahLst/>
              <a:cxnLst/>
              <a:rect r="r" b="b" t="t" l="l"/>
              <a:pathLst>
                <a:path h="104394" w="104775">
                  <a:moveTo>
                    <a:pt x="104775" y="52197"/>
                  </a:moveTo>
                  <a:cubicBezTo>
                    <a:pt x="104775" y="55626"/>
                    <a:pt x="104394" y="59055"/>
                    <a:pt x="103759" y="62357"/>
                  </a:cubicBezTo>
                  <a:cubicBezTo>
                    <a:pt x="103124" y="65659"/>
                    <a:pt x="102108" y="68961"/>
                    <a:pt x="100838" y="72136"/>
                  </a:cubicBezTo>
                  <a:cubicBezTo>
                    <a:pt x="99568" y="75311"/>
                    <a:pt x="97917" y="78359"/>
                    <a:pt x="96012" y="81153"/>
                  </a:cubicBezTo>
                  <a:cubicBezTo>
                    <a:pt x="94107" y="83947"/>
                    <a:pt x="91948" y="86614"/>
                    <a:pt x="89535" y="89154"/>
                  </a:cubicBezTo>
                  <a:cubicBezTo>
                    <a:pt x="87122" y="91694"/>
                    <a:pt x="84455" y="93726"/>
                    <a:pt x="81534" y="95631"/>
                  </a:cubicBezTo>
                  <a:cubicBezTo>
                    <a:pt x="78613" y="97536"/>
                    <a:pt x="75692" y="99187"/>
                    <a:pt x="72517" y="100457"/>
                  </a:cubicBezTo>
                  <a:cubicBezTo>
                    <a:pt x="69342" y="101727"/>
                    <a:pt x="66040" y="102743"/>
                    <a:pt x="62738" y="103378"/>
                  </a:cubicBezTo>
                  <a:cubicBezTo>
                    <a:pt x="59436" y="104013"/>
                    <a:pt x="56007" y="104394"/>
                    <a:pt x="52578" y="104394"/>
                  </a:cubicBezTo>
                  <a:cubicBezTo>
                    <a:pt x="49149" y="104394"/>
                    <a:pt x="45720" y="104013"/>
                    <a:pt x="42418" y="103378"/>
                  </a:cubicBezTo>
                  <a:cubicBezTo>
                    <a:pt x="39116" y="102743"/>
                    <a:pt x="35814" y="101727"/>
                    <a:pt x="32639" y="100457"/>
                  </a:cubicBezTo>
                  <a:cubicBezTo>
                    <a:pt x="29464" y="99187"/>
                    <a:pt x="26416" y="97536"/>
                    <a:pt x="23622" y="95631"/>
                  </a:cubicBezTo>
                  <a:cubicBezTo>
                    <a:pt x="20828" y="93726"/>
                    <a:pt x="18161" y="91567"/>
                    <a:pt x="15621" y="89154"/>
                  </a:cubicBezTo>
                  <a:cubicBezTo>
                    <a:pt x="13081" y="86741"/>
                    <a:pt x="11049" y="84074"/>
                    <a:pt x="9144" y="81153"/>
                  </a:cubicBezTo>
                  <a:cubicBezTo>
                    <a:pt x="7239" y="78232"/>
                    <a:pt x="5334" y="75438"/>
                    <a:pt x="3937" y="72263"/>
                  </a:cubicBezTo>
                  <a:cubicBezTo>
                    <a:pt x="2540" y="69088"/>
                    <a:pt x="1651" y="65913"/>
                    <a:pt x="1016" y="62484"/>
                  </a:cubicBezTo>
                  <a:cubicBezTo>
                    <a:pt x="381" y="59055"/>
                    <a:pt x="0" y="55753"/>
                    <a:pt x="0" y="52197"/>
                  </a:cubicBezTo>
                  <a:cubicBezTo>
                    <a:pt x="0" y="48641"/>
                    <a:pt x="381" y="45339"/>
                    <a:pt x="1016" y="42037"/>
                  </a:cubicBezTo>
                  <a:cubicBezTo>
                    <a:pt x="1651" y="38735"/>
                    <a:pt x="2667" y="35433"/>
                    <a:pt x="3937" y="32258"/>
                  </a:cubicBezTo>
                  <a:cubicBezTo>
                    <a:pt x="5207" y="29083"/>
                    <a:pt x="6858" y="26035"/>
                    <a:pt x="8763" y="23241"/>
                  </a:cubicBezTo>
                  <a:cubicBezTo>
                    <a:pt x="10668" y="20447"/>
                    <a:pt x="12827" y="17780"/>
                    <a:pt x="15240" y="15240"/>
                  </a:cubicBezTo>
                  <a:cubicBezTo>
                    <a:pt x="17653" y="12700"/>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FFFFFF"/>
            </a:solidFill>
          </p:spPr>
        </p:sp>
      </p:grpSp>
      <p:grpSp>
        <p:nvGrpSpPr>
          <p:cNvPr name="Group 8" id="8"/>
          <p:cNvGrpSpPr/>
          <p:nvPr/>
        </p:nvGrpSpPr>
        <p:grpSpPr>
          <a:xfrm rot="0">
            <a:off x="719252" y="3015424"/>
            <a:ext cx="104775" cy="104775"/>
            <a:chOff x="0" y="0"/>
            <a:chExt cx="104775" cy="104775"/>
          </a:xfrm>
        </p:grpSpPr>
        <p:sp>
          <p:nvSpPr>
            <p:cNvPr name="Freeform 9" id="9"/>
            <p:cNvSpPr/>
            <p:nvPr/>
          </p:nvSpPr>
          <p:spPr>
            <a:xfrm flipH="false" flipV="false" rot="0">
              <a:off x="0" y="127"/>
              <a:ext cx="104775" cy="104394"/>
            </a:xfrm>
            <a:custGeom>
              <a:avLst/>
              <a:gdLst/>
              <a:ahLst/>
              <a:cxnLst/>
              <a:rect r="r" b="b" t="t" l="l"/>
              <a:pathLst>
                <a:path h="104394" w="104775">
                  <a:moveTo>
                    <a:pt x="104775" y="52197"/>
                  </a:moveTo>
                  <a:cubicBezTo>
                    <a:pt x="104775" y="55626"/>
                    <a:pt x="104394" y="59055"/>
                    <a:pt x="103759" y="62357"/>
                  </a:cubicBezTo>
                  <a:cubicBezTo>
                    <a:pt x="103124" y="65659"/>
                    <a:pt x="102108" y="68961"/>
                    <a:pt x="100838" y="72136"/>
                  </a:cubicBezTo>
                  <a:cubicBezTo>
                    <a:pt x="99568" y="75311"/>
                    <a:pt x="97917" y="78359"/>
                    <a:pt x="96012" y="81153"/>
                  </a:cubicBezTo>
                  <a:cubicBezTo>
                    <a:pt x="94107" y="83947"/>
                    <a:pt x="91948" y="86614"/>
                    <a:pt x="89535" y="89154"/>
                  </a:cubicBezTo>
                  <a:cubicBezTo>
                    <a:pt x="87122" y="91694"/>
                    <a:pt x="84455" y="93726"/>
                    <a:pt x="81534" y="95631"/>
                  </a:cubicBezTo>
                  <a:cubicBezTo>
                    <a:pt x="78613" y="97536"/>
                    <a:pt x="75692" y="99187"/>
                    <a:pt x="72517" y="100457"/>
                  </a:cubicBezTo>
                  <a:cubicBezTo>
                    <a:pt x="69342" y="101727"/>
                    <a:pt x="66040" y="102743"/>
                    <a:pt x="62738" y="103378"/>
                  </a:cubicBezTo>
                  <a:cubicBezTo>
                    <a:pt x="59436" y="104013"/>
                    <a:pt x="56007" y="104394"/>
                    <a:pt x="52578" y="104394"/>
                  </a:cubicBezTo>
                  <a:cubicBezTo>
                    <a:pt x="49149" y="104394"/>
                    <a:pt x="45720" y="104013"/>
                    <a:pt x="42418" y="103378"/>
                  </a:cubicBezTo>
                  <a:cubicBezTo>
                    <a:pt x="39116" y="102743"/>
                    <a:pt x="35814" y="101727"/>
                    <a:pt x="32639" y="100457"/>
                  </a:cubicBezTo>
                  <a:cubicBezTo>
                    <a:pt x="29464" y="99187"/>
                    <a:pt x="26416" y="97536"/>
                    <a:pt x="23622" y="95631"/>
                  </a:cubicBezTo>
                  <a:cubicBezTo>
                    <a:pt x="20828" y="93726"/>
                    <a:pt x="18161" y="91567"/>
                    <a:pt x="15621" y="89154"/>
                  </a:cubicBezTo>
                  <a:cubicBezTo>
                    <a:pt x="13081" y="86741"/>
                    <a:pt x="11049" y="84074"/>
                    <a:pt x="9144" y="81153"/>
                  </a:cubicBezTo>
                  <a:cubicBezTo>
                    <a:pt x="7239" y="78232"/>
                    <a:pt x="5334" y="75438"/>
                    <a:pt x="3937" y="72263"/>
                  </a:cubicBezTo>
                  <a:cubicBezTo>
                    <a:pt x="2540" y="69088"/>
                    <a:pt x="1651" y="65913"/>
                    <a:pt x="1016" y="62484"/>
                  </a:cubicBezTo>
                  <a:cubicBezTo>
                    <a:pt x="381" y="59055"/>
                    <a:pt x="0" y="55753"/>
                    <a:pt x="0" y="52197"/>
                  </a:cubicBezTo>
                  <a:cubicBezTo>
                    <a:pt x="0" y="48641"/>
                    <a:pt x="381" y="45339"/>
                    <a:pt x="1016" y="42037"/>
                  </a:cubicBezTo>
                  <a:cubicBezTo>
                    <a:pt x="1651" y="38735"/>
                    <a:pt x="2667" y="35433"/>
                    <a:pt x="3937" y="32258"/>
                  </a:cubicBezTo>
                  <a:cubicBezTo>
                    <a:pt x="5207" y="29083"/>
                    <a:pt x="6858" y="26035"/>
                    <a:pt x="8763" y="23241"/>
                  </a:cubicBezTo>
                  <a:cubicBezTo>
                    <a:pt x="10668" y="20447"/>
                    <a:pt x="12827" y="17780"/>
                    <a:pt x="15240" y="15240"/>
                  </a:cubicBezTo>
                  <a:cubicBezTo>
                    <a:pt x="17653" y="12700"/>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FFFFFF"/>
            </a:solidFill>
          </p:spPr>
        </p:sp>
      </p:grpSp>
      <p:grpSp>
        <p:nvGrpSpPr>
          <p:cNvPr name="Group 10" id="10"/>
          <p:cNvGrpSpPr/>
          <p:nvPr/>
        </p:nvGrpSpPr>
        <p:grpSpPr>
          <a:xfrm rot="0">
            <a:off x="719252" y="3853624"/>
            <a:ext cx="104775" cy="104775"/>
            <a:chOff x="0" y="0"/>
            <a:chExt cx="104775" cy="104775"/>
          </a:xfrm>
        </p:grpSpPr>
        <p:sp>
          <p:nvSpPr>
            <p:cNvPr name="Freeform 11" id="11"/>
            <p:cNvSpPr/>
            <p:nvPr/>
          </p:nvSpPr>
          <p:spPr>
            <a:xfrm flipH="false" flipV="false" rot="0">
              <a:off x="0" y="127"/>
              <a:ext cx="104775" cy="104394"/>
            </a:xfrm>
            <a:custGeom>
              <a:avLst/>
              <a:gdLst/>
              <a:ahLst/>
              <a:cxnLst/>
              <a:rect r="r" b="b" t="t" l="l"/>
              <a:pathLst>
                <a:path h="104394" w="104775">
                  <a:moveTo>
                    <a:pt x="104775" y="52197"/>
                  </a:moveTo>
                  <a:cubicBezTo>
                    <a:pt x="104775" y="55626"/>
                    <a:pt x="104394" y="59055"/>
                    <a:pt x="103759" y="62357"/>
                  </a:cubicBezTo>
                  <a:cubicBezTo>
                    <a:pt x="103124" y="65659"/>
                    <a:pt x="102108" y="68961"/>
                    <a:pt x="100838" y="72136"/>
                  </a:cubicBezTo>
                  <a:cubicBezTo>
                    <a:pt x="99568" y="75311"/>
                    <a:pt x="97917" y="78359"/>
                    <a:pt x="96012" y="81153"/>
                  </a:cubicBezTo>
                  <a:cubicBezTo>
                    <a:pt x="94107" y="83947"/>
                    <a:pt x="91948" y="86614"/>
                    <a:pt x="89535" y="89154"/>
                  </a:cubicBezTo>
                  <a:cubicBezTo>
                    <a:pt x="87122" y="91694"/>
                    <a:pt x="84455" y="93726"/>
                    <a:pt x="81534" y="95631"/>
                  </a:cubicBezTo>
                  <a:cubicBezTo>
                    <a:pt x="78613" y="97536"/>
                    <a:pt x="75692" y="99187"/>
                    <a:pt x="72517" y="100457"/>
                  </a:cubicBezTo>
                  <a:cubicBezTo>
                    <a:pt x="69342" y="101727"/>
                    <a:pt x="66040" y="102743"/>
                    <a:pt x="62738" y="103378"/>
                  </a:cubicBezTo>
                  <a:cubicBezTo>
                    <a:pt x="59436" y="104013"/>
                    <a:pt x="56007" y="104394"/>
                    <a:pt x="52578" y="104394"/>
                  </a:cubicBezTo>
                  <a:cubicBezTo>
                    <a:pt x="49149" y="104394"/>
                    <a:pt x="45720" y="104013"/>
                    <a:pt x="42418" y="103378"/>
                  </a:cubicBezTo>
                  <a:cubicBezTo>
                    <a:pt x="39116" y="102743"/>
                    <a:pt x="35814" y="101727"/>
                    <a:pt x="32639" y="100457"/>
                  </a:cubicBezTo>
                  <a:cubicBezTo>
                    <a:pt x="29464" y="99187"/>
                    <a:pt x="26416" y="97536"/>
                    <a:pt x="23622" y="95631"/>
                  </a:cubicBezTo>
                  <a:cubicBezTo>
                    <a:pt x="20828" y="93726"/>
                    <a:pt x="18161" y="91567"/>
                    <a:pt x="15621" y="89154"/>
                  </a:cubicBezTo>
                  <a:cubicBezTo>
                    <a:pt x="13081" y="86741"/>
                    <a:pt x="11049" y="84074"/>
                    <a:pt x="9144" y="81153"/>
                  </a:cubicBezTo>
                  <a:cubicBezTo>
                    <a:pt x="7239" y="78232"/>
                    <a:pt x="5334" y="75438"/>
                    <a:pt x="3937" y="72263"/>
                  </a:cubicBezTo>
                  <a:cubicBezTo>
                    <a:pt x="2540" y="69088"/>
                    <a:pt x="1651" y="65913"/>
                    <a:pt x="1016" y="62484"/>
                  </a:cubicBezTo>
                  <a:cubicBezTo>
                    <a:pt x="381" y="59055"/>
                    <a:pt x="0" y="55753"/>
                    <a:pt x="0" y="52197"/>
                  </a:cubicBezTo>
                  <a:cubicBezTo>
                    <a:pt x="0" y="48641"/>
                    <a:pt x="381" y="45339"/>
                    <a:pt x="1016" y="42037"/>
                  </a:cubicBezTo>
                  <a:cubicBezTo>
                    <a:pt x="1651" y="38735"/>
                    <a:pt x="2667" y="35433"/>
                    <a:pt x="3937" y="32258"/>
                  </a:cubicBezTo>
                  <a:cubicBezTo>
                    <a:pt x="5207" y="29083"/>
                    <a:pt x="6858" y="26035"/>
                    <a:pt x="8763" y="23241"/>
                  </a:cubicBezTo>
                  <a:cubicBezTo>
                    <a:pt x="10668" y="20447"/>
                    <a:pt x="12827" y="17780"/>
                    <a:pt x="15240" y="15240"/>
                  </a:cubicBezTo>
                  <a:cubicBezTo>
                    <a:pt x="17653" y="12700"/>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FFFFFF"/>
            </a:solidFill>
          </p:spPr>
        </p:sp>
      </p:grpSp>
      <p:grpSp>
        <p:nvGrpSpPr>
          <p:cNvPr name="Group 12" id="12"/>
          <p:cNvGrpSpPr/>
          <p:nvPr/>
        </p:nvGrpSpPr>
        <p:grpSpPr>
          <a:xfrm rot="0">
            <a:off x="719252" y="5110925"/>
            <a:ext cx="104775" cy="104775"/>
            <a:chOff x="0" y="0"/>
            <a:chExt cx="104775" cy="104775"/>
          </a:xfrm>
        </p:grpSpPr>
        <p:sp>
          <p:nvSpPr>
            <p:cNvPr name="Freeform 13" id="13"/>
            <p:cNvSpPr/>
            <p:nvPr/>
          </p:nvSpPr>
          <p:spPr>
            <a:xfrm flipH="false" flipV="false" rot="0">
              <a:off x="0" y="127"/>
              <a:ext cx="104775" cy="104394"/>
            </a:xfrm>
            <a:custGeom>
              <a:avLst/>
              <a:gdLst/>
              <a:ahLst/>
              <a:cxnLst/>
              <a:rect r="r" b="b" t="t" l="l"/>
              <a:pathLst>
                <a:path h="104394" w="104775">
                  <a:moveTo>
                    <a:pt x="104775" y="52197"/>
                  </a:moveTo>
                  <a:cubicBezTo>
                    <a:pt x="104775" y="55626"/>
                    <a:pt x="104394" y="59055"/>
                    <a:pt x="103759" y="62357"/>
                  </a:cubicBezTo>
                  <a:cubicBezTo>
                    <a:pt x="103124" y="65659"/>
                    <a:pt x="102108" y="68961"/>
                    <a:pt x="100838" y="72136"/>
                  </a:cubicBezTo>
                  <a:cubicBezTo>
                    <a:pt x="99568" y="75311"/>
                    <a:pt x="97917" y="78359"/>
                    <a:pt x="96012" y="81153"/>
                  </a:cubicBezTo>
                  <a:cubicBezTo>
                    <a:pt x="94107" y="83947"/>
                    <a:pt x="91948" y="86614"/>
                    <a:pt x="89535" y="89154"/>
                  </a:cubicBezTo>
                  <a:cubicBezTo>
                    <a:pt x="87122" y="91694"/>
                    <a:pt x="84455" y="93726"/>
                    <a:pt x="81534" y="95631"/>
                  </a:cubicBezTo>
                  <a:cubicBezTo>
                    <a:pt x="78613" y="97536"/>
                    <a:pt x="75692" y="99187"/>
                    <a:pt x="72517" y="100457"/>
                  </a:cubicBezTo>
                  <a:cubicBezTo>
                    <a:pt x="69342" y="101727"/>
                    <a:pt x="66040" y="102743"/>
                    <a:pt x="62738" y="103378"/>
                  </a:cubicBezTo>
                  <a:cubicBezTo>
                    <a:pt x="59436" y="104013"/>
                    <a:pt x="56007" y="104394"/>
                    <a:pt x="52578" y="104394"/>
                  </a:cubicBezTo>
                  <a:cubicBezTo>
                    <a:pt x="49149" y="104394"/>
                    <a:pt x="45720" y="104013"/>
                    <a:pt x="42418" y="103378"/>
                  </a:cubicBezTo>
                  <a:cubicBezTo>
                    <a:pt x="39116" y="102743"/>
                    <a:pt x="35814" y="101727"/>
                    <a:pt x="32639" y="100457"/>
                  </a:cubicBezTo>
                  <a:cubicBezTo>
                    <a:pt x="29464" y="99187"/>
                    <a:pt x="26416" y="97536"/>
                    <a:pt x="23622" y="95631"/>
                  </a:cubicBezTo>
                  <a:cubicBezTo>
                    <a:pt x="20828" y="93726"/>
                    <a:pt x="18161" y="91567"/>
                    <a:pt x="15621" y="89154"/>
                  </a:cubicBezTo>
                  <a:cubicBezTo>
                    <a:pt x="13081" y="86741"/>
                    <a:pt x="11049" y="84074"/>
                    <a:pt x="9144" y="81153"/>
                  </a:cubicBezTo>
                  <a:cubicBezTo>
                    <a:pt x="7239" y="78232"/>
                    <a:pt x="5334" y="75438"/>
                    <a:pt x="3937" y="72263"/>
                  </a:cubicBezTo>
                  <a:cubicBezTo>
                    <a:pt x="2540" y="69088"/>
                    <a:pt x="1651" y="65913"/>
                    <a:pt x="1016" y="62484"/>
                  </a:cubicBezTo>
                  <a:cubicBezTo>
                    <a:pt x="381" y="59055"/>
                    <a:pt x="0" y="55753"/>
                    <a:pt x="0" y="52197"/>
                  </a:cubicBezTo>
                  <a:cubicBezTo>
                    <a:pt x="0" y="48641"/>
                    <a:pt x="381" y="45339"/>
                    <a:pt x="1016" y="42037"/>
                  </a:cubicBezTo>
                  <a:cubicBezTo>
                    <a:pt x="1651" y="38735"/>
                    <a:pt x="2667" y="35433"/>
                    <a:pt x="3937" y="32258"/>
                  </a:cubicBezTo>
                  <a:cubicBezTo>
                    <a:pt x="5207" y="29083"/>
                    <a:pt x="6858" y="26035"/>
                    <a:pt x="8763" y="23241"/>
                  </a:cubicBezTo>
                  <a:cubicBezTo>
                    <a:pt x="10668" y="20447"/>
                    <a:pt x="12827" y="17780"/>
                    <a:pt x="15240" y="15240"/>
                  </a:cubicBezTo>
                  <a:cubicBezTo>
                    <a:pt x="17653" y="12700"/>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FFFFFF"/>
            </a:solidFill>
          </p:spPr>
        </p:sp>
      </p:grpSp>
      <p:grpSp>
        <p:nvGrpSpPr>
          <p:cNvPr name="Group 14" id="14"/>
          <p:cNvGrpSpPr/>
          <p:nvPr/>
        </p:nvGrpSpPr>
        <p:grpSpPr>
          <a:xfrm rot="0">
            <a:off x="10213315" y="5576059"/>
            <a:ext cx="2917736" cy="3681355"/>
            <a:chOff x="0" y="0"/>
            <a:chExt cx="2917736" cy="3681362"/>
          </a:xfrm>
        </p:grpSpPr>
        <p:sp>
          <p:nvSpPr>
            <p:cNvPr name="Freeform 15" id="15"/>
            <p:cNvSpPr/>
            <p:nvPr/>
          </p:nvSpPr>
          <p:spPr>
            <a:xfrm flipH="false" flipV="false" rot="0">
              <a:off x="0" y="0"/>
              <a:ext cx="2917702" cy="3681354"/>
            </a:xfrm>
            <a:custGeom>
              <a:avLst/>
              <a:gdLst/>
              <a:ahLst/>
              <a:cxnLst/>
              <a:rect r="r" b="b" t="t" l="l"/>
              <a:pathLst>
                <a:path h="3681354" w="2917702">
                  <a:moveTo>
                    <a:pt x="0" y="0"/>
                  </a:moveTo>
                  <a:lnTo>
                    <a:pt x="0" y="3681354"/>
                  </a:lnTo>
                  <a:lnTo>
                    <a:pt x="2540" y="3681354"/>
                  </a:lnTo>
                  <a:lnTo>
                    <a:pt x="1458851" y="3179195"/>
                  </a:lnTo>
                  <a:lnTo>
                    <a:pt x="2915162" y="3681354"/>
                  </a:lnTo>
                  <a:lnTo>
                    <a:pt x="2917702" y="3681354"/>
                  </a:lnTo>
                  <a:lnTo>
                    <a:pt x="2917702" y="0"/>
                  </a:lnTo>
                  <a:close/>
                </a:path>
              </a:pathLst>
            </a:custGeom>
            <a:solidFill>
              <a:srgbClr val="004AAD"/>
            </a:solidFill>
          </p:spPr>
        </p:sp>
      </p:grpSp>
      <p:sp>
        <p:nvSpPr>
          <p:cNvPr name="TextBox 16" id="16"/>
          <p:cNvSpPr txBox="true"/>
          <p:nvPr/>
        </p:nvSpPr>
        <p:spPr>
          <a:xfrm rot="0">
            <a:off x="999192" y="1579931"/>
            <a:ext cx="12055954" cy="832333"/>
          </a:xfrm>
          <a:prstGeom prst="rect">
            <a:avLst/>
          </a:prstGeom>
        </p:spPr>
        <p:txBody>
          <a:bodyPr anchor="t" rtlCol="false" tIns="0" lIns="0" bIns="0" rIns="0">
            <a:spAutoFit/>
          </a:bodyPr>
          <a:lstStyle/>
          <a:p>
            <a:pPr algn="l">
              <a:lnSpc>
                <a:spcPts val="3300"/>
              </a:lnSpc>
            </a:pPr>
            <a:r>
              <a:rPr lang="en-US" b="true" sz="2400">
                <a:solidFill>
                  <a:srgbClr val="FFFFFF"/>
                </a:solidFill>
                <a:latin typeface="Red Hat Display Bold"/>
                <a:ea typeface="Red Hat Display Bold"/>
                <a:cs typeface="Red Hat Display Bold"/>
                <a:sym typeface="Red Hat Display Bold"/>
              </a:rPr>
              <a:t>Founded in 1884 by Dr. S.K. Burman, Dabur is one of India’s oldest and most trusted FMCG companies.</a:t>
            </a:r>
          </a:p>
        </p:txBody>
      </p:sp>
      <p:sp>
        <p:nvSpPr>
          <p:cNvPr name="TextBox 17" id="17"/>
          <p:cNvSpPr txBox="true"/>
          <p:nvPr/>
        </p:nvSpPr>
        <p:spPr>
          <a:xfrm rot="0">
            <a:off x="999192" y="2837231"/>
            <a:ext cx="6522920" cy="413233"/>
          </a:xfrm>
          <a:prstGeom prst="rect">
            <a:avLst/>
          </a:prstGeom>
        </p:spPr>
        <p:txBody>
          <a:bodyPr anchor="t" rtlCol="false" tIns="0" lIns="0" bIns="0" rIns="0">
            <a:spAutoFit/>
          </a:bodyPr>
          <a:lstStyle/>
          <a:p>
            <a:pPr algn="l">
              <a:lnSpc>
                <a:spcPts val="3359"/>
              </a:lnSpc>
            </a:pPr>
            <a:r>
              <a:rPr lang="en-US" b="true" sz="2400">
                <a:solidFill>
                  <a:srgbClr val="FFFFFF"/>
                </a:solidFill>
                <a:latin typeface="Red Hat Display Bold"/>
                <a:ea typeface="Red Hat Display Bold"/>
                <a:cs typeface="Red Hat Display Bold"/>
                <a:sym typeface="Red Hat Display Bold"/>
              </a:rPr>
              <a:t>Headquartered in Ghaziabad, Uttar Pradesh.</a:t>
            </a:r>
          </a:p>
        </p:txBody>
      </p:sp>
      <p:sp>
        <p:nvSpPr>
          <p:cNvPr name="TextBox 18" id="18"/>
          <p:cNvSpPr txBox="true"/>
          <p:nvPr/>
        </p:nvSpPr>
        <p:spPr>
          <a:xfrm rot="0">
            <a:off x="999192" y="3675431"/>
            <a:ext cx="11738210" cy="832333"/>
          </a:xfrm>
          <a:prstGeom prst="rect">
            <a:avLst/>
          </a:prstGeom>
        </p:spPr>
        <p:txBody>
          <a:bodyPr anchor="t" rtlCol="false" tIns="0" lIns="0" bIns="0" rIns="0">
            <a:spAutoFit/>
          </a:bodyPr>
          <a:lstStyle/>
          <a:p>
            <a:pPr algn="l">
              <a:lnSpc>
                <a:spcPts val="3300"/>
              </a:lnSpc>
            </a:pPr>
            <a:r>
              <a:rPr lang="en-US" b="true" sz="2400">
                <a:solidFill>
                  <a:srgbClr val="FFFFFF"/>
                </a:solidFill>
                <a:latin typeface="Red Hat Display Bold"/>
                <a:ea typeface="Red Hat Display Bold"/>
                <a:cs typeface="Red Hat Display Bold"/>
                <a:sym typeface="Red Hat Display Bold"/>
              </a:rPr>
              <a:t>Known for its strong heritage in Ayurveda, offering products across Health Care, Personal Care, Home Care, and Foods.</a:t>
            </a:r>
          </a:p>
        </p:txBody>
      </p:sp>
      <p:sp>
        <p:nvSpPr>
          <p:cNvPr name="TextBox 19" id="19"/>
          <p:cNvSpPr txBox="true"/>
          <p:nvPr/>
        </p:nvSpPr>
        <p:spPr>
          <a:xfrm rot="0">
            <a:off x="999192" y="4932731"/>
            <a:ext cx="7980721" cy="413233"/>
          </a:xfrm>
          <a:prstGeom prst="rect">
            <a:avLst/>
          </a:prstGeom>
        </p:spPr>
        <p:txBody>
          <a:bodyPr anchor="t" rtlCol="false" tIns="0" lIns="0" bIns="0" rIns="0">
            <a:spAutoFit/>
          </a:bodyPr>
          <a:lstStyle/>
          <a:p>
            <a:pPr algn="l">
              <a:lnSpc>
                <a:spcPts val="3359"/>
              </a:lnSpc>
            </a:pPr>
            <a:r>
              <a:rPr lang="en-US" b="true" sz="2400">
                <a:solidFill>
                  <a:srgbClr val="FFFFFF"/>
                </a:solidFill>
                <a:latin typeface="Red Hat Display Bold"/>
                <a:ea typeface="Red Hat Display Bold"/>
                <a:cs typeface="Red Hat Display Bold"/>
                <a:sym typeface="Red Hat Display Bold"/>
              </a:rPr>
              <a:t>A global presence with products sold in 120+ countries.</a:t>
            </a:r>
          </a:p>
        </p:txBody>
      </p:sp>
      <p:sp>
        <p:nvSpPr>
          <p:cNvPr name="TextBox 20" id="20"/>
          <p:cNvSpPr txBox="true"/>
          <p:nvPr/>
        </p:nvSpPr>
        <p:spPr>
          <a:xfrm rot="0">
            <a:off x="11226984" y="5674090"/>
            <a:ext cx="907818" cy="413233"/>
          </a:xfrm>
          <a:prstGeom prst="rect">
            <a:avLst/>
          </a:prstGeom>
        </p:spPr>
        <p:txBody>
          <a:bodyPr anchor="t" rtlCol="false" tIns="0" lIns="0" bIns="0" rIns="0">
            <a:spAutoFit/>
          </a:bodyPr>
          <a:lstStyle/>
          <a:p>
            <a:pPr algn="l">
              <a:lnSpc>
                <a:spcPts val="3359"/>
              </a:lnSpc>
            </a:pPr>
            <a:r>
              <a:rPr lang="en-US" b="true" sz="2400">
                <a:solidFill>
                  <a:srgbClr val="FFFFFF"/>
                </a:solidFill>
                <a:latin typeface="Red Hat Display Bold"/>
                <a:ea typeface="Red Hat Display Bold"/>
                <a:cs typeface="Red Hat Display Bold"/>
                <a:sym typeface="Red Hat Display Bold"/>
              </a:rPr>
              <a:t>Vision</a:t>
            </a:r>
          </a:p>
        </p:txBody>
      </p:sp>
      <p:sp>
        <p:nvSpPr>
          <p:cNvPr name="TextBox 21" id="21"/>
          <p:cNvSpPr txBox="true"/>
          <p:nvPr/>
        </p:nvSpPr>
        <p:spPr>
          <a:xfrm rot="0">
            <a:off x="10291153" y="6512290"/>
            <a:ext cx="2817038" cy="1670533"/>
          </a:xfrm>
          <a:prstGeom prst="rect">
            <a:avLst/>
          </a:prstGeom>
        </p:spPr>
        <p:txBody>
          <a:bodyPr anchor="t" rtlCol="false" tIns="0" lIns="0" bIns="0" rIns="0">
            <a:spAutoFit/>
          </a:bodyPr>
          <a:lstStyle/>
          <a:p>
            <a:pPr algn="ctr">
              <a:lnSpc>
                <a:spcPts val="3300"/>
              </a:lnSpc>
            </a:pPr>
            <a:r>
              <a:rPr lang="en-US" b="true" sz="2400">
                <a:solidFill>
                  <a:srgbClr val="FFFFFF"/>
                </a:solidFill>
                <a:latin typeface="Red Hat Display Bold"/>
                <a:ea typeface="Red Hat Display Bold"/>
                <a:cs typeface="Red Hat Display Bold"/>
                <a:sym typeface="Red Hat Display Bold"/>
              </a:rPr>
              <a:t>“Dedicated to the health &amp; well-being of every household.”</a:t>
            </a:r>
          </a:p>
        </p:txBody>
      </p:sp>
      <p:sp>
        <p:nvSpPr>
          <p:cNvPr name="TextBox 22" id="22"/>
          <p:cNvSpPr txBox="true"/>
          <p:nvPr/>
        </p:nvSpPr>
        <p:spPr>
          <a:xfrm rot="0">
            <a:off x="14960203" y="1888731"/>
            <a:ext cx="1107729" cy="413233"/>
          </a:xfrm>
          <a:prstGeom prst="rect">
            <a:avLst/>
          </a:prstGeom>
        </p:spPr>
        <p:txBody>
          <a:bodyPr anchor="t" rtlCol="false" tIns="0" lIns="0" bIns="0" rIns="0">
            <a:spAutoFit/>
          </a:bodyPr>
          <a:lstStyle/>
          <a:p>
            <a:pPr algn="l">
              <a:lnSpc>
                <a:spcPts val="3359"/>
              </a:lnSpc>
            </a:pPr>
            <a:r>
              <a:rPr lang="en-US" b="true" sz="2400">
                <a:solidFill>
                  <a:srgbClr val="FFFFFF"/>
                </a:solidFill>
                <a:latin typeface="Red Hat Display Bold"/>
                <a:ea typeface="Red Hat Display Bold"/>
                <a:cs typeface="Red Hat Display Bold"/>
                <a:sym typeface="Red Hat Display Bold"/>
              </a:rPr>
              <a:t>Mission</a:t>
            </a:r>
          </a:p>
        </p:txBody>
      </p:sp>
      <p:sp>
        <p:nvSpPr>
          <p:cNvPr name="TextBox 23" id="23"/>
          <p:cNvSpPr txBox="true"/>
          <p:nvPr/>
        </p:nvSpPr>
        <p:spPr>
          <a:xfrm rot="0">
            <a:off x="14075121" y="2726931"/>
            <a:ext cx="2913412" cy="1251433"/>
          </a:xfrm>
          <a:prstGeom prst="rect">
            <a:avLst/>
          </a:prstGeom>
        </p:spPr>
        <p:txBody>
          <a:bodyPr anchor="t" rtlCol="false" tIns="0" lIns="0" bIns="0" rIns="0">
            <a:spAutoFit/>
          </a:bodyPr>
          <a:lstStyle/>
          <a:p>
            <a:pPr algn="ctr">
              <a:lnSpc>
                <a:spcPts val="3300"/>
              </a:lnSpc>
            </a:pPr>
            <a:r>
              <a:rPr lang="en-US" b="true" sz="2400">
                <a:solidFill>
                  <a:srgbClr val="FFFFFF"/>
                </a:solidFill>
                <a:latin typeface="Red Hat Display Bold"/>
                <a:ea typeface="Red Hat Display Bold"/>
                <a:cs typeface="Red Hat Display Bold"/>
                <a:sym typeface="Red Hat Display Bold"/>
              </a:rPr>
              <a:t>Deliver high-quality Ayurvedic and natural products.</a:t>
            </a:r>
          </a:p>
        </p:txBody>
      </p:sp>
      <p:sp>
        <p:nvSpPr>
          <p:cNvPr name="TextBox 24" id="24"/>
          <p:cNvSpPr txBox="true"/>
          <p:nvPr/>
        </p:nvSpPr>
        <p:spPr>
          <a:xfrm rot="0">
            <a:off x="14257134" y="4403331"/>
            <a:ext cx="2542203" cy="1251433"/>
          </a:xfrm>
          <a:prstGeom prst="rect">
            <a:avLst/>
          </a:prstGeom>
        </p:spPr>
        <p:txBody>
          <a:bodyPr anchor="t" rtlCol="false" tIns="0" lIns="0" bIns="0" rIns="0">
            <a:spAutoFit/>
          </a:bodyPr>
          <a:lstStyle/>
          <a:p>
            <a:pPr algn="ctr">
              <a:lnSpc>
                <a:spcPts val="3300"/>
              </a:lnSpc>
            </a:pPr>
            <a:r>
              <a:rPr lang="en-US" b="true" sz="2400">
                <a:solidFill>
                  <a:srgbClr val="FFFFFF"/>
                </a:solidFill>
                <a:latin typeface="Red Hat Display Bold"/>
                <a:ea typeface="Red Hat Display Bold"/>
                <a:cs typeface="Red Hat Display Bold"/>
                <a:sym typeface="Red Hat Display Bold"/>
              </a:rPr>
              <a:t>Expand globally while deepening market presence.</a:t>
            </a:r>
          </a:p>
        </p:txBody>
      </p:sp>
      <p:sp>
        <p:nvSpPr>
          <p:cNvPr name="TextBox 25" id="25"/>
          <p:cNvSpPr txBox="true"/>
          <p:nvPr/>
        </p:nvSpPr>
        <p:spPr>
          <a:xfrm rot="0">
            <a:off x="13992968" y="6079731"/>
            <a:ext cx="3080985" cy="1670533"/>
          </a:xfrm>
          <a:prstGeom prst="rect">
            <a:avLst/>
          </a:prstGeom>
        </p:spPr>
        <p:txBody>
          <a:bodyPr anchor="t" rtlCol="false" tIns="0" lIns="0" bIns="0" rIns="0">
            <a:spAutoFit/>
          </a:bodyPr>
          <a:lstStyle/>
          <a:p>
            <a:pPr algn="ctr">
              <a:lnSpc>
                <a:spcPts val="3300"/>
              </a:lnSpc>
            </a:pPr>
            <a:r>
              <a:rPr lang="en-US" b="true" sz="2400">
                <a:solidFill>
                  <a:srgbClr val="FFFFFF"/>
                </a:solidFill>
                <a:latin typeface="Red Hat Display Bold"/>
                <a:ea typeface="Red Hat Display Bold"/>
                <a:cs typeface="Red Hat Display Bold"/>
                <a:sym typeface="Red Hat Display Bold"/>
              </a:rPr>
              <a:t>Promote consumer health, sustainability, and eco-friendly practices.</a:t>
            </a:r>
          </a:p>
        </p:txBody>
      </p:sp>
      <p:sp>
        <p:nvSpPr>
          <p:cNvPr name="TextBox 26" id="26"/>
          <p:cNvSpPr txBox="true"/>
          <p:nvPr/>
        </p:nvSpPr>
        <p:spPr>
          <a:xfrm rot="0">
            <a:off x="370646" y="9382"/>
            <a:ext cx="7618505" cy="1015727"/>
          </a:xfrm>
          <a:prstGeom prst="rect">
            <a:avLst/>
          </a:prstGeom>
        </p:spPr>
        <p:txBody>
          <a:bodyPr anchor="t" rtlCol="false" tIns="0" lIns="0" bIns="0" rIns="0">
            <a:spAutoFit/>
          </a:bodyPr>
          <a:lstStyle/>
          <a:p>
            <a:pPr algn="l">
              <a:lnSpc>
                <a:spcPts val="7418"/>
              </a:lnSpc>
            </a:pPr>
            <a:r>
              <a:rPr lang="en-US" sz="5298">
                <a:solidFill>
                  <a:srgbClr val="000000"/>
                </a:solidFill>
                <a:latin typeface="CanvaSansSC-Regular"/>
                <a:ea typeface="CanvaSansSC-Regular"/>
                <a:cs typeface="CanvaSansSC-Regular"/>
                <a:sym typeface="CanvaSansSC-Regular"/>
              </a:rPr>
              <a:t>ABOUT THE COMPANY</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D9A85F"/>
        </a:solidFill>
      </p:bgPr>
    </p:bg>
    <p:spTree>
      <p:nvGrpSpPr>
        <p:cNvPr id="1" name=""/>
        <p:cNvGrpSpPr/>
        <p:nvPr/>
      </p:nvGrpSpPr>
      <p:grpSpPr>
        <a:xfrm>
          <a:off x="0" y="0"/>
          <a:ext cx="0" cy="0"/>
          <a:chOff x="0" y="0"/>
          <a:chExt cx="0" cy="0"/>
        </a:xfrm>
      </p:grpSpPr>
      <p:grpSp>
        <p:nvGrpSpPr>
          <p:cNvPr name="Group 2" id="2"/>
          <p:cNvGrpSpPr/>
          <p:nvPr/>
        </p:nvGrpSpPr>
        <p:grpSpPr>
          <a:xfrm rot="0">
            <a:off x="-63503" y="-63503"/>
            <a:ext cx="18418045" cy="10413997"/>
            <a:chOff x="0" y="0"/>
            <a:chExt cx="18418048" cy="10414000"/>
          </a:xfrm>
        </p:grpSpPr>
        <p:sp>
          <p:nvSpPr>
            <p:cNvPr name="Freeform 3" id="3"/>
            <p:cNvSpPr/>
            <p:nvPr/>
          </p:nvSpPr>
          <p:spPr>
            <a:xfrm flipH="false" flipV="false" rot="0">
              <a:off x="63500" y="6935597"/>
              <a:ext cx="18288000" cy="9525"/>
            </a:xfrm>
            <a:custGeom>
              <a:avLst/>
              <a:gdLst/>
              <a:ahLst/>
              <a:cxnLst/>
              <a:rect r="r" b="b" t="t" l="l"/>
              <a:pathLst>
                <a:path h="9525" w="18288000">
                  <a:moveTo>
                    <a:pt x="0" y="0"/>
                  </a:moveTo>
                  <a:lnTo>
                    <a:pt x="0" y="9525"/>
                  </a:lnTo>
                  <a:lnTo>
                    <a:pt x="18288000" y="9525"/>
                  </a:lnTo>
                  <a:lnTo>
                    <a:pt x="18288000" y="0"/>
                  </a:lnTo>
                  <a:close/>
                </a:path>
              </a:pathLst>
            </a:custGeom>
            <a:solidFill>
              <a:srgbClr val="272727"/>
            </a:solidFill>
          </p:spPr>
        </p:sp>
        <p:sp>
          <p:nvSpPr>
            <p:cNvPr name="Freeform 4" id="4"/>
            <p:cNvSpPr/>
            <p:nvPr/>
          </p:nvSpPr>
          <p:spPr>
            <a:xfrm flipH="false" flipV="false" rot="0">
              <a:off x="63500" y="63500"/>
              <a:ext cx="8553450" cy="10287000"/>
            </a:xfrm>
            <a:custGeom>
              <a:avLst/>
              <a:gdLst/>
              <a:ahLst/>
              <a:cxnLst/>
              <a:rect r="r" b="b" t="t" l="l"/>
              <a:pathLst>
                <a:path h="10287000" w="8553450">
                  <a:moveTo>
                    <a:pt x="0" y="0"/>
                  </a:moveTo>
                  <a:lnTo>
                    <a:pt x="8553450" y="0"/>
                  </a:lnTo>
                  <a:lnTo>
                    <a:pt x="8553450" y="10287000"/>
                  </a:lnTo>
                  <a:lnTo>
                    <a:pt x="0" y="10287000"/>
                  </a:lnTo>
                  <a:close/>
                </a:path>
              </a:pathLst>
            </a:custGeom>
            <a:solidFill>
              <a:srgbClr val="084906"/>
            </a:solidFill>
          </p:spPr>
        </p:sp>
        <p:sp>
          <p:nvSpPr>
            <p:cNvPr name="Freeform 5" id="5"/>
            <p:cNvSpPr/>
            <p:nvPr/>
          </p:nvSpPr>
          <p:spPr>
            <a:xfrm flipH="false" flipV="false" rot="0">
              <a:off x="17114138" y="9663430"/>
              <a:ext cx="337438" cy="22733"/>
            </a:xfrm>
            <a:custGeom>
              <a:avLst/>
              <a:gdLst/>
              <a:ahLst/>
              <a:cxnLst/>
              <a:rect r="r" b="b" t="t" l="l"/>
              <a:pathLst>
                <a:path h="22733" w="337438">
                  <a:moveTo>
                    <a:pt x="0" y="0"/>
                  </a:moveTo>
                  <a:lnTo>
                    <a:pt x="0" y="22733"/>
                  </a:lnTo>
                  <a:lnTo>
                    <a:pt x="337439" y="22733"/>
                  </a:lnTo>
                  <a:lnTo>
                    <a:pt x="337439" y="0"/>
                  </a:lnTo>
                  <a:close/>
                </a:path>
              </a:pathLst>
            </a:custGeom>
            <a:solidFill>
              <a:srgbClr val="000000"/>
            </a:solidFill>
          </p:spPr>
        </p:sp>
        <p:sp>
          <p:nvSpPr>
            <p:cNvPr name="Freeform 6" id="6"/>
            <p:cNvSpPr/>
            <p:nvPr/>
          </p:nvSpPr>
          <p:spPr>
            <a:xfrm flipH="false" flipV="false" rot="0">
              <a:off x="17428083" y="9599422"/>
              <a:ext cx="111761" cy="150876"/>
            </a:xfrm>
            <a:custGeom>
              <a:avLst/>
              <a:gdLst/>
              <a:ahLst/>
              <a:cxnLst/>
              <a:rect r="r" b="b" t="t" l="l"/>
              <a:pathLst>
                <a:path h="150876" w="111761">
                  <a:moveTo>
                    <a:pt x="0" y="0"/>
                  </a:moveTo>
                  <a:lnTo>
                    <a:pt x="0" y="150876"/>
                  </a:lnTo>
                  <a:lnTo>
                    <a:pt x="111761" y="75565"/>
                  </a:lnTo>
                  <a:lnTo>
                    <a:pt x="111761" y="75438"/>
                  </a:lnTo>
                  <a:lnTo>
                    <a:pt x="0" y="127"/>
                  </a:lnTo>
                  <a:close/>
                </a:path>
              </a:pathLst>
            </a:custGeom>
            <a:solidFill>
              <a:srgbClr val="000000"/>
            </a:solidFill>
          </p:spPr>
        </p:sp>
      </p:grpSp>
      <p:grpSp>
        <p:nvGrpSpPr>
          <p:cNvPr name="Group 7" id="7"/>
          <p:cNvGrpSpPr/>
          <p:nvPr/>
        </p:nvGrpSpPr>
        <p:grpSpPr>
          <a:xfrm rot="0">
            <a:off x="0" y="0"/>
            <a:ext cx="8553450" cy="10287000"/>
            <a:chOff x="0" y="0"/>
            <a:chExt cx="11404600" cy="13716000"/>
          </a:xfrm>
        </p:grpSpPr>
        <p:sp>
          <p:nvSpPr>
            <p:cNvPr name="Freeform 8" id="8"/>
            <p:cNvSpPr/>
            <p:nvPr/>
          </p:nvSpPr>
          <p:spPr>
            <a:xfrm flipH="false" flipV="false" rot="0">
              <a:off x="0" y="0"/>
              <a:ext cx="11404600" cy="13716000"/>
            </a:xfrm>
            <a:custGeom>
              <a:avLst/>
              <a:gdLst/>
              <a:ahLst/>
              <a:cxnLst/>
              <a:rect r="r" b="b" t="t" l="l"/>
              <a:pathLst>
                <a:path h="13716000" w="11404600">
                  <a:moveTo>
                    <a:pt x="0" y="0"/>
                  </a:moveTo>
                  <a:lnTo>
                    <a:pt x="11404600" y="0"/>
                  </a:lnTo>
                  <a:lnTo>
                    <a:pt x="11404600" y="13716000"/>
                  </a:lnTo>
                  <a:lnTo>
                    <a:pt x="0" y="13716000"/>
                  </a:lnTo>
                  <a:lnTo>
                    <a:pt x="0" y="0"/>
                  </a:lnTo>
                  <a:close/>
                </a:path>
              </a:pathLst>
            </a:custGeom>
            <a:blipFill>
              <a:blip r:embed="rId2"/>
              <a:stretch>
                <a:fillRect l="-8373" t="0" r="-11893" b="0"/>
              </a:stretch>
            </a:blipFill>
          </p:spPr>
        </p:sp>
      </p:grpSp>
      <p:sp>
        <p:nvSpPr>
          <p:cNvPr name="Freeform 9" id="9"/>
          <p:cNvSpPr/>
          <p:nvPr/>
        </p:nvSpPr>
        <p:spPr>
          <a:xfrm flipH="false" flipV="false" rot="0">
            <a:off x="-63503" y="-63503"/>
            <a:ext cx="18414997" cy="10413997"/>
          </a:xfrm>
          <a:custGeom>
            <a:avLst/>
            <a:gdLst/>
            <a:ahLst/>
            <a:cxnLst/>
            <a:rect r="r" b="b" t="t" l="l"/>
            <a:pathLst>
              <a:path h="10413997" w="18414997">
                <a:moveTo>
                  <a:pt x="0" y="0"/>
                </a:moveTo>
                <a:lnTo>
                  <a:pt x="18414997" y="0"/>
                </a:lnTo>
                <a:lnTo>
                  <a:pt x="18414997" y="10413997"/>
                </a:lnTo>
                <a:lnTo>
                  <a:pt x="0" y="1041399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0" id="10"/>
          <p:cNvSpPr txBox="true"/>
          <p:nvPr/>
        </p:nvSpPr>
        <p:spPr>
          <a:xfrm rot="0">
            <a:off x="8788965" y="372285"/>
            <a:ext cx="2525735" cy="310601"/>
          </a:xfrm>
          <a:prstGeom prst="rect">
            <a:avLst/>
          </a:prstGeom>
        </p:spPr>
        <p:txBody>
          <a:bodyPr anchor="t" rtlCol="false" tIns="0" lIns="0" bIns="0" rIns="0">
            <a:spAutoFit/>
          </a:bodyPr>
          <a:lstStyle/>
          <a:p>
            <a:pPr algn="l">
              <a:lnSpc>
                <a:spcPts val="2440"/>
              </a:lnSpc>
            </a:pPr>
            <a:r>
              <a:rPr lang="en-US" b="true" sz="1743">
                <a:solidFill>
                  <a:srgbClr val="000000"/>
                </a:solidFill>
                <a:latin typeface="Red Hat Display Bold"/>
                <a:ea typeface="Red Hat Display Bold"/>
                <a:cs typeface="Red Hat Display Bold"/>
                <a:sym typeface="Red Hat Display Bold"/>
              </a:rPr>
              <a:t>Hybrid Structure Model</a:t>
            </a:r>
          </a:p>
        </p:txBody>
      </p:sp>
      <p:sp>
        <p:nvSpPr>
          <p:cNvPr name="TextBox 11" id="11"/>
          <p:cNvSpPr txBox="true"/>
          <p:nvPr/>
        </p:nvSpPr>
        <p:spPr>
          <a:xfrm rot="0">
            <a:off x="8788965" y="1035920"/>
            <a:ext cx="5123040" cy="1377486"/>
          </a:xfrm>
          <a:prstGeom prst="rect">
            <a:avLst/>
          </a:prstGeom>
        </p:spPr>
        <p:txBody>
          <a:bodyPr anchor="t" rtlCol="false" tIns="0" lIns="0" bIns="0" rIns="0">
            <a:spAutoFit/>
          </a:bodyPr>
          <a:lstStyle/>
          <a:p>
            <a:pPr algn="l">
              <a:lnSpc>
                <a:spcPts val="2724"/>
              </a:lnSpc>
            </a:pPr>
            <a:r>
              <a:rPr lang="en-US" b="true" sz="1743">
                <a:solidFill>
                  <a:srgbClr val="FFFFFF"/>
                </a:solidFill>
                <a:latin typeface="Red Hat Display Bold"/>
                <a:ea typeface="Red Hat Display Bold"/>
                <a:cs typeface="Red Hat Display Bold"/>
                <a:sym typeface="Red Hat Display Bold"/>
              </a:rPr>
              <a:t>Dabur follows a Hybrid Organizational Structure that combines Functional, Divisional, and Geographical systems for maximum efficiency. Functional Structure (Core Strategy)</a:t>
            </a:r>
          </a:p>
        </p:txBody>
      </p:sp>
      <p:sp>
        <p:nvSpPr>
          <p:cNvPr name="TextBox 12" id="12"/>
          <p:cNvSpPr txBox="true"/>
          <p:nvPr/>
        </p:nvSpPr>
        <p:spPr>
          <a:xfrm rot="0">
            <a:off x="8788965" y="6573583"/>
            <a:ext cx="5372005" cy="2761907"/>
          </a:xfrm>
          <a:prstGeom prst="rect">
            <a:avLst/>
          </a:prstGeom>
        </p:spPr>
        <p:txBody>
          <a:bodyPr anchor="t" rtlCol="false" tIns="0" lIns="0" bIns="0" rIns="0">
            <a:spAutoFit/>
          </a:bodyPr>
          <a:lstStyle/>
          <a:p>
            <a:pPr algn="l">
              <a:lnSpc>
                <a:spcPts val="2724"/>
              </a:lnSpc>
            </a:pPr>
            <a:r>
              <a:rPr lang="en-US" b="true" sz="1743">
                <a:solidFill>
                  <a:srgbClr val="000000"/>
                </a:solidFill>
                <a:latin typeface="Red Hat Display Bold"/>
                <a:ea typeface="Red Hat Display Bold"/>
                <a:cs typeface="Red Hat Display Bold"/>
                <a:sym typeface="Red Hat Display Bold"/>
              </a:rPr>
              <a:t>For international operations, Dabur uses region- based structure:</a:t>
            </a:r>
          </a:p>
          <a:p>
            <a:pPr algn="l">
              <a:lnSpc>
                <a:spcPts val="2724"/>
              </a:lnSpc>
            </a:pPr>
            <a:r>
              <a:rPr lang="en-US" b="true" sz="1743">
                <a:solidFill>
                  <a:srgbClr val="FFFFFF"/>
                </a:solidFill>
                <a:latin typeface="Red Hat Display Bold"/>
                <a:ea typeface="Red Hat Display Bold"/>
                <a:cs typeface="Red Hat Display Bold"/>
                <a:sym typeface="Red Hat Display Bold"/>
              </a:rPr>
              <a:t>India Business</a:t>
            </a:r>
          </a:p>
          <a:p>
            <a:pPr algn="l">
              <a:lnSpc>
                <a:spcPts val="2724"/>
              </a:lnSpc>
            </a:pPr>
            <a:r>
              <a:rPr lang="en-US" b="true" sz="1743">
                <a:solidFill>
                  <a:srgbClr val="FFFFFF"/>
                </a:solidFill>
                <a:latin typeface="Red Hat Display Bold"/>
                <a:ea typeface="Red Hat Display Bold"/>
                <a:cs typeface="Red Hat Display Bold"/>
                <a:sym typeface="Red Hat Display Bold"/>
              </a:rPr>
              <a:t>Middle East</a:t>
            </a:r>
          </a:p>
          <a:p>
            <a:pPr algn="l">
              <a:lnSpc>
                <a:spcPts val="2724"/>
              </a:lnSpc>
            </a:pPr>
            <a:r>
              <a:rPr lang="en-US" b="true" sz="1743">
                <a:solidFill>
                  <a:srgbClr val="FFFFFF"/>
                </a:solidFill>
                <a:latin typeface="Red Hat Display Bold"/>
                <a:ea typeface="Red Hat Display Bold"/>
                <a:cs typeface="Red Hat Display Bold"/>
                <a:sym typeface="Red Hat Display Bold"/>
              </a:rPr>
              <a:t>Africa</a:t>
            </a:r>
          </a:p>
          <a:p>
            <a:pPr algn="l">
              <a:lnSpc>
                <a:spcPts val="2724"/>
              </a:lnSpc>
            </a:pPr>
            <a:r>
              <a:rPr lang="en-US" b="true" sz="1743">
                <a:solidFill>
                  <a:srgbClr val="FFFFFF"/>
                </a:solidFill>
                <a:latin typeface="Red Hat Display Bold"/>
                <a:ea typeface="Red Hat Display Bold"/>
                <a:cs typeface="Red Hat Display Bold"/>
                <a:sym typeface="Red Hat Display Bold"/>
              </a:rPr>
              <a:t>Europe &amp; North America</a:t>
            </a:r>
          </a:p>
          <a:p>
            <a:pPr algn="l">
              <a:lnSpc>
                <a:spcPts val="2724"/>
              </a:lnSpc>
            </a:pPr>
            <a:r>
              <a:rPr lang="en-US" b="true" sz="1743">
                <a:solidFill>
                  <a:srgbClr val="FFFFFF"/>
                </a:solidFill>
                <a:latin typeface="Red Hat Display Bold"/>
                <a:ea typeface="Red Hat Display Bold"/>
                <a:cs typeface="Red Hat Display Bold"/>
                <a:sym typeface="Red Hat Display Bold"/>
              </a:rPr>
              <a:t>Each region manages its own marketing, sales, and supply chain strategies.</a:t>
            </a:r>
          </a:p>
        </p:txBody>
      </p:sp>
      <p:sp>
        <p:nvSpPr>
          <p:cNvPr name="TextBox 13" id="13"/>
          <p:cNvSpPr txBox="true"/>
          <p:nvPr/>
        </p:nvSpPr>
        <p:spPr>
          <a:xfrm rot="0">
            <a:off x="8788965" y="2766441"/>
            <a:ext cx="5238331" cy="3454117"/>
          </a:xfrm>
          <a:prstGeom prst="rect">
            <a:avLst/>
          </a:prstGeom>
        </p:spPr>
        <p:txBody>
          <a:bodyPr anchor="t" rtlCol="false" tIns="0" lIns="0" bIns="0" rIns="0">
            <a:spAutoFit/>
          </a:bodyPr>
          <a:lstStyle/>
          <a:p>
            <a:pPr algn="l">
              <a:lnSpc>
                <a:spcPts val="2724"/>
              </a:lnSpc>
            </a:pPr>
            <a:r>
              <a:rPr lang="en-US" b="true" sz="1743">
                <a:solidFill>
                  <a:srgbClr val="000000"/>
                </a:solidFill>
                <a:latin typeface="Red Hat Display Bold"/>
                <a:ea typeface="Red Hat Display Bold"/>
                <a:cs typeface="Red Hat Display Bold"/>
                <a:sym typeface="Red Hat Display Bold"/>
              </a:rPr>
              <a:t>Company is primarily organized by key functions: </a:t>
            </a:r>
            <a:r>
              <a:rPr lang="en-US" b="true" sz="1743">
                <a:solidFill>
                  <a:srgbClr val="FFFFFF"/>
                </a:solidFill>
                <a:latin typeface="Red Hat Display Bold"/>
                <a:ea typeface="Red Hat Display Bold"/>
                <a:cs typeface="Red Hat Display Bold"/>
                <a:sym typeface="Red Hat Display Bold"/>
              </a:rPr>
              <a:t>Marketing</a:t>
            </a:r>
          </a:p>
          <a:p>
            <a:pPr algn="l">
              <a:lnSpc>
                <a:spcPts val="2724"/>
              </a:lnSpc>
            </a:pPr>
            <a:r>
              <a:rPr lang="en-US" b="true" sz="1743">
                <a:solidFill>
                  <a:srgbClr val="FFFFFF"/>
                </a:solidFill>
                <a:latin typeface="Red Hat Display Bold"/>
                <a:ea typeface="Red Hat Display Bold"/>
                <a:cs typeface="Red Hat Display Bold"/>
                <a:sym typeface="Red Hat Display Bold"/>
              </a:rPr>
              <a:t>Finance</a:t>
            </a:r>
          </a:p>
          <a:p>
            <a:pPr algn="l">
              <a:lnSpc>
                <a:spcPts val="2724"/>
              </a:lnSpc>
            </a:pPr>
            <a:r>
              <a:rPr lang="en-US" b="true" sz="1743">
                <a:solidFill>
                  <a:srgbClr val="FFFFFF"/>
                </a:solidFill>
                <a:latin typeface="Red Hat Display Bold"/>
                <a:ea typeface="Red Hat Display Bold"/>
                <a:cs typeface="Red Hat Display Bold"/>
                <a:sym typeface="Red Hat Display Bold"/>
              </a:rPr>
              <a:t>Human Resources</a:t>
            </a:r>
          </a:p>
          <a:p>
            <a:pPr algn="l">
              <a:lnSpc>
                <a:spcPts val="2724"/>
              </a:lnSpc>
            </a:pPr>
            <a:r>
              <a:rPr lang="en-US" b="true" sz="1743">
                <a:solidFill>
                  <a:srgbClr val="FFFFFF"/>
                </a:solidFill>
                <a:latin typeface="Red Hat Display Bold"/>
                <a:ea typeface="Red Hat Display Bold"/>
                <a:cs typeface="Red Hat Display Bold"/>
                <a:sym typeface="Red Hat Display Bold"/>
              </a:rPr>
              <a:t>Operations / Supply Chain</a:t>
            </a:r>
          </a:p>
          <a:p>
            <a:pPr algn="l">
              <a:lnSpc>
                <a:spcPts val="2724"/>
              </a:lnSpc>
            </a:pPr>
            <a:r>
              <a:rPr lang="en-US" b="true" sz="1743">
                <a:solidFill>
                  <a:srgbClr val="FFFFFF"/>
                </a:solidFill>
                <a:latin typeface="Red Hat Display Bold"/>
                <a:ea typeface="Red Hat Display Bold"/>
                <a:cs typeface="Red Hat Display Bold"/>
                <a:sym typeface="Red Hat Display Bold"/>
              </a:rPr>
              <a:t>R&amp;D</a:t>
            </a:r>
          </a:p>
          <a:p>
            <a:pPr algn="l">
              <a:lnSpc>
                <a:spcPts val="2724"/>
              </a:lnSpc>
            </a:pPr>
            <a:r>
              <a:rPr lang="en-US" b="true" sz="1743">
                <a:solidFill>
                  <a:srgbClr val="FFFFFF"/>
                </a:solidFill>
                <a:latin typeface="Red Hat Display Bold"/>
                <a:ea typeface="Red Hat Display Bold"/>
                <a:cs typeface="Red Hat Display Bold"/>
                <a:sym typeface="Red Hat Display Bold"/>
              </a:rPr>
              <a:t>Sales</a:t>
            </a:r>
          </a:p>
          <a:p>
            <a:pPr algn="l">
              <a:lnSpc>
                <a:spcPts val="2724"/>
              </a:lnSpc>
            </a:pPr>
            <a:r>
              <a:rPr lang="en-US" b="true" sz="1743">
                <a:solidFill>
                  <a:srgbClr val="FFFFFF"/>
                </a:solidFill>
                <a:latin typeface="Red Hat Display Bold"/>
                <a:ea typeface="Red Hat Display Bold"/>
                <a:cs typeface="Red Hat Display Bold"/>
                <a:sym typeface="Red Hat Display Bold"/>
              </a:rPr>
              <a:t>Each function has its own leadership for specialized decision-making.</a:t>
            </a:r>
          </a:p>
          <a:p>
            <a:pPr algn="l">
              <a:lnSpc>
                <a:spcPts val="2724"/>
              </a:lnSpc>
            </a:pPr>
            <a:r>
              <a:rPr lang="en-US" b="true" sz="1743">
                <a:solidFill>
                  <a:srgbClr val="FFFFFF"/>
                </a:solidFill>
                <a:latin typeface="Red Hat Display Bold"/>
                <a:ea typeface="Red Hat Display Bold"/>
                <a:cs typeface="Red Hat Display Bold"/>
                <a:sym typeface="Red Hat Display Bold"/>
              </a:rPr>
              <a:t>Geographic Expansion Structure</a:t>
            </a:r>
          </a:p>
        </p:txBody>
      </p:sp>
      <p:sp>
        <p:nvSpPr>
          <p:cNvPr name="TextBox 14" id="14"/>
          <p:cNvSpPr txBox="true"/>
          <p:nvPr/>
        </p:nvSpPr>
        <p:spPr>
          <a:xfrm rot="0">
            <a:off x="15174716" y="1551718"/>
            <a:ext cx="2775061" cy="2927833"/>
          </a:xfrm>
          <a:prstGeom prst="rect">
            <a:avLst/>
          </a:prstGeom>
        </p:spPr>
        <p:txBody>
          <a:bodyPr anchor="t" rtlCol="false" tIns="0" lIns="0" bIns="0" rIns="0">
            <a:spAutoFit/>
          </a:bodyPr>
          <a:lstStyle/>
          <a:p>
            <a:pPr algn="ctr">
              <a:lnSpc>
                <a:spcPts val="3300"/>
              </a:lnSpc>
            </a:pPr>
            <a:r>
              <a:rPr lang="en-US" b="true" sz="2400">
                <a:solidFill>
                  <a:srgbClr val="000000"/>
                </a:solidFill>
                <a:latin typeface="Red Hat Display Bold"/>
                <a:ea typeface="Red Hat Display Bold"/>
                <a:cs typeface="Red Hat Display Bold"/>
                <a:sym typeface="Red Hat Display Bold"/>
              </a:rPr>
              <a:t>Product-Based Divisional Strategy To manage a large FMCG portfolio, Dabur divides operations into product divisions:</a:t>
            </a:r>
          </a:p>
        </p:txBody>
      </p:sp>
      <p:sp>
        <p:nvSpPr>
          <p:cNvPr name="TextBox 15" id="15"/>
          <p:cNvSpPr txBox="true"/>
          <p:nvPr/>
        </p:nvSpPr>
        <p:spPr>
          <a:xfrm rot="0">
            <a:off x="14970824" y="4897812"/>
            <a:ext cx="3191046" cy="3766033"/>
          </a:xfrm>
          <a:prstGeom prst="rect">
            <a:avLst/>
          </a:prstGeom>
        </p:spPr>
        <p:txBody>
          <a:bodyPr anchor="t" rtlCol="false" tIns="0" lIns="0" bIns="0" rIns="0">
            <a:spAutoFit/>
          </a:bodyPr>
          <a:lstStyle/>
          <a:p>
            <a:pPr algn="ctr">
              <a:lnSpc>
                <a:spcPts val="3300"/>
              </a:lnSpc>
            </a:pPr>
            <a:r>
              <a:rPr lang="en-US" sz="2400">
                <a:solidFill>
                  <a:srgbClr val="FFFFFF"/>
                </a:solidFill>
                <a:latin typeface="Red Hat Display"/>
                <a:ea typeface="Red Hat Display"/>
                <a:cs typeface="Red Hat Display"/>
                <a:sym typeface="Red Hat Display"/>
              </a:rPr>
              <a:t>Healthcare Division Home &amp; Personal Care Division</a:t>
            </a:r>
          </a:p>
          <a:p>
            <a:pPr algn="ctr">
              <a:lnSpc>
                <a:spcPts val="3300"/>
              </a:lnSpc>
            </a:pPr>
            <a:r>
              <a:rPr lang="en-US" sz="2400">
                <a:solidFill>
                  <a:srgbClr val="FFFFFF"/>
                </a:solidFill>
                <a:latin typeface="Red Hat Display"/>
                <a:ea typeface="Red Hat Display"/>
                <a:cs typeface="Red Hat Display"/>
                <a:sym typeface="Red Hat Display"/>
              </a:rPr>
              <a:t>Foods &amp; Beverages Division</a:t>
            </a:r>
          </a:p>
          <a:p>
            <a:pPr algn="ctr">
              <a:lnSpc>
                <a:spcPts val="3300"/>
              </a:lnSpc>
            </a:pPr>
            <a:r>
              <a:rPr lang="en-US" sz="2400">
                <a:solidFill>
                  <a:srgbClr val="FFFFFF"/>
                </a:solidFill>
                <a:latin typeface="Red Hat Display"/>
                <a:ea typeface="Red Hat Display"/>
                <a:cs typeface="Red Hat Display"/>
                <a:sym typeface="Red Hat Display"/>
              </a:rPr>
              <a:t>Ayurvedic OTC Division This helps teams focus on category-specific growth and innovation.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987085" y="9472003"/>
            <a:ext cx="552726" cy="278578"/>
            <a:chOff x="0" y="0"/>
            <a:chExt cx="552729" cy="278574"/>
          </a:xfrm>
        </p:grpSpPr>
        <p:sp>
          <p:nvSpPr>
            <p:cNvPr name="Freeform 3" id="3"/>
            <p:cNvSpPr/>
            <p:nvPr/>
          </p:nvSpPr>
          <p:spPr>
            <a:xfrm flipH="false" flipV="false" rot="0">
              <a:off x="63500" y="127886"/>
              <a:ext cx="337439" cy="22733"/>
            </a:xfrm>
            <a:custGeom>
              <a:avLst/>
              <a:gdLst/>
              <a:ahLst/>
              <a:cxnLst/>
              <a:rect r="r" b="b" t="t" l="l"/>
              <a:pathLst>
                <a:path h="22733" w="337439">
                  <a:moveTo>
                    <a:pt x="0" y="0"/>
                  </a:moveTo>
                  <a:lnTo>
                    <a:pt x="0" y="22733"/>
                  </a:lnTo>
                  <a:lnTo>
                    <a:pt x="337439" y="22733"/>
                  </a:lnTo>
                  <a:lnTo>
                    <a:pt x="337439" y="0"/>
                  </a:lnTo>
                  <a:close/>
                </a:path>
              </a:pathLst>
            </a:custGeom>
            <a:solidFill>
              <a:srgbClr val="000000"/>
            </a:solidFill>
          </p:spPr>
        </p:sp>
        <p:sp>
          <p:nvSpPr>
            <p:cNvPr name="Freeform 4" id="4"/>
            <p:cNvSpPr/>
            <p:nvPr/>
          </p:nvSpPr>
          <p:spPr>
            <a:xfrm flipH="false" flipV="false" rot="0">
              <a:off x="377444" y="63880"/>
              <a:ext cx="111760" cy="150873"/>
            </a:xfrm>
            <a:custGeom>
              <a:avLst/>
              <a:gdLst/>
              <a:ahLst/>
              <a:cxnLst/>
              <a:rect r="r" b="b" t="t" l="l"/>
              <a:pathLst>
                <a:path h="150873" w="111760">
                  <a:moveTo>
                    <a:pt x="0" y="0"/>
                  </a:moveTo>
                  <a:lnTo>
                    <a:pt x="0" y="150873"/>
                  </a:lnTo>
                  <a:lnTo>
                    <a:pt x="111760" y="75563"/>
                  </a:lnTo>
                  <a:lnTo>
                    <a:pt x="111760" y="75436"/>
                  </a:lnTo>
                  <a:lnTo>
                    <a:pt x="0" y="127"/>
                  </a:lnTo>
                  <a:close/>
                </a:path>
              </a:pathLst>
            </a:custGeom>
            <a:solidFill>
              <a:srgbClr val="000000"/>
            </a:solidFill>
          </p:spPr>
        </p:sp>
      </p:grpSp>
      <p:grpSp>
        <p:nvGrpSpPr>
          <p:cNvPr name="Group 5" id="5"/>
          <p:cNvGrpSpPr/>
          <p:nvPr/>
        </p:nvGrpSpPr>
        <p:grpSpPr>
          <a:xfrm rot="0">
            <a:off x="6803688" y="6486334"/>
            <a:ext cx="1933575" cy="1685925"/>
            <a:chOff x="0" y="0"/>
            <a:chExt cx="2578100" cy="2247900"/>
          </a:xfrm>
        </p:grpSpPr>
        <p:sp>
          <p:nvSpPr>
            <p:cNvPr name="Freeform 6" id="6"/>
            <p:cNvSpPr/>
            <p:nvPr/>
          </p:nvSpPr>
          <p:spPr>
            <a:xfrm flipH="false" flipV="false" rot="0">
              <a:off x="0" y="0"/>
              <a:ext cx="2578100" cy="2247900"/>
            </a:xfrm>
            <a:custGeom>
              <a:avLst/>
              <a:gdLst/>
              <a:ahLst/>
              <a:cxnLst/>
              <a:rect r="r" b="b" t="t" l="l"/>
              <a:pathLst>
                <a:path h="2247900" w="2578100">
                  <a:moveTo>
                    <a:pt x="0" y="0"/>
                  </a:moveTo>
                  <a:lnTo>
                    <a:pt x="2578100" y="0"/>
                  </a:lnTo>
                  <a:lnTo>
                    <a:pt x="2578100" y="2247900"/>
                  </a:lnTo>
                  <a:lnTo>
                    <a:pt x="0" y="2247900"/>
                  </a:lnTo>
                  <a:lnTo>
                    <a:pt x="0" y="0"/>
                  </a:lnTo>
                  <a:close/>
                </a:path>
              </a:pathLst>
            </a:custGeom>
            <a:blipFill>
              <a:blip r:embed="rId2"/>
              <a:stretch>
                <a:fillRect l="0" t="0" r="0" b="0"/>
              </a:stretch>
            </a:blipFill>
          </p:spPr>
        </p:sp>
      </p:grpSp>
      <p:grpSp>
        <p:nvGrpSpPr>
          <p:cNvPr name="Group 7" id="7"/>
          <p:cNvGrpSpPr/>
          <p:nvPr/>
        </p:nvGrpSpPr>
        <p:grpSpPr>
          <a:xfrm rot="0">
            <a:off x="225104" y="2137562"/>
            <a:ext cx="10334625" cy="6038850"/>
            <a:chOff x="0" y="0"/>
            <a:chExt cx="13779500" cy="8051800"/>
          </a:xfrm>
        </p:grpSpPr>
        <p:sp>
          <p:nvSpPr>
            <p:cNvPr name="Freeform 8" id="8"/>
            <p:cNvSpPr/>
            <p:nvPr/>
          </p:nvSpPr>
          <p:spPr>
            <a:xfrm flipH="false" flipV="false" rot="0">
              <a:off x="0" y="0"/>
              <a:ext cx="13779500" cy="8051800"/>
            </a:xfrm>
            <a:custGeom>
              <a:avLst/>
              <a:gdLst/>
              <a:ahLst/>
              <a:cxnLst/>
              <a:rect r="r" b="b" t="t" l="l"/>
              <a:pathLst>
                <a:path h="8051800" w="13779500">
                  <a:moveTo>
                    <a:pt x="0" y="0"/>
                  </a:moveTo>
                  <a:lnTo>
                    <a:pt x="13779500" y="0"/>
                  </a:lnTo>
                  <a:lnTo>
                    <a:pt x="13779500" y="8051800"/>
                  </a:lnTo>
                  <a:lnTo>
                    <a:pt x="0" y="8051800"/>
                  </a:lnTo>
                  <a:lnTo>
                    <a:pt x="0" y="0"/>
                  </a:lnTo>
                  <a:close/>
                </a:path>
              </a:pathLst>
            </a:custGeom>
            <a:blipFill>
              <a:blip r:embed="rId3"/>
              <a:stretch>
                <a:fillRect l="-1099" t="-4100" r="-3324" b="-10252"/>
              </a:stretch>
            </a:blipFill>
          </p:spPr>
        </p:sp>
      </p:grpSp>
      <p:grpSp>
        <p:nvGrpSpPr>
          <p:cNvPr name="Group 9" id="9"/>
          <p:cNvGrpSpPr/>
          <p:nvPr/>
        </p:nvGrpSpPr>
        <p:grpSpPr>
          <a:xfrm rot="0">
            <a:off x="10941910" y="5603615"/>
            <a:ext cx="85192" cy="85192"/>
            <a:chOff x="0" y="0"/>
            <a:chExt cx="85192" cy="85192"/>
          </a:xfrm>
        </p:grpSpPr>
        <p:sp>
          <p:nvSpPr>
            <p:cNvPr name="Freeform 10" id="10"/>
            <p:cNvSpPr/>
            <p:nvPr/>
          </p:nvSpPr>
          <p:spPr>
            <a:xfrm flipH="false" flipV="false" rot="0">
              <a:off x="0" y="0"/>
              <a:ext cx="85215" cy="85215"/>
            </a:xfrm>
            <a:custGeom>
              <a:avLst/>
              <a:gdLst/>
              <a:ahLst/>
              <a:cxnLst/>
              <a:rect r="r" b="b" t="t" l="l"/>
              <a:pathLst>
                <a:path h="85215" w="85215">
                  <a:moveTo>
                    <a:pt x="85215" y="42544"/>
                  </a:moveTo>
                  <a:cubicBezTo>
                    <a:pt x="85215" y="48132"/>
                    <a:pt x="84072" y="53593"/>
                    <a:pt x="81913" y="58800"/>
                  </a:cubicBezTo>
                  <a:cubicBezTo>
                    <a:pt x="79754" y="64007"/>
                    <a:pt x="76707" y="68579"/>
                    <a:pt x="72643" y="72643"/>
                  </a:cubicBezTo>
                  <a:cubicBezTo>
                    <a:pt x="68579" y="76707"/>
                    <a:pt x="64007" y="79754"/>
                    <a:pt x="58800" y="81913"/>
                  </a:cubicBezTo>
                  <a:cubicBezTo>
                    <a:pt x="53593" y="84072"/>
                    <a:pt x="48132" y="85215"/>
                    <a:pt x="42544" y="85215"/>
                  </a:cubicBezTo>
                  <a:cubicBezTo>
                    <a:pt x="36956" y="85215"/>
                    <a:pt x="31495" y="84072"/>
                    <a:pt x="26288" y="81913"/>
                  </a:cubicBezTo>
                  <a:cubicBezTo>
                    <a:pt x="21082" y="79754"/>
                    <a:pt x="16510" y="76707"/>
                    <a:pt x="12446" y="72770"/>
                  </a:cubicBezTo>
                  <a:cubicBezTo>
                    <a:pt x="8382" y="68833"/>
                    <a:pt x="5461" y="64134"/>
                    <a:pt x="3302" y="58927"/>
                  </a:cubicBezTo>
                  <a:cubicBezTo>
                    <a:pt x="1143" y="53720"/>
                    <a:pt x="0" y="48259"/>
                    <a:pt x="0" y="42544"/>
                  </a:cubicBezTo>
                  <a:cubicBezTo>
                    <a:pt x="0" y="36829"/>
                    <a:pt x="1143" y="31495"/>
                    <a:pt x="3302" y="26288"/>
                  </a:cubicBezTo>
                  <a:cubicBezTo>
                    <a:pt x="5461" y="21082"/>
                    <a:pt x="8509" y="16510"/>
                    <a:pt x="12446" y="12446"/>
                  </a:cubicBezTo>
                  <a:cubicBezTo>
                    <a:pt x="16383" y="8382"/>
                    <a:pt x="21082" y="5461"/>
                    <a:pt x="26288" y="3302"/>
                  </a:cubicBezTo>
                  <a:cubicBezTo>
                    <a:pt x="31495" y="1143"/>
                    <a:pt x="36956" y="0"/>
                    <a:pt x="42544" y="0"/>
                  </a:cubicBezTo>
                  <a:cubicBezTo>
                    <a:pt x="48132" y="0"/>
                    <a:pt x="53593" y="1143"/>
                    <a:pt x="58800" y="3302"/>
                  </a:cubicBezTo>
                  <a:cubicBezTo>
                    <a:pt x="64007" y="5461"/>
                    <a:pt x="68579" y="8509"/>
                    <a:pt x="72643" y="12573"/>
                  </a:cubicBezTo>
                  <a:cubicBezTo>
                    <a:pt x="76707" y="16637"/>
                    <a:pt x="79754" y="21209"/>
                    <a:pt x="81913" y="26415"/>
                  </a:cubicBezTo>
                  <a:cubicBezTo>
                    <a:pt x="84072" y="31622"/>
                    <a:pt x="85215" y="37083"/>
                    <a:pt x="85215" y="42671"/>
                  </a:cubicBezTo>
                  <a:close/>
                </a:path>
              </a:pathLst>
            </a:custGeom>
            <a:solidFill>
              <a:srgbClr val="000000"/>
            </a:solidFill>
          </p:spPr>
        </p:sp>
      </p:grpSp>
      <p:grpSp>
        <p:nvGrpSpPr>
          <p:cNvPr name="Group 11" id="11"/>
          <p:cNvGrpSpPr/>
          <p:nvPr/>
        </p:nvGrpSpPr>
        <p:grpSpPr>
          <a:xfrm rot="0">
            <a:off x="10941910" y="6017409"/>
            <a:ext cx="85192" cy="85192"/>
            <a:chOff x="0" y="0"/>
            <a:chExt cx="85192" cy="85192"/>
          </a:xfrm>
        </p:grpSpPr>
        <p:sp>
          <p:nvSpPr>
            <p:cNvPr name="Freeform 12" id="12"/>
            <p:cNvSpPr/>
            <p:nvPr/>
          </p:nvSpPr>
          <p:spPr>
            <a:xfrm flipH="false" flipV="false" rot="0">
              <a:off x="0" y="0"/>
              <a:ext cx="85215" cy="85215"/>
            </a:xfrm>
            <a:custGeom>
              <a:avLst/>
              <a:gdLst/>
              <a:ahLst/>
              <a:cxnLst/>
              <a:rect r="r" b="b" t="t" l="l"/>
              <a:pathLst>
                <a:path h="85215" w="85215">
                  <a:moveTo>
                    <a:pt x="85215" y="42544"/>
                  </a:moveTo>
                  <a:cubicBezTo>
                    <a:pt x="85215" y="48132"/>
                    <a:pt x="84072" y="53593"/>
                    <a:pt x="81913" y="58800"/>
                  </a:cubicBezTo>
                  <a:cubicBezTo>
                    <a:pt x="79754" y="64007"/>
                    <a:pt x="76707" y="68579"/>
                    <a:pt x="72643" y="72643"/>
                  </a:cubicBezTo>
                  <a:cubicBezTo>
                    <a:pt x="68579" y="76707"/>
                    <a:pt x="64007" y="79754"/>
                    <a:pt x="58800" y="81913"/>
                  </a:cubicBezTo>
                  <a:cubicBezTo>
                    <a:pt x="53593" y="84072"/>
                    <a:pt x="48132" y="85215"/>
                    <a:pt x="42544" y="85215"/>
                  </a:cubicBezTo>
                  <a:cubicBezTo>
                    <a:pt x="36956" y="85215"/>
                    <a:pt x="31495" y="84072"/>
                    <a:pt x="26288" y="81913"/>
                  </a:cubicBezTo>
                  <a:cubicBezTo>
                    <a:pt x="21082" y="79754"/>
                    <a:pt x="16510" y="76707"/>
                    <a:pt x="12446" y="72770"/>
                  </a:cubicBezTo>
                  <a:cubicBezTo>
                    <a:pt x="8382" y="68833"/>
                    <a:pt x="5461" y="64134"/>
                    <a:pt x="3302" y="58927"/>
                  </a:cubicBezTo>
                  <a:cubicBezTo>
                    <a:pt x="1143" y="53720"/>
                    <a:pt x="0" y="48259"/>
                    <a:pt x="0" y="42544"/>
                  </a:cubicBezTo>
                  <a:cubicBezTo>
                    <a:pt x="0" y="36829"/>
                    <a:pt x="1143" y="31495"/>
                    <a:pt x="3302" y="26288"/>
                  </a:cubicBezTo>
                  <a:cubicBezTo>
                    <a:pt x="5461" y="21082"/>
                    <a:pt x="8509" y="16510"/>
                    <a:pt x="12446" y="12446"/>
                  </a:cubicBezTo>
                  <a:cubicBezTo>
                    <a:pt x="16383" y="8382"/>
                    <a:pt x="21082" y="5461"/>
                    <a:pt x="26288" y="3302"/>
                  </a:cubicBezTo>
                  <a:cubicBezTo>
                    <a:pt x="31495" y="1143"/>
                    <a:pt x="36956" y="0"/>
                    <a:pt x="42544" y="0"/>
                  </a:cubicBezTo>
                  <a:cubicBezTo>
                    <a:pt x="48132" y="0"/>
                    <a:pt x="53593" y="1143"/>
                    <a:pt x="58800" y="3302"/>
                  </a:cubicBezTo>
                  <a:cubicBezTo>
                    <a:pt x="64007" y="5461"/>
                    <a:pt x="68579" y="8509"/>
                    <a:pt x="72643" y="12573"/>
                  </a:cubicBezTo>
                  <a:cubicBezTo>
                    <a:pt x="76707" y="16637"/>
                    <a:pt x="79754" y="21209"/>
                    <a:pt x="81913" y="26415"/>
                  </a:cubicBezTo>
                  <a:cubicBezTo>
                    <a:pt x="84072" y="31622"/>
                    <a:pt x="85215" y="37083"/>
                    <a:pt x="85215" y="42671"/>
                  </a:cubicBezTo>
                  <a:close/>
                </a:path>
              </a:pathLst>
            </a:custGeom>
            <a:solidFill>
              <a:srgbClr val="000000"/>
            </a:solidFill>
          </p:spPr>
        </p:sp>
      </p:grpSp>
      <p:grpSp>
        <p:nvGrpSpPr>
          <p:cNvPr name="Group 13" id="13"/>
          <p:cNvGrpSpPr/>
          <p:nvPr/>
        </p:nvGrpSpPr>
        <p:grpSpPr>
          <a:xfrm rot="0">
            <a:off x="10941910" y="6431204"/>
            <a:ext cx="85192" cy="85192"/>
            <a:chOff x="0" y="0"/>
            <a:chExt cx="85192" cy="85192"/>
          </a:xfrm>
        </p:grpSpPr>
        <p:sp>
          <p:nvSpPr>
            <p:cNvPr name="Freeform 14" id="14"/>
            <p:cNvSpPr/>
            <p:nvPr/>
          </p:nvSpPr>
          <p:spPr>
            <a:xfrm flipH="false" flipV="false" rot="0">
              <a:off x="0" y="0"/>
              <a:ext cx="85215" cy="85215"/>
            </a:xfrm>
            <a:custGeom>
              <a:avLst/>
              <a:gdLst/>
              <a:ahLst/>
              <a:cxnLst/>
              <a:rect r="r" b="b" t="t" l="l"/>
              <a:pathLst>
                <a:path h="85215" w="85215">
                  <a:moveTo>
                    <a:pt x="85215" y="42544"/>
                  </a:moveTo>
                  <a:cubicBezTo>
                    <a:pt x="85215" y="48132"/>
                    <a:pt x="84072" y="53593"/>
                    <a:pt x="81913" y="58800"/>
                  </a:cubicBezTo>
                  <a:cubicBezTo>
                    <a:pt x="79754" y="64007"/>
                    <a:pt x="76707" y="68579"/>
                    <a:pt x="72643" y="72643"/>
                  </a:cubicBezTo>
                  <a:cubicBezTo>
                    <a:pt x="68579" y="76707"/>
                    <a:pt x="64007" y="79754"/>
                    <a:pt x="58800" y="81913"/>
                  </a:cubicBezTo>
                  <a:cubicBezTo>
                    <a:pt x="53593" y="84072"/>
                    <a:pt x="48132" y="85215"/>
                    <a:pt x="42544" y="85215"/>
                  </a:cubicBezTo>
                  <a:cubicBezTo>
                    <a:pt x="36956" y="85215"/>
                    <a:pt x="31495" y="84072"/>
                    <a:pt x="26288" y="81913"/>
                  </a:cubicBezTo>
                  <a:cubicBezTo>
                    <a:pt x="21082" y="79754"/>
                    <a:pt x="16510" y="76707"/>
                    <a:pt x="12446" y="72770"/>
                  </a:cubicBezTo>
                  <a:cubicBezTo>
                    <a:pt x="8382" y="68833"/>
                    <a:pt x="5461" y="64134"/>
                    <a:pt x="3302" y="58927"/>
                  </a:cubicBezTo>
                  <a:cubicBezTo>
                    <a:pt x="1143" y="53720"/>
                    <a:pt x="0" y="48259"/>
                    <a:pt x="0" y="42544"/>
                  </a:cubicBezTo>
                  <a:cubicBezTo>
                    <a:pt x="0" y="36829"/>
                    <a:pt x="1143" y="31495"/>
                    <a:pt x="3302" y="26288"/>
                  </a:cubicBezTo>
                  <a:cubicBezTo>
                    <a:pt x="5461" y="21082"/>
                    <a:pt x="8509" y="16510"/>
                    <a:pt x="12446" y="12446"/>
                  </a:cubicBezTo>
                  <a:cubicBezTo>
                    <a:pt x="16383" y="8382"/>
                    <a:pt x="21082" y="5461"/>
                    <a:pt x="26288" y="3302"/>
                  </a:cubicBezTo>
                  <a:cubicBezTo>
                    <a:pt x="31495" y="1143"/>
                    <a:pt x="36956" y="0"/>
                    <a:pt x="42544" y="0"/>
                  </a:cubicBezTo>
                  <a:cubicBezTo>
                    <a:pt x="48132" y="0"/>
                    <a:pt x="53593" y="1143"/>
                    <a:pt x="58800" y="3302"/>
                  </a:cubicBezTo>
                  <a:cubicBezTo>
                    <a:pt x="64007" y="5461"/>
                    <a:pt x="68579" y="8509"/>
                    <a:pt x="72643" y="12573"/>
                  </a:cubicBezTo>
                  <a:cubicBezTo>
                    <a:pt x="76707" y="16637"/>
                    <a:pt x="79754" y="21209"/>
                    <a:pt x="81913" y="26415"/>
                  </a:cubicBezTo>
                  <a:cubicBezTo>
                    <a:pt x="84072" y="31622"/>
                    <a:pt x="85215" y="37083"/>
                    <a:pt x="85215" y="42671"/>
                  </a:cubicBezTo>
                  <a:close/>
                </a:path>
              </a:pathLst>
            </a:custGeom>
            <a:solidFill>
              <a:srgbClr val="000000"/>
            </a:solidFill>
          </p:spPr>
        </p:sp>
      </p:grpSp>
      <p:grpSp>
        <p:nvGrpSpPr>
          <p:cNvPr name="Group 15" id="15"/>
          <p:cNvGrpSpPr/>
          <p:nvPr/>
        </p:nvGrpSpPr>
        <p:grpSpPr>
          <a:xfrm rot="0">
            <a:off x="10941910" y="6844998"/>
            <a:ext cx="85192" cy="85192"/>
            <a:chOff x="0" y="0"/>
            <a:chExt cx="85192" cy="85192"/>
          </a:xfrm>
        </p:grpSpPr>
        <p:sp>
          <p:nvSpPr>
            <p:cNvPr name="Freeform 16" id="16"/>
            <p:cNvSpPr/>
            <p:nvPr/>
          </p:nvSpPr>
          <p:spPr>
            <a:xfrm flipH="false" flipV="false" rot="0">
              <a:off x="0" y="0"/>
              <a:ext cx="85215" cy="85215"/>
            </a:xfrm>
            <a:custGeom>
              <a:avLst/>
              <a:gdLst/>
              <a:ahLst/>
              <a:cxnLst/>
              <a:rect r="r" b="b" t="t" l="l"/>
              <a:pathLst>
                <a:path h="85215" w="85215">
                  <a:moveTo>
                    <a:pt x="85215" y="42544"/>
                  </a:moveTo>
                  <a:cubicBezTo>
                    <a:pt x="85215" y="48132"/>
                    <a:pt x="84072" y="53593"/>
                    <a:pt x="81913" y="58800"/>
                  </a:cubicBezTo>
                  <a:cubicBezTo>
                    <a:pt x="79754" y="64007"/>
                    <a:pt x="76707" y="68579"/>
                    <a:pt x="72643" y="72643"/>
                  </a:cubicBezTo>
                  <a:cubicBezTo>
                    <a:pt x="68579" y="76707"/>
                    <a:pt x="64007" y="79754"/>
                    <a:pt x="58800" y="81913"/>
                  </a:cubicBezTo>
                  <a:cubicBezTo>
                    <a:pt x="53593" y="84072"/>
                    <a:pt x="48132" y="85215"/>
                    <a:pt x="42544" y="85215"/>
                  </a:cubicBezTo>
                  <a:cubicBezTo>
                    <a:pt x="36956" y="85215"/>
                    <a:pt x="31495" y="84072"/>
                    <a:pt x="26288" y="81913"/>
                  </a:cubicBezTo>
                  <a:cubicBezTo>
                    <a:pt x="21082" y="79754"/>
                    <a:pt x="16510" y="76707"/>
                    <a:pt x="12446" y="72770"/>
                  </a:cubicBezTo>
                  <a:cubicBezTo>
                    <a:pt x="8382" y="68833"/>
                    <a:pt x="5461" y="64134"/>
                    <a:pt x="3302" y="58927"/>
                  </a:cubicBezTo>
                  <a:cubicBezTo>
                    <a:pt x="1143" y="53720"/>
                    <a:pt x="0" y="48259"/>
                    <a:pt x="0" y="42544"/>
                  </a:cubicBezTo>
                  <a:cubicBezTo>
                    <a:pt x="0" y="36829"/>
                    <a:pt x="1143" y="31495"/>
                    <a:pt x="3302" y="26288"/>
                  </a:cubicBezTo>
                  <a:cubicBezTo>
                    <a:pt x="5461" y="21082"/>
                    <a:pt x="8509" y="16510"/>
                    <a:pt x="12446" y="12446"/>
                  </a:cubicBezTo>
                  <a:cubicBezTo>
                    <a:pt x="16383" y="8382"/>
                    <a:pt x="21082" y="5461"/>
                    <a:pt x="26288" y="3302"/>
                  </a:cubicBezTo>
                  <a:cubicBezTo>
                    <a:pt x="31495" y="1143"/>
                    <a:pt x="36956" y="0"/>
                    <a:pt x="42544" y="0"/>
                  </a:cubicBezTo>
                  <a:cubicBezTo>
                    <a:pt x="48132" y="0"/>
                    <a:pt x="53593" y="1143"/>
                    <a:pt x="58800" y="3302"/>
                  </a:cubicBezTo>
                  <a:cubicBezTo>
                    <a:pt x="64007" y="5461"/>
                    <a:pt x="68579" y="8509"/>
                    <a:pt x="72643" y="12573"/>
                  </a:cubicBezTo>
                  <a:cubicBezTo>
                    <a:pt x="76707" y="16637"/>
                    <a:pt x="79754" y="21209"/>
                    <a:pt x="81913" y="26415"/>
                  </a:cubicBezTo>
                  <a:cubicBezTo>
                    <a:pt x="84072" y="31622"/>
                    <a:pt x="85215" y="37083"/>
                    <a:pt x="85215" y="42671"/>
                  </a:cubicBezTo>
                  <a:close/>
                </a:path>
              </a:pathLst>
            </a:custGeom>
            <a:solidFill>
              <a:srgbClr val="000000"/>
            </a:solidFill>
          </p:spPr>
        </p:sp>
      </p:grpSp>
      <p:grpSp>
        <p:nvGrpSpPr>
          <p:cNvPr name="Group 17" id="17"/>
          <p:cNvGrpSpPr/>
          <p:nvPr/>
        </p:nvGrpSpPr>
        <p:grpSpPr>
          <a:xfrm rot="0">
            <a:off x="17050579" y="9535497"/>
            <a:ext cx="425787" cy="151581"/>
            <a:chOff x="0" y="0"/>
            <a:chExt cx="425780" cy="151575"/>
          </a:xfrm>
        </p:grpSpPr>
        <p:sp>
          <p:nvSpPr>
            <p:cNvPr name="Freeform 18" id="18"/>
            <p:cNvSpPr/>
            <p:nvPr/>
          </p:nvSpPr>
          <p:spPr>
            <a:xfrm flipH="false" flipV="false" rot="0">
              <a:off x="0" y="0"/>
              <a:ext cx="425828" cy="151632"/>
            </a:xfrm>
            <a:custGeom>
              <a:avLst/>
              <a:gdLst/>
              <a:ahLst/>
              <a:cxnLst/>
              <a:rect r="r" b="b" t="t" l="l"/>
              <a:pathLst>
                <a:path h="151632" w="425828">
                  <a:moveTo>
                    <a:pt x="0" y="151632"/>
                  </a:moveTo>
                  <a:lnTo>
                    <a:pt x="425828" y="151632"/>
                  </a:lnTo>
                  <a:lnTo>
                    <a:pt x="425828" y="0"/>
                  </a:lnTo>
                  <a:lnTo>
                    <a:pt x="0" y="0"/>
                  </a:lnTo>
                  <a:close/>
                </a:path>
              </a:pathLst>
            </a:custGeom>
            <a:solidFill>
              <a:srgbClr val="000000">
                <a:alpha val="0"/>
              </a:srgbClr>
            </a:solidFill>
          </p:spPr>
        </p:sp>
      </p:grpSp>
      <p:sp>
        <p:nvSpPr>
          <p:cNvPr name="TextBox 19" id="19"/>
          <p:cNvSpPr txBox="true"/>
          <p:nvPr/>
        </p:nvSpPr>
        <p:spPr>
          <a:xfrm rot="0">
            <a:off x="10732627" y="1214876"/>
            <a:ext cx="7527141" cy="4135907"/>
          </a:xfrm>
          <a:prstGeom prst="rect">
            <a:avLst/>
          </a:prstGeom>
        </p:spPr>
        <p:txBody>
          <a:bodyPr anchor="t" rtlCol="false" tIns="0" lIns="0" bIns="0" rIns="0">
            <a:spAutoFit/>
          </a:bodyPr>
          <a:lstStyle/>
          <a:p>
            <a:pPr algn="l">
              <a:lnSpc>
                <a:spcPts val="9519"/>
              </a:lnSpc>
            </a:pPr>
            <a:r>
              <a:rPr lang="en-US" b="true" sz="5972">
                <a:solidFill>
                  <a:srgbClr val="603838"/>
                </a:solidFill>
                <a:latin typeface="Red Hat Display Bold"/>
                <a:ea typeface="Red Hat Display Bold"/>
                <a:cs typeface="Red Hat Display Bold"/>
                <a:sym typeface="Red Hat Display Bold"/>
              </a:rPr>
              <a:t>Production:</a:t>
            </a:r>
          </a:p>
          <a:p>
            <a:pPr algn="l">
              <a:lnSpc>
                <a:spcPts val="9519"/>
              </a:lnSpc>
            </a:pPr>
            <a:r>
              <a:rPr lang="en-US" b="true" sz="5972">
                <a:solidFill>
                  <a:srgbClr val="603838"/>
                </a:solidFill>
                <a:latin typeface="Red Hat Display Bold"/>
                <a:ea typeface="Red Hat Display Bold"/>
                <a:cs typeface="Red Hat Display Bold"/>
                <a:sym typeface="Red Hat Display Bold"/>
              </a:rPr>
              <a:t>Global Footprint</a:t>
            </a:r>
          </a:p>
          <a:p>
            <a:pPr algn="l">
              <a:lnSpc>
                <a:spcPts val="3258"/>
              </a:lnSpc>
            </a:pPr>
            <a:r>
              <a:rPr lang="en-US" b="true" sz="2044">
                <a:solidFill>
                  <a:srgbClr val="000000"/>
                </a:solidFill>
                <a:latin typeface="Red Hat Display Bold"/>
                <a:ea typeface="Red Hat Display Bold"/>
                <a:cs typeface="Red Hat Display Bold"/>
                <a:sym typeface="Red Hat Display Bold"/>
              </a:rPr>
              <a:t>Resilient &amp; Global Dabur</a:t>
            </a:r>
          </a:p>
          <a:p>
            <a:pPr algn="l">
              <a:lnSpc>
                <a:spcPts val="3258"/>
              </a:lnSpc>
            </a:pPr>
            <a:r>
              <a:rPr lang="en-US" b="true" sz="2044">
                <a:solidFill>
                  <a:srgbClr val="000000"/>
                </a:solidFill>
                <a:latin typeface="Red Hat Display Bold"/>
                <a:ea typeface="Red Hat Display Bold"/>
                <a:cs typeface="Red Hat Display Bold"/>
                <a:sym typeface="Red Hat Display Bold"/>
              </a:rPr>
              <a:t> operates a highly diversified manufacturing network across 9 countries, ensuring its products reach consumers in over 120 countries.</a:t>
            </a:r>
          </a:p>
        </p:txBody>
      </p:sp>
      <p:sp>
        <p:nvSpPr>
          <p:cNvPr name="TextBox 20" id="20"/>
          <p:cNvSpPr txBox="true"/>
          <p:nvPr/>
        </p:nvSpPr>
        <p:spPr>
          <a:xfrm rot="0">
            <a:off x="11200714" y="5391893"/>
            <a:ext cx="5498659" cy="1637081"/>
          </a:xfrm>
          <a:prstGeom prst="rect">
            <a:avLst/>
          </a:prstGeom>
        </p:spPr>
        <p:txBody>
          <a:bodyPr anchor="t" rtlCol="false" tIns="0" lIns="0" bIns="0" rIns="0">
            <a:spAutoFit/>
          </a:bodyPr>
          <a:lstStyle/>
          <a:p>
            <a:pPr algn="l">
              <a:lnSpc>
                <a:spcPts val="3258"/>
              </a:lnSpc>
            </a:pPr>
            <a:r>
              <a:rPr lang="en-US" b="true" sz="2044">
                <a:solidFill>
                  <a:srgbClr val="000000"/>
                </a:solidFill>
                <a:latin typeface="Red Hat Display Bold"/>
                <a:ea typeface="Red Hat Display Bold"/>
                <a:cs typeface="Red Hat Display Bold"/>
                <a:sym typeface="Red Hat Display Bold"/>
              </a:rPr>
              <a:t> 13 state-of-the-art plants in India. </a:t>
            </a:r>
          </a:p>
          <a:p>
            <a:pPr algn="l">
              <a:lnSpc>
                <a:spcPts val="3258"/>
              </a:lnSpc>
            </a:pPr>
            <a:r>
              <a:rPr lang="en-US" b="true" sz="2044">
                <a:solidFill>
                  <a:srgbClr val="000000"/>
                </a:solidFill>
                <a:latin typeface="Red Hat Display Bold"/>
                <a:ea typeface="Red Hat Display Bold"/>
                <a:cs typeface="Red Hat Display Bold"/>
                <a:sym typeface="Red Hat Display Bold"/>
              </a:rPr>
              <a:t>8 overseas manufacturing locations. </a:t>
            </a:r>
          </a:p>
          <a:p>
            <a:pPr algn="l">
              <a:lnSpc>
                <a:spcPts val="3258"/>
              </a:lnSpc>
            </a:pPr>
            <a:r>
              <a:rPr lang="en-US" b="true" sz="2044">
                <a:solidFill>
                  <a:srgbClr val="000000"/>
                </a:solidFill>
                <a:latin typeface="Red Hat Display Bold"/>
                <a:ea typeface="Red Hat Display Bold"/>
                <a:cs typeface="Red Hat Display Bold"/>
                <a:sym typeface="Red Hat Display Bold"/>
              </a:rPr>
              <a:t>8,082 cr revenue from domestic market. 2,806 cr revenue from international market.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AE8850"/>
        </a:solidFill>
      </p:bgPr>
    </p:bg>
    <p:spTree>
      <p:nvGrpSpPr>
        <p:cNvPr id="1" name=""/>
        <p:cNvGrpSpPr/>
        <p:nvPr/>
      </p:nvGrpSpPr>
      <p:grpSpPr>
        <a:xfrm>
          <a:off x="0" y="0"/>
          <a:ext cx="0" cy="0"/>
          <a:chOff x="0" y="0"/>
          <a:chExt cx="0" cy="0"/>
        </a:xfrm>
      </p:grpSpPr>
      <p:grpSp>
        <p:nvGrpSpPr>
          <p:cNvPr name="Group 2" id="2"/>
          <p:cNvGrpSpPr/>
          <p:nvPr/>
        </p:nvGrpSpPr>
        <p:grpSpPr>
          <a:xfrm rot="0">
            <a:off x="9110758" y="-63503"/>
            <a:ext cx="9240745" cy="10413997"/>
            <a:chOff x="0" y="0"/>
            <a:chExt cx="9240749" cy="10414000"/>
          </a:xfrm>
        </p:grpSpPr>
        <p:sp>
          <p:nvSpPr>
            <p:cNvPr name="Freeform 3" id="3"/>
            <p:cNvSpPr/>
            <p:nvPr/>
          </p:nvSpPr>
          <p:spPr>
            <a:xfrm flipH="false" flipV="false" rot="0">
              <a:off x="7939790" y="9663430"/>
              <a:ext cx="337440" cy="22733"/>
            </a:xfrm>
            <a:custGeom>
              <a:avLst/>
              <a:gdLst/>
              <a:ahLst/>
              <a:cxnLst/>
              <a:rect r="r" b="b" t="t" l="l"/>
              <a:pathLst>
                <a:path h="22733" w="337440">
                  <a:moveTo>
                    <a:pt x="0" y="0"/>
                  </a:moveTo>
                  <a:lnTo>
                    <a:pt x="0" y="22733"/>
                  </a:lnTo>
                  <a:lnTo>
                    <a:pt x="337440" y="22733"/>
                  </a:lnTo>
                  <a:lnTo>
                    <a:pt x="337440" y="0"/>
                  </a:lnTo>
                  <a:close/>
                </a:path>
              </a:pathLst>
            </a:custGeom>
            <a:solidFill>
              <a:srgbClr val="000000"/>
            </a:solidFill>
          </p:spPr>
        </p:sp>
        <p:sp>
          <p:nvSpPr>
            <p:cNvPr name="Freeform 4" id="4"/>
            <p:cNvSpPr/>
            <p:nvPr/>
          </p:nvSpPr>
          <p:spPr>
            <a:xfrm flipH="false" flipV="false" rot="0">
              <a:off x="8253861" y="9599422"/>
              <a:ext cx="111760" cy="150876"/>
            </a:xfrm>
            <a:custGeom>
              <a:avLst/>
              <a:gdLst/>
              <a:ahLst/>
              <a:cxnLst/>
              <a:rect r="r" b="b" t="t" l="l"/>
              <a:pathLst>
                <a:path h="150876" w="111760">
                  <a:moveTo>
                    <a:pt x="0" y="0"/>
                  </a:moveTo>
                  <a:lnTo>
                    <a:pt x="0" y="150876"/>
                  </a:lnTo>
                  <a:lnTo>
                    <a:pt x="111760" y="75565"/>
                  </a:lnTo>
                  <a:lnTo>
                    <a:pt x="111760" y="75438"/>
                  </a:lnTo>
                  <a:lnTo>
                    <a:pt x="0" y="127"/>
                  </a:lnTo>
                  <a:close/>
                </a:path>
              </a:pathLst>
            </a:custGeom>
            <a:solidFill>
              <a:srgbClr val="000000"/>
            </a:solidFill>
          </p:spPr>
        </p:sp>
        <p:sp>
          <p:nvSpPr>
            <p:cNvPr name="Freeform 5" id="5"/>
            <p:cNvSpPr/>
            <p:nvPr/>
          </p:nvSpPr>
          <p:spPr>
            <a:xfrm flipH="false" flipV="false" rot="0">
              <a:off x="63500" y="63500"/>
              <a:ext cx="9113779" cy="10287000"/>
            </a:xfrm>
            <a:custGeom>
              <a:avLst/>
              <a:gdLst/>
              <a:ahLst/>
              <a:cxnLst/>
              <a:rect r="r" b="b" t="t" l="l"/>
              <a:pathLst>
                <a:path h="10287000" w="9113779">
                  <a:moveTo>
                    <a:pt x="0" y="0"/>
                  </a:moveTo>
                  <a:lnTo>
                    <a:pt x="0" y="10287000"/>
                  </a:lnTo>
                  <a:lnTo>
                    <a:pt x="9113779" y="10287000"/>
                  </a:lnTo>
                  <a:lnTo>
                    <a:pt x="9113779" y="0"/>
                  </a:lnTo>
                  <a:close/>
                </a:path>
              </a:pathLst>
            </a:custGeom>
            <a:solidFill>
              <a:srgbClr val="E1D6C6"/>
            </a:solidFill>
          </p:spPr>
        </p:sp>
      </p:grpSp>
      <p:grpSp>
        <p:nvGrpSpPr>
          <p:cNvPr name="Group 6" id="6"/>
          <p:cNvGrpSpPr/>
          <p:nvPr/>
        </p:nvGrpSpPr>
        <p:grpSpPr>
          <a:xfrm rot="0">
            <a:off x="160934" y="564232"/>
            <a:ext cx="17964150" cy="8972550"/>
            <a:chOff x="0" y="0"/>
            <a:chExt cx="23952200" cy="11963400"/>
          </a:xfrm>
        </p:grpSpPr>
        <p:sp>
          <p:nvSpPr>
            <p:cNvPr name="Freeform 7" id="7"/>
            <p:cNvSpPr/>
            <p:nvPr/>
          </p:nvSpPr>
          <p:spPr>
            <a:xfrm flipH="false" flipV="false" rot="0">
              <a:off x="0" y="0"/>
              <a:ext cx="23952200" cy="11963400"/>
            </a:xfrm>
            <a:custGeom>
              <a:avLst/>
              <a:gdLst/>
              <a:ahLst/>
              <a:cxnLst/>
              <a:rect r="r" b="b" t="t" l="l"/>
              <a:pathLst>
                <a:path h="11963400" w="23952200">
                  <a:moveTo>
                    <a:pt x="0" y="0"/>
                  </a:moveTo>
                  <a:lnTo>
                    <a:pt x="23952200" y="0"/>
                  </a:lnTo>
                  <a:lnTo>
                    <a:pt x="23952200" y="11963400"/>
                  </a:lnTo>
                  <a:lnTo>
                    <a:pt x="0" y="11963400"/>
                  </a:lnTo>
                  <a:lnTo>
                    <a:pt x="0" y="0"/>
                  </a:lnTo>
                  <a:close/>
                </a:path>
              </a:pathLst>
            </a:custGeom>
            <a:blipFill>
              <a:blip r:embed="rId2"/>
              <a:stretch>
                <a:fillRect l="0" t="-1184" r="-3658" b="-4123"/>
              </a:stretch>
            </a:blipFill>
          </p:spPr>
        </p:sp>
      </p:grpSp>
      <p:grpSp>
        <p:nvGrpSpPr>
          <p:cNvPr name="Group 8" id="8"/>
          <p:cNvGrpSpPr/>
          <p:nvPr/>
        </p:nvGrpSpPr>
        <p:grpSpPr>
          <a:xfrm rot="0">
            <a:off x="9110758" y="-63503"/>
            <a:ext cx="9240745" cy="10413997"/>
            <a:chOff x="0" y="0"/>
            <a:chExt cx="9240749" cy="10414000"/>
          </a:xfrm>
        </p:grpSpPr>
        <p:sp>
          <p:nvSpPr>
            <p:cNvPr name="Freeform 9" id="9"/>
            <p:cNvSpPr/>
            <p:nvPr/>
          </p:nvSpPr>
          <p:spPr>
            <a:xfrm flipH="false" flipV="false" rot="0">
              <a:off x="63500" y="63500"/>
              <a:ext cx="9113779" cy="10287000"/>
            </a:xfrm>
            <a:custGeom>
              <a:avLst/>
              <a:gdLst/>
              <a:ahLst/>
              <a:cxnLst/>
              <a:rect r="r" b="b" t="t" l="l"/>
              <a:pathLst>
                <a:path h="10287000" w="9113779">
                  <a:moveTo>
                    <a:pt x="0" y="10287000"/>
                  </a:moveTo>
                  <a:lnTo>
                    <a:pt x="9113779" y="10287000"/>
                  </a:lnTo>
                  <a:lnTo>
                    <a:pt x="9113779" y="0"/>
                  </a:lnTo>
                  <a:lnTo>
                    <a:pt x="0" y="0"/>
                  </a:lnTo>
                  <a:close/>
                </a:path>
              </a:pathLst>
            </a:custGeom>
            <a:solidFill>
              <a:srgbClr val="000000">
                <a:alpha val="0"/>
              </a:srgbClr>
            </a:solidFill>
          </p:spPr>
        </p:sp>
        <p:sp>
          <p:nvSpPr>
            <p:cNvPr name="Freeform 10" id="10"/>
            <p:cNvSpPr/>
            <p:nvPr/>
          </p:nvSpPr>
          <p:spPr>
            <a:xfrm flipH="false" flipV="false" rot="0">
              <a:off x="7939791" y="9599041"/>
              <a:ext cx="425832" cy="151511"/>
            </a:xfrm>
            <a:custGeom>
              <a:avLst/>
              <a:gdLst/>
              <a:ahLst/>
              <a:cxnLst/>
              <a:rect r="r" b="b" t="t" l="l"/>
              <a:pathLst>
                <a:path h="151511" w="425832">
                  <a:moveTo>
                    <a:pt x="0" y="151511"/>
                  </a:moveTo>
                  <a:lnTo>
                    <a:pt x="425832" y="151511"/>
                  </a:lnTo>
                  <a:lnTo>
                    <a:pt x="425832" y="0"/>
                  </a:lnTo>
                  <a:lnTo>
                    <a:pt x="0" y="0"/>
                  </a:lnTo>
                  <a:close/>
                </a:path>
              </a:pathLst>
            </a:custGeom>
            <a:solidFill>
              <a:srgbClr val="000000">
                <a:alpha val="0"/>
              </a:srgbClr>
            </a:solid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D9A85F"/>
        </a:solidFill>
      </p:bgPr>
    </p:bg>
    <p:spTree>
      <p:nvGrpSpPr>
        <p:cNvPr id="1" name=""/>
        <p:cNvGrpSpPr/>
        <p:nvPr/>
      </p:nvGrpSpPr>
      <p:grpSpPr>
        <a:xfrm>
          <a:off x="0" y="0"/>
          <a:ext cx="0" cy="0"/>
          <a:chOff x="0" y="0"/>
          <a:chExt cx="0" cy="0"/>
        </a:xfrm>
      </p:grpSpPr>
      <p:grpSp>
        <p:nvGrpSpPr>
          <p:cNvPr name="Group 2" id="2"/>
          <p:cNvGrpSpPr/>
          <p:nvPr/>
        </p:nvGrpSpPr>
        <p:grpSpPr>
          <a:xfrm rot="0">
            <a:off x="16987085" y="9472003"/>
            <a:ext cx="552726" cy="278578"/>
            <a:chOff x="0" y="0"/>
            <a:chExt cx="552729" cy="278574"/>
          </a:xfrm>
        </p:grpSpPr>
        <p:sp>
          <p:nvSpPr>
            <p:cNvPr name="Freeform 3" id="3"/>
            <p:cNvSpPr/>
            <p:nvPr/>
          </p:nvSpPr>
          <p:spPr>
            <a:xfrm flipH="false" flipV="false" rot="0">
              <a:off x="63500" y="127886"/>
              <a:ext cx="337439" cy="22733"/>
            </a:xfrm>
            <a:custGeom>
              <a:avLst/>
              <a:gdLst/>
              <a:ahLst/>
              <a:cxnLst/>
              <a:rect r="r" b="b" t="t" l="l"/>
              <a:pathLst>
                <a:path h="22733" w="337439">
                  <a:moveTo>
                    <a:pt x="0" y="0"/>
                  </a:moveTo>
                  <a:lnTo>
                    <a:pt x="0" y="22733"/>
                  </a:lnTo>
                  <a:lnTo>
                    <a:pt x="337439" y="22733"/>
                  </a:lnTo>
                  <a:lnTo>
                    <a:pt x="337439" y="0"/>
                  </a:lnTo>
                  <a:close/>
                </a:path>
              </a:pathLst>
            </a:custGeom>
            <a:solidFill>
              <a:srgbClr val="000000"/>
            </a:solidFill>
          </p:spPr>
        </p:sp>
        <p:sp>
          <p:nvSpPr>
            <p:cNvPr name="Freeform 4" id="4"/>
            <p:cNvSpPr/>
            <p:nvPr/>
          </p:nvSpPr>
          <p:spPr>
            <a:xfrm flipH="false" flipV="false" rot="0">
              <a:off x="377444" y="63880"/>
              <a:ext cx="111760" cy="150873"/>
            </a:xfrm>
            <a:custGeom>
              <a:avLst/>
              <a:gdLst/>
              <a:ahLst/>
              <a:cxnLst/>
              <a:rect r="r" b="b" t="t" l="l"/>
              <a:pathLst>
                <a:path h="150873" w="111760">
                  <a:moveTo>
                    <a:pt x="0" y="0"/>
                  </a:moveTo>
                  <a:lnTo>
                    <a:pt x="0" y="150873"/>
                  </a:lnTo>
                  <a:lnTo>
                    <a:pt x="111760" y="75563"/>
                  </a:lnTo>
                  <a:lnTo>
                    <a:pt x="111760" y="75436"/>
                  </a:lnTo>
                  <a:lnTo>
                    <a:pt x="0" y="127"/>
                  </a:lnTo>
                  <a:close/>
                </a:path>
              </a:pathLst>
            </a:custGeom>
            <a:solidFill>
              <a:srgbClr val="000000"/>
            </a:solidFill>
          </p:spPr>
        </p:sp>
      </p:grpSp>
      <p:grpSp>
        <p:nvGrpSpPr>
          <p:cNvPr name="Group 5" id="5"/>
          <p:cNvGrpSpPr/>
          <p:nvPr/>
        </p:nvGrpSpPr>
        <p:grpSpPr>
          <a:xfrm rot="0">
            <a:off x="11423580" y="2034540"/>
            <a:ext cx="6619875" cy="5953125"/>
            <a:chOff x="0" y="0"/>
            <a:chExt cx="8826500" cy="7937500"/>
          </a:xfrm>
        </p:grpSpPr>
        <p:sp>
          <p:nvSpPr>
            <p:cNvPr name="Freeform 6" id="6"/>
            <p:cNvSpPr/>
            <p:nvPr/>
          </p:nvSpPr>
          <p:spPr>
            <a:xfrm flipH="false" flipV="false" rot="0">
              <a:off x="0" y="0"/>
              <a:ext cx="8826500" cy="7937500"/>
            </a:xfrm>
            <a:custGeom>
              <a:avLst/>
              <a:gdLst/>
              <a:ahLst/>
              <a:cxnLst/>
              <a:rect r="r" b="b" t="t" l="l"/>
              <a:pathLst>
                <a:path h="7937500" w="8826500">
                  <a:moveTo>
                    <a:pt x="0" y="0"/>
                  </a:moveTo>
                  <a:lnTo>
                    <a:pt x="8826500" y="0"/>
                  </a:lnTo>
                  <a:lnTo>
                    <a:pt x="8826500" y="7937500"/>
                  </a:lnTo>
                  <a:lnTo>
                    <a:pt x="0" y="7937500"/>
                  </a:lnTo>
                  <a:lnTo>
                    <a:pt x="0" y="0"/>
                  </a:lnTo>
                  <a:close/>
                </a:path>
              </a:pathLst>
            </a:custGeom>
            <a:blipFill>
              <a:blip r:embed="rId2"/>
              <a:stretch>
                <a:fillRect l="-6176" t="0" r="-53679" b="0"/>
              </a:stretch>
            </a:blipFill>
          </p:spPr>
        </p:sp>
      </p:grpSp>
      <p:grpSp>
        <p:nvGrpSpPr>
          <p:cNvPr name="Group 7" id="7"/>
          <p:cNvGrpSpPr/>
          <p:nvPr/>
        </p:nvGrpSpPr>
        <p:grpSpPr>
          <a:xfrm rot="0">
            <a:off x="17050579" y="9535497"/>
            <a:ext cx="425787" cy="151581"/>
            <a:chOff x="0" y="0"/>
            <a:chExt cx="425780" cy="151575"/>
          </a:xfrm>
        </p:grpSpPr>
        <p:sp>
          <p:nvSpPr>
            <p:cNvPr name="Freeform 8" id="8"/>
            <p:cNvSpPr/>
            <p:nvPr/>
          </p:nvSpPr>
          <p:spPr>
            <a:xfrm flipH="false" flipV="false" rot="0">
              <a:off x="0" y="0"/>
              <a:ext cx="425828" cy="151632"/>
            </a:xfrm>
            <a:custGeom>
              <a:avLst/>
              <a:gdLst/>
              <a:ahLst/>
              <a:cxnLst/>
              <a:rect r="r" b="b" t="t" l="l"/>
              <a:pathLst>
                <a:path h="151632" w="425828">
                  <a:moveTo>
                    <a:pt x="0" y="151632"/>
                  </a:moveTo>
                  <a:lnTo>
                    <a:pt x="425828" y="151632"/>
                  </a:lnTo>
                  <a:lnTo>
                    <a:pt x="425828" y="0"/>
                  </a:lnTo>
                  <a:lnTo>
                    <a:pt x="0" y="0"/>
                  </a:lnTo>
                  <a:close/>
                </a:path>
              </a:pathLst>
            </a:custGeom>
            <a:solidFill>
              <a:srgbClr val="000000">
                <a:alpha val="0"/>
              </a:srgbClr>
            </a:solidFill>
          </p:spPr>
        </p:sp>
      </p:grpSp>
      <p:sp>
        <p:nvSpPr>
          <p:cNvPr name="TextBox 9" id="9"/>
          <p:cNvSpPr txBox="true"/>
          <p:nvPr/>
        </p:nvSpPr>
        <p:spPr>
          <a:xfrm rot="5400000">
            <a:off x="16279987" y="5036296"/>
            <a:ext cx="885454" cy="237801"/>
          </a:xfrm>
          <a:prstGeom prst="rect">
            <a:avLst/>
          </a:prstGeom>
        </p:spPr>
        <p:txBody>
          <a:bodyPr anchor="t" rtlCol="false" tIns="0" lIns="0" bIns="0" rIns="0">
            <a:spAutoFit/>
          </a:bodyPr>
          <a:lstStyle/>
          <a:p>
            <a:pPr algn="l">
              <a:lnSpc>
                <a:spcPts val="1959"/>
              </a:lnSpc>
            </a:pPr>
            <a:r>
              <a:rPr lang="en-US" sz="1399" i="true">
                <a:solidFill>
                  <a:srgbClr val="000000">
                    <a:alpha val="49804"/>
                  </a:srgbClr>
                </a:solidFill>
                <a:latin typeface="Red Hat Display Italics"/>
                <a:ea typeface="Red Hat Display Italics"/>
                <a:cs typeface="Red Hat Display Italics"/>
                <a:sym typeface="Red Hat Display Italics"/>
              </a:rPr>
              <a:t>clear space</a:t>
            </a:r>
          </a:p>
        </p:txBody>
      </p:sp>
      <p:sp>
        <p:nvSpPr>
          <p:cNvPr name="TextBox 10" id="10"/>
          <p:cNvSpPr txBox="true"/>
          <p:nvPr/>
        </p:nvSpPr>
        <p:spPr>
          <a:xfrm rot="0">
            <a:off x="1321756" y="109880"/>
            <a:ext cx="12458843" cy="1258748"/>
          </a:xfrm>
          <a:prstGeom prst="rect">
            <a:avLst/>
          </a:prstGeom>
        </p:spPr>
        <p:txBody>
          <a:bodyPr anchor="t" rtlCol="false" tIns="0" lIns="0" bIns="0" rIns="0">
            <a:spAutoFit/>
          </a:bodyPr>
          <a:lstStyle/>
          <a:p>
            <a:pPr algn="l">
              <a:lnSpc>
                <a:spcPts val="10080"/>
              </a:lnSpc>
            </a:pPr>
            <a:r>
              <a:rPr lang="en-US" b="true" sz="7200">
                <a:solidFill>
                  <a:srgbClr val="FFFFFF"/>
                </a:solidFill>
                <a:latin typeface="Red Hat Display Bold"/>
                <a:ea typeface="Red Hat Display Bold"/>
                <a:cs typeface="Red Hat Display Bold"/>
                <a:sym typeface="Red Hat Display Bold"/>
              </a:rPr>
              <a:t>MARKETING DEPARTMENT</a:t>
            </a:r>
          </a:p>
        </p:txBody>
      </p:sp>
      <p:sp>
        <p:nvSpPr>
          <p:cNvPr name="TextBox 11" id="11"/>
          <p:cNvSpPr txBox="true"/>
          <p:nvPr/>
        </p:nvSpPr>
        <p:spPr>
          <a:xfrm rot="0">
            <a:off x="1046864" y="1703527"/>
            <a:ext cx="43653" cy="291760"/>
          </a:xfrm>
          <a:prstGeom prst="rect">
            <a:avLst/>
          </a:prstGeom>
        </p:spPr>
        <p:txBody>
          <a:bodyPr anchor="t" rtlCol="false" tIns="0" lIns="0" bIns="0" rIns="0">
            <a:spAutoFit/>
          </a:bodyPr>
          <a:lstStyle/>
          <a:p>
            <a:pPr algn="l">
              <a:lnSpc>
                <a:spcPts val="2000"/>
              </a:lnSpc>
            </a:pPr>
            <a:r>
              <a:rPr lang="en-US" sz="1428">
                <a:solidFill>
                  <a:srgbClr val="000000"/>
                </a:solidFill>
                <a:latin typeface="CanvaSansSC-Regular"/>
                <a:ea typeface="CanvaSansSC-Regular"/>
                <a:cs typeface="CanvaSansSC-Regular"/>
                <a:sym typeface="CanvaSansSC-Regular"/>
              </a:rPr>
              <a:t> </a:t>
            </a:r>
          </a:p>
        </p:txBody>
      </p:sp>
      <p:sp>
        <p:nvSpPr>
          <p:cNvPr name="TextBox 12" id="12"/>
          <p:cNvSpPr txBox="true"/>
          <p:nvPr/>
        </p:nvSpPr>
        <p:spPr>
          <a:xfrm rot="0">
            <a:off x="498700" y="1703527"/>
            <a:ext cx="9302296" cy="291760"/>
          </a:xfrm>
          <a:prstGeom prst="rect">
            <a:avLst/>
          </a:prstGeom>
        </p:spPr>
        <p:txBody>
          <a:bodyPr anchor="t" rtlCol="false" tIns="0" lIns="0" bIns="0" rIns="0">
            <a:spAutoFit/>
          </a:bodyPr>
          <a:lstStyle/>
          <a:p>
            <a:pPr algn="l">
              <a:lnSpc>
                <a:spcPts val="2000"/>
              </a:lnSpc>
            </a:pPr>
            <a:r>
              <a:rPr lang="en-US" sz="1428">
                <a:solidFill>
                  <a:srgbClr val="000000"/>
                </a:solidFill>
                <a:latin typeface="CanvaSansSC-Regular"/>
                <a:ea typeface="CanvaSansSC-Regular"/>
                <a:cs typeface="CanvaSansSC-Regular"/>
                <a:sym typeface="CanvaSansSC-Regular"/>
              </a:rPr>
              <a:t>Dabur</a:t>
            </a:r>
            <a:r>
              <a:rPr lang="en-US" sz="1428">
                <a:solidFill>
                  <a:srgbClr val="FFFFFF"/>
                </a:solidFill>
                <a:latin typeface="CanvaSansSC-Regular"/>
                <a:ea typeface="CanvaSansSC-Regular"/>
                <a:cs typeface="CanvaSansSC-Regular"/>
                <a:sym typeface="CanvaSansSC-Regular"/>
              </a:rPr>
              <a:t> </a:t>
            </a:r>
            <a:r>
              <a:rPr lang="en-US" sz="1428">
                <a:solidFill>
                  <a:srgbClr val="000000"/>
                </a:solidFill>
                <a:latin typeface="CanvaSansSC-Regular"/>
                <a:ea typeface="CanvaSansSC-Regular"/>
                <a:cs typeface="CanvaSansSC-Regular"/>
                <a:sym typeface="CanvaSansSC-Regular"/>
              </a:rPr>
              <a:t>follows</a:t>
            </a:r>
            <a:r>
              <a:rPr lang="en-US" sz="1428">
                <a:solidFill>
                  <a:srgbClr val="FFFFFF"/>
                </a:solidFill>
                <a:latin typeface="CanvaSansSC-Regular"/>
                <a:ea typeface="CanvaSansSC-Regular"/>
                <a:cs typeface="CanvaSansSC-Regular"/>
                <a:sym typeface="CanvaSansSC-Regular"/>
              </a:rPr>
              <a:t> </a:t>
            </a:r>
            <a:r>
              <a:rPr lang="en-US" sz="1428">
                <a:solidFill>
                  <a:srgbClr val="000000"/>
                </a:solidFill>
                <a:latin typeface="CanvaSansSC-Regular"/>
                <a:ea typeface="CanvaSansSC-Regular"/>
                <a:cs typeface="CanvaSansSC-Regular"/>
                <a:sym typeface="CanvaSansSC-Regular"/>
              </a:rPr>
              <a:t>long-term</a:t>
            </a:r>
            <a:r>
              <a:rPr lang="en-US" sz="1428">
                <a:solidFill>
                  <a:srgbClr val="FFFFFF"/>
                </a:solidFill>
                <a:latin typeface="CanvaSansSC-Regular"/>
                <a:ea typeface="CanvaSansSC-Regular"/>
                <a:cs typeface="CanvaSansSC-Regular"/>
                <a:sym typeface="CanvaSansSC-Regular"/>
              </a:rPr>
              <a:t> </a:t>
            </a:r>
            <a:r>
              <a:rPr lang="en-US" sz="1428">
                <a:solidFill>
                  <a:srgbClr val="000000"/>
                </a:solidFill>
                <a:latin typeface="CanvaSansSC-Regular"/>
                <a:ea typeface="CanvaSansSC-Regular"/>
                <a:cs typeface="CanvaSansSC-Regular"/>
                <a:sym typeface="CanvaSansSC-Regular"/>
              </a:rPr>
              <a:t>customer-centric</a:t>
            </a:r>
            <a:r>
              <a:rPr lang="en-US" sz="1428">
                <a:solidFill>
                  <a:srgbClr val="FFFFFF"/>
                </a:solidFill>
                <a:latin typeface="CanvaSansSC-Regular"/>
                <a:ea typeface="CanvaSansSC-Regular"/>
                <a:cs typeface="CanvaSansSC-Regular"/>
                <a:sym typeface="CanvaSansSC-Regular"/>
              </a:rPr>
              <a:t> </a:t>
            </a:r>
            <a:r>
              <a:rPr lang="en-US" sz="1428">
                <a:solidFill>
                  <a:srgbClr val="000000"/>
                </a:solidFill>
                <a:latin typeface="CanvaSansSC-Regular"/>
                <a:ea typeface="CanvaSansSC-Regular"/>
                <a:cs typeface="CanvaSansSC-Regular"/>
                <a:sym typeface="CanvaSansSC-Regular"/>
              </a:rPr>
              <a:t>marketing</a:t>
            </a:r>
            <a:r>
              <a:rPr lang="en-US" sz="1428">
                <a:solidFill>
                  <a:srgbClr val="FFFFFF"/>
                </a:solidFill>
                <a:latin typeface="CanvaSansSC-Regular"/>
                <a:ea typeface="CanvaSansSC-Regular"/>
                <a:cs typeface="CanvaSansSC-Regular"/>
                <a:sym typeface="CanvaSansSC-Regular"/>
              </a:rPr>
              <a:t> </a:t>
            </a:r>
            <a:r>
              <a:rPr lang="en-US" sz="1428">
                <a:solidFill>
                  <a:srgbClr val="000000"/>
                </a:solidFill>
                <a:latin typeface="CanvaSansSC-Regular"/>
                <a:ea typeface="CanvaSansSC-Regular"/>
                <a:cs typeface="CanvaSansSC-Regular"/>
                <a:sym typeface="CanvaSansSC-Regular"/>
              </a:rPr>
              <a:t>that</a:t>
            </a:r>
            <a:r>
              <a:rPr lang="en-US" sz="1428">
                <a:solidFill>
                  <a:srgbClr val="FFFFFF"/>
                </a:solidFill>
                <a:latin typeface="CanvaSansSC-Regular"/>
                <a:ea typeface="CanvaSansSC-Regular"/>
                <a:cs typeface="CanvaSansSC-Regular"/>
                <a:sym typeface="CanvaSansSC-Regular"/>
              </a:rPr>
              <a:t> </a:t>
            </a:r>
            <a:r>
              <a:rPr lang="en-US" sz="1428">
                <a:solidFill>
                  <a:srgbClr val="000000"/>
                </a:solidFill>
                <a:latin typeface="CanvaSansSC-Regular"/>
                <a:ea typeface="CanvaSansSC-Regular"/>
                <a:cs typeface="CanvaSansSC-Regular"/>
                <a:sym typeface="CanvaSansSC-Regular"/>
              </a:rPr>
              <a:t>highlights</a:t>
            </a:r>
            <a:r>
              <a:rPr lang="en-US" sz="1428">
                <a:solidFill>
                  <a:srgbClr val="FFFFFF"/>
                </a:solidFill>
                <a:latin typeface="CanvaSansSC-Regular"/>
                <a:ea typeface="CanvaSansSC-Regular"/>
                <a:cs typeface="CanvaSansSC-Regular"/>
                <a:sym typeface="CanvaSansSC-Regular"/>
              </a:rPr>
              <a:t> </a:t>
            </a:r>
            <a:r>
              <a:rPr lang="en-US" sz="1428">
                <a:solidFill>
                  <a:srgbClr val="000000"/>
                </a:solidFill>
                <a:latin typeface="CanvaSansSC-Regular"/>
                <a:ea typeface="CanvaSansSC-Regular"/>
                <a:cs typeface="CanvaSansSC-Regular"/>
                <a:sym typeface="CanvaSansSC-Regular"/>
              </a:rPr>
              <a:t>Ayurveda,</a:t>
            </a:r>
            <a:r>
              <a:rPr lang="en-US" sz="1428">
                <a:solidFill>
                  <a:srgbClr val="FFFFFF"/>
                </a:solidFill>
                <a:latin typeface="CanvaSansSC-Regular"/>
                <a:ea typeface="CanvaSansSC-Regular"/>
                <a:cs typeface="CanvaSansSC-Regular"/>
                <a:sym typeface="CanvaSansSC-Regular"/>
              </a:rPr>
              <a:t> </a:t>
            </a:r>
            <a:r>
              <a:rPr lang="en-US" sz="1428">
                <a:solidFill>
                  <a:srgbClr val="000000"/>
                </a:solidFill>
                <a:latin typeface="CanvaSansSC-Regular"/>
                <a:ea typeface="CanvaSansSC-Regular"/>
                <a:cs typeface="CanvaSansSC-Regular"/>
                <a:sym typeface="CanvaSansSC-Regular"/>
              </a:rPr>
              <a:t>trust,</a:t>
            </a:r>
            <a:r>
              <a:rPr lang="en-US" sz="1428">
                <a:solidFill>
                  <a:srgbClr val="FFFFFF"/>
                </a:solidFill>
                <a:latin typeface="CanvaSansSC-Regular"/>
                <a:ea typeface="CanvaSansSC-Regular"/>
                <a:cs typeface="CanvaSansSC-Regular"/>
                <a:sym typeface="CanvaSansSC-Regular"/>
              </a:rPr>
              <a:t> </a:t>
            </a:r>
            <a:r>
              <a:rPr lang="en-US" sz="1428">
                <a:solidFill>
                  <a:srgbClr val="000000"/>
                </a:solidFill>
                <a:latin typeface="CanvaSansSC-Regular"/>
                <a:ea typeface="CanvaSansSC-Regular"/>
                <a:cs typeface="CanvaSansSC-Regular"/>
                <a:sym typeface="CanvaSansSC-Regular"/>
              </a:rPr>
              <a:t>and</a:t>
            </a:r>
            <a:r>
              <a:rPr lang="en-US" sz="1428">
                <a:solidFill>
                  <a:srgbClr val="FFFFFF"/>
                </a:solidFill>
                <a:latin typeface="CanvaSansSC-Regular"/>
                <a:ea typeface="CanvaSansSC-Regular"/>
                <a:cs typeface="CanvaSansSC-Regular"/>
                <a:sym typeface="CanvaSansSC-Regular"/>
              </a:rPr>
              <a:t> </a:t>
            </a:r>
            <a:r>
              <a:rPr lang="en-US" sz="1428">
                <a:solidFill>
                  <a:srgbClr val="000000"/>
                </a:solidFill>
                <a:latin typeface="CanvaSansSC-Regular"/>
                <a:ea typeface="CanvaSansSC-Regular"/>
                <a:cs typeface="CanvaSansSC-Regular"/>
                <a:sym typeface="CanvaSansSC-Regular"/>
              </a:rPr>
              <a:t>family</a:t>
            </a:r>
            <a:r>
              <a:rPr lang="en-US" sz="1428">
                <a:solidFill>
                  <a:srgbClr val="FFFFFF"/>
                </a:solidFill>
                <a:latin typeface="CanvaSansSC-Regular"/>
                <a:ea typeface="CanvaSansSC-Regular"/>
                <a:cs typeface="CanvaSansSC-Regular"/>
                <a:sym typeface="CanvaSansSC-Regular"/>
              </a:rPr>
              <a:t> </a:t>
            </a:r>
            <a:r>
              <a:rPr lang="en-US" sz="1428">
                <a:solidFill>
                  <a:srgbClr val="000000"/>
                </a:solidFill>
                <a:latin typeface="CanvaSansSC-Regular"/>
                <a:ea typeface="CanvaSansSC-Regular"/>
                <a:cs typeface="CanvaSansSC-Regular"/>
                <a:sym typeface="CanvaSansSC-Regular"/>
              </a:rPr>
              <a:t>values.</a:t>
            </a:r>
          </a:p>
        </p:txBody>
      </p:sp>
      <p:sp>
        <p:nvSpPr>
          <p:cNvPr name="TextBox 13" id="13"/>
          <p:cNvSpPr txBox="true"/>
          <p:nvPr/>
        </p:nvSpPr>
        <p:spPr>
          <a:xfrm rot="0">
            <a:off x="498700" y="1960702"/>
            <a:ext cx="9835486" cy="529885"/>
          </a:xfrm>
          <a:prstGeom prst="rect">
            <a:avLst/>
          </a:prstGeom>
        </p:spPr>
        <p:txBody>
          <a:bodyPr anchor="t" rtlCol="false" tIns="0" lIns="0" bIns="0" rIns="0">
            <a:spAutoFit/>
          </a:bodyPr>
          <a:lstStyle/>
          <a:p>
            <a:pPr algn="l">
              <a:lnSpc>
                <a:spcPts val="1950"/>
              </a:lnSpc>
            </a:pPr>
            <a:r>
              <a:rPr lang="en-US" sz="1428">
                <a:solidFill>
                  <a:srgbClr val="000000"/>
                </a:solidFill>
                <a:latin typeface="CanvaSansSC-Regular"/>
                <a:ea typeface="CanvaSansSC-Regular"/>
                <a:cs typeface="CanvaSansSC-Regular"/>
                <a:sym typeface="CanvaSansSC-Regular"/>
              </a:rPr>
              <a:t>Target</a:t>
            </a:r>
            <a:r>
              <a:rPr lang="en-US" sz="1428">
                <a:solidFill>
                  <a:srgbClr val="FFFFFF"/>
                </a:solidFill>
                <a:latin typeface="CanvaSansSC-Regular"/>
                <a:ea typeface="CanvaSansSC-Regular"/>
                <a:cs typeface="CanvaSansSC-Regular"/>
                <a:sym typeface="CanvaSansSC-Regular"/>
              </a:rPr>
              <a:t> </a:t>
            </a:r>
            <a:r>
              <a:rPr lang="en-US" sz="1428">
                <a:solidFill>
                  <a:srgbClr val="000000"/>
                </a:solidFill>
                <a:latin typeface="CanvaSansSC-Regular"/>
                <a:ea typeface="CanvaSansSC-Regular"/>
                <a:cs typeface="CanvaSansSC-Regular"/>
                <a:sym typeface="CanvaSansSC-Regular"/>
              </a:rPr>
              <a:t>Audience</a:t>
            </a:r>
            <a:r>
              <a:rPr lang="en-US" sz="1428">
                <a:solidFill>
                  <a:srgbClr val="FFFFFF"/>
                </a:solidFill>
                <a:latin typeface="CanvaSansSC-Regular"/>
                <a:ea typeface="CanvaSansSC-Regular"/>
                <a:cs typeface="CanvaSansSC-Regular"/>
                <a:sym typeface="CanvaSansSC-Regular"/>
              </a:rPr>
              <a:t> </a:t>
            </a:r>
            <a:r>
              <a:rPr lang="en-US" sz="1428">
                <a:solidFill>
                  <a:srgbClr val="000000"/>
                </a:solidFill>
                <a:latin typeface="CanvaSansSC-Regular"/>
                <a:ea typeface="CanvaSansSC-Regular"/>
                <a:cs typeface="CanvaSansSC-Regular"/>
                <a:sym typeface="CanvaSansSC-Regular"/>
              </a:rPr>
              <a:t>includes</a:t>
            </a:r>
            <a:r>
              <a:rPr lang="en-US" sz="1428">
                <a:solidFill>
                  <a:srgbClr val="FFFFFF"/>
                </a:solidFill>
                <a:latin typeface="CanvaSansSC-Regular"/>
                <a:ea typeface="CanvaSansSC-Regular"/>
                <a:cs typeface="CanvaSansSC-Regular"/>
                <a:sym typeface="CanvaSansSC-Regular"/>
              </a:rPr>
              <a:t> </a:t>
            </a:r>
            <a:r>
              <a:rPr lang="en-US" sz="1428">
                <a:solidFill>
                  <a:srgbClr val="000000"/>
                </a:solidFill>
                <a:latin typeface="CanvaSansSC-Regular"/>
                <a:ea typeface="CanvaSansSC-Regular"/>
                <a:cs typeface="CanvaSansSC-Regular"/>
                <a:sym typeface="CanvaSansSC-Regular"/>
              </a:rPr>
              <a:t>middle-class</a:t>
            </a:r>
            <a:r>
              <a:rPr lang="en-US" sz="1428">
                <a:solidFill>
                  <a:srgbClr val="FFFFFF"/>
                </a:solidFill>
                <a:latin typeface="CanvaSansSC-Regular"/>
                <a:ea typeface="CanvaSansSC-Regular"/>
                <a:cs typeface="CanvaSansSC-Regular"/>
                <a:sym typeface="CanvaSansSC-Regular"/>
              </a:rPr>
              <a:t> </a:t>
            </a:r>
            <a:r>
              <a:rPr lang="en-US" sz="1428">
                <a:solidFill>
                  <a:srgbClr val="000000"/>
                </a:solidFill>
                <a:latin typeface="CanvaSansSC-Regular"/>
                <a:ea typeface="CanvaSansSC-Regular"/>
                <a:cs typeface="CanvaSansSC-Regular"/>
                <a:sym typeface="CanvaSansSC-Regular"/>
              </a:rPr>
              <a:t>families,</a:t>
            </a:r>
            <a:r>
              <a:rPr lang="en-US" sz="1428">
                <a:solidFill>
                  <a:srgbClr val="FFFFFF"/>
                </a:solidFill>
                <a:latin typeface="CanvaSansSC-Regular"/>
                <a:ea typeface="CanvaSansSC-Regular"/>
                <a:cs typeface="CanvaSansSC-Regular"/>
                <a:sym typeface="CanvaSansSC-Regular"/>
              </a:rPr>
              <a:t> </a:t>
            </a:r>
            <a:r>
              <a:rPr lang="en-US" sz="1428">
                <a:solidFill>
                  <a:srgbClr val="000000"/>
                </a:solidFill>
                <a:latin typeface="CanvaSansSC-Regular"/>
                <a:ea typeface="CanvaSansSC-Regular"/>
                <a:cs typeface="CanvaSansSC-Regular"/>
                <a:sym typeface="CanvaSansSC-Regular"/>
              </a:rPr>
              <a:t>rural</a:t>
            </a:r>
            <a:r>
              <a:rPr lang="en-US" sz="1428">
                <a:solidFill>
                  <a:srgbClr val="FFFFFF"/>
                </a:solidFill>
                <a:latin typeface="CanvaSansSC-Regular"/>
                <a:ea typeface="CanvaSansSC-Regular"/>
                <a:cs typeface="CanvaSansSC-Regular"/>
                <a:sym typeface="CanvaSansSC-Regular"/>
              </a:rPr>
              <a:t> </a:t>
            </a:r>
            <a:r>
              <a:rPr lang="en-US" sz="1428">
                <a:solidFill>
                  <a:srgbClr val="000000"/>
                </a:solidFill>
                <a:latin typeface="CanvaSansSC-Regular"/>
                <a:ea typeface="CanvaSansSC-Regular"/>
                <a:cs typeface="CanvaSansSC-Regular"/>
                <a:sym typeface="CanvaSansSC-Regular"/>
              </a:rPr>
              <a:t>consumers,</a:t>
            </a:r>
            <a:r>
              <a:rPr lang="en-US" sz="1428">
                <a:solidFill>
                  <a:srgbClr val="FFFFFF"/>
                </a:solidFill>
                <a:latin typeface="CanvaSansSC-Regular"/>
                <a:ea typeface="CanvaSansSC-Regular"/>
                <a:cs typeface="CanvaSansSC-Regular"/>
                <a:sym typeface="CanvaSansSC-Regular"/>
              </a:rPr>
              <a:t> </a:t>
            </a:r>
            <a:r>
              <a:rPr lang="en-US" sz="1428">
                <a:solidFill>
                  <a:srgbClr val="000000"/>
                </a:solidFill>
                <a:latin typeface="CanvaSansSC-Regular"/>
                <a:ea typeface="CanvaSansSC-Regular"/>
                <a:cs typeface="CanvaSansSC-Regular"/>
                <a:sym typeface="CanvaSansSC-Regular"/>
              </a:rPr>
              <a:t>youth,</a:t>
            </a:r>
            <a:r>
              <a:rPr lang="en-US" sz="1428">
                <a:solidFill>
                  <a:srgbClr val="FFFFFF"/>
                </a:solidFill>
                <a:latin typeface="CanvaSansSC-Regular"/>
                <a:ea typeface="CanvaSansSC-Regular"/>
                <a:cs typeface="CanvaSansSC-Regular"/>
                <a:sym typeface="CanvaSansSC-Regular"/>
              </a:rPr>
              <a:t> </a:t>
            </a:r>
            <a:r>
              <a:rPr lang="en-US" sz="1428">
                <a:solidFill>
                  <a:srgbClr val="000000"/>
                </a:solidFill>
                <a:latin typeface="CanvaSansSC-Regular"/>
                <a:ea typeface="CanvaSansSC-Regular"/>
                <a:cs typeface="CanvaSansSC-Regular"/>
                <a:sym typeface="CanvaSansSC-Regular"/>
              </a:rPr>
              <a:t>health-conscious</a:t>
            </a:r>
            <a:r>
              <a:rPr lang="en-US" sz="1428">
                <a:solidFill>
                  <a:srgbClr val="FFFFFF"/>
                </a:solidFill>
                <a:latin typeface="CanvaSansSC-Regular"/>
                <a:ea typeface="CanvaSansSC-Regular"/>
                <a:cs typeface="CanvaSansSC-Regular"/>
                <a:sym typeface="CanvaSansSC-Regular"/>
              </a:rPr>
              <a:t> </a:t>
            </a:r>
            <a:r>
              <a:rPr lang="en-US" sz="1428">
                <a:solidFill>
                  <a:srgbClr val="000000"/>
                </a:solidFill>
                <a:latin typeface="CanvaSansSC-Regular"/>
                <a:ea typeface="CanvaSansSC-Regular"/>
                <a:cs typeface="CanvaSansSC-Regular"/>
                <a:sym typeface="CanvaSansSC-Regular"/>
              </a:rPr>
              <a:t>customers</a:t>
            </a:r>
            <a:r>
              <a:rPr lang="en-US" sz="1428">
                <a:solidFill>
                  <a:srgbClr val="FFFFFF"/>
                </a:solidFill>
                <a:latin typeface="CanvaSansSC-Regular"/>
                <a:ea typeface="CanvaSansSC-Regular"/>
                <a:cs typeface="CanvaSansSC-Regular"/>
                <a:sym typeface="CanvaSansSC-Regular"/>
              </a:rPr>
              <a:t> </a:t>
            </a:r>
            <a:r>
              <a:rPr lang="en-US" sz="1428">
                <a:solidFill>
                  <a:srgbClr val="000000"/>
                </a:solidFill>
                <a:latin typeface="CanvaSansSC-Regular"/>
                <a:ea typeface="CanvaSansSC-Regular"/>
                <a:cs typeface="CanvaSansSC-Regular"/>
                <a:sym typeface="CanvaSansSC-Regular"/>
              </a:rPr>
              <a:t>&amp;</a:t>
            </a:r>
            <a:r>
              <a:rPr lang="en-US" sz="1428">
                <a:solidFill>
                  <a:srgbClr val="FFFFFF"/>
                </a:solidFill>
                <a:latin typeface="CanvaSansSC-Regular"/>
                <a:ea typeface="CanvaSansSC-Regular"/>
                <a:cs typeface="CanvaSansSC-Regular"/>
                <a:sym typeface="CanvaSansSC-Regular"/>
              </a:rPr>
              <a:t> </a:t>
            </a:r>
            <a:r>
              <a:rPr lang="en-US" sz="1428">
                <a:solidFill>
                  <a:srgbClr val="000000"/>
                </a:solidFill>
                <a:latin typeface="CanvaSansSC-Regular"/>
                <a:ea typeface="CanvaSansSC-Regular"/>
                <a:cs typeface="CanvaSansSC-Regular"/>
                <a:sym typeface="CanvaSansSC-Regular"/>
              </a:rPr>
              <a:t>global Ayurvedicbelievers. </a:t>
            </a:r>
          </a:p>
        </p:txBody>
      </p:sp>
      <p:sp>
        <p:nvSpPr>
          <p:cNvPr name="TextBox 14" id="14"/>
          <p:cNvSpPr txBox="true"/>
          <p:nvPr/>
        </p:nvSpPr>
        <p:spPr>
          <a:xfrm rot="0">
            <a:off x="498700" y="2703652"/>
            <a:ext cx="8983704" cy="529885"/>
          </a:xfrm>
          <a:prstGeom prst="rect">
            <a:avLst/>
          </a:prstGeom>
        </p:spPr>
        <p:txBody>
          <a:bodyPr anchor="t" rtlCol="false" tIns="0" lIns="0" bIns="0" rIns="0">
            <a:spAutoFit/>
          </a:bodyPr>
          <a:lstStyle/>
          <a:p>
            <a:pPr algn="l">
              <a:lnSpc>
                <a:spcPts val="1950"/>
              </a:lnSpc>
            </a:pPr>
            <a:r>
              <a:rPr lang="en-US" sz="1428">
                <a:solidFill>
                  <a:srgbClr val="000000"/>
                </a:solidFill>
                <a:latin typeface="CanvaSansSC-Regular"/>
                <a:ea typeface="CanvaSansSC-Regular"/>
                <a:cs typeface="CanvaSansSC-Regular"/>
                <a:sym typeface="CanvaSansSC-Regular"/>
              </a:rPr>
              <a:t>Brand management :</a:t>
            </a:r>
          </a:p>
          <a:p>
            <a:pPr algn="l">
              <a:lnSpc>
                <a:spcPts val="1950"/>
              </a:lnSpc>
            </a:pPr>
            <a:r>
              <a:rPr lang="en-US" sz="1428">
                <a:solidFill>
                  <a:srgbClr val="000000"/>
                </a:solidFill>
                <a:latin typeface="CanvaSansSC-Regular"/>
                <a:ea typeface="CanvaSansSC-Regular"/>
                <a:cs typeface="CanvaSansSC-Regular"/>
                <a:sym typeface="CanvaSansSC-Regular"/>
              </a:rPr>
              <a:t>Focus on strengthening in key brands like vakita, real are differentiate them in a competitive market</a:t>
            </a:r>
          </a:p>
        </p:txBody>
      </p:sp>
      <p:sp>
        <p:nvSpPr>
          <p:cNvPr name="TextBox 15" id="15"/>
          <p:cNvSpPr txBox="true"/>
          <p:nvPr/>
        </p:nvSpPr>
        <p:spPr>
          <a:xfrm rot="0">
            <a:off x="498700" y="3446602"/>
            <a:ext cx="9569025" cy="529885"/>
          </a:xfrm>
          <a:prstGeom prst="rect">
            <a:avLst/>
          </a:prstGeom>
        </p:spPr>
        <p:txBody>
          <a:bodyPr anchor="t" rtlCol="false" tIns="0" lIns="0" bIns="0" rIns="0">
            <a:spAutoFit/>
          </a:bodyPr>
          <a:lstStyle/>
          <a:p>
            <a:pPr algn="l">
              <a:lnSpc>
                <a:spcPts val="1950"/>
              </a:lnSpc>
            </a:pPr>
            <a:r>
              <a:rPr lang="en-US" sz="1428">
                <a:solidFill>
                  <a:srgbClr val="000000"/>
                </a:solidFill>
                <a:latin typeface="CanvaSansSC-Regular"/>
                <a:ea typeface="CanvaSansSC-Regular"/>
                <a:cs typeface="CanvaSansSC-Regular"/>
                <a:sym typeface="CanvaSansSC-Regular"/>
              </a:rPr>
              <a:t>Market research :</a:t>
            </a:r>
          </a:p>
          <a:p>
            <a:pPr algn="l">
              <a:lnSpc>
                <a:spcPts val="1950"/>
              </a:lnSpc>
            </a:pPr>
            <a:r>
              <a:rPr lang="en-US" sz="1428">
                <a:solidFill>
                  <a:srgbClr val="000000"/>
                </a:solidFill>
                <a:latin typeface="CanvaSansSC-Regular"/>
                <a:ea typeface="CanvaSansSC-Regular"/>
                <a:cs typeface="CanvaSansSC-Regular"/>
                <a:sym typeface="CanvaSansSC-Regular"/>
              </a:rPr>
              <a:t>Conducts studies with Accenture to understand consumers perception market trends and inform strategy.</a:t>
            </a:r>
          </a:p>
        </p:txBody>
      </p:sp>
      <p:sp>
        <p:nvSpPr>
          <p:cNvPr name="TextBox 16" id="16"/>
          <p:cNvSpPr txBox="true"/>
          <p:nvPr/>
        </p:nvSpPr>
        <p:spPr>
          <a:xfrm rot="0">
            <a:off x="498700" y="4180027"/>
            <a:ext cx="325479" cy="291760"/>
          </a:xfrm>
          <a:prstGeom prst="rect">
            <a:avLst/>
          </a:prstGeom>
        </p:spPr>
        <p:txBody>
          <a:bodyPr anchor="t" rtlCol="false" tIns="0" lIns="0" bIns="0" rIns="0">
            <a:spAutoFit/>
          </a:bodyPr>
          <a:lstStyle/>
          <a:p>
            <a:pPr algn="l">
              <a:lnSpc>
                <a:spcPts val="2000"/>
              </a:lnSpc>
            </a:pPr>
            <a:r>
              <a:rPr lang="en-US" sz="1428">
                <a:solidFill>
                  <a:srgbClr val="000000"/>
                </a:solidFill>
                <a:latin typeface="CanvaSansSC-Regular"/>
                <a:ea typeface="CanvaSansSC-Regular"/>
                <a:cs typeface="CanvaSansSC-Regular"/>
                <a:sym typeface="CanvaSansSC-Regular"/>
              </a:rPr>
              <a:t>4Ps</a:t>
            </a:r>
          </a:p>
        </p:txBody>
      </p:sp>
      <p:sp>
        <p:nvSpPr>
          <p:cNvPr name="TextBox 17" id="17"/>
          <p:cNvSpPr txBox="true"/>
          <p:nvPr/>
        </p:nvSpPr>
        <p:spPr>
          <a:xfrm rot="0">
            <a:off x="498700" y="4675327"/>
            <a:ext cx="846744" cy="291760"/>
          </a:xfrm>
          <a:prstGeom prst="rect">
            <a:avLst/>
          </a:prstGeom>
        </p:spPr>
        <p:txBody>
          <a:bodyPr anchor="t" rtlCol="false" tIns="0" lIns="0" bIns="0" rIns="0">
            <a:spAutoFit/>
          </a:bodyPr>
          <a:lstStyle/>
          <a:p>
            <a:pPr algn="l">
              <a:lnSpc>
                <a:spcPts val="2000"/>
              </a:lnSpc>
            </a:pPr>
            <a:r>
              <a:rPr lang="en-US" sz="1428">
                <a:solidFill>
                  <a:srgbClr val="000000"/>
                </a:solidFill>
                <a:latin typeface="CanvaSansSC-Regular"/>
                <a:ea typeface="CanvaSansSC-Regular"/>
                <a:cs typeface="CanvaSansSC-Regular"/>
                <a:sym typeface="CanvaSansSC-Regular"/>
              </a:rPr>
              <a:t>Product:-</a:t>
            </a:r>
          </a:p>
        </p:txBody>
      </p:sp>
      <p:sp>
        <p:nvSpPr>
          <p:cNvPr name="TextBox 18" id="18"/>
          <p:cNvSpPr txBox="true"/>
          <p:nvPr/>
        </p:nvSpPr>
        <p:spPr>
          <a:xfrm rot="0">
            <a:off x="498700" y="5180152"/>
            <a:ext cx="9681067" cy="529885"/>
          </a:xfrm>
          <a:prstGeom prst="rect">
            <a:avLst/>
          </a:prstGeom>
        </p:spPr>
        <p:txBody>
          <a:bodyPr anchor="t" rtlCol="false" tIns="0" lIns="0" bIns="0" rIns="0">
            <a:spAutoFit/>
          </a:bodyPr>
          <a:lstStyle/>
          <a:p>
            <a:pPr algn="l">
              <a:lnSpc>
                <a:spcPts val="1950"/>
              </a:lnSpc>
            </a:pPr>
            <a:r>
              <a:rPr lang="en-US" sz="1428">
                <a:solidFill>
                  <a:srgbClr val="000000"/>
                </a:solidFill>
                <a:latin typeface="CanvaSansSC-Regular"/>
                <a:ea typeface="CanvaSansSC-Regular"/>
                <a:cs typeface="CanvaSansSC-Regular"/>
                <a:sym typeface="CanvaSansSC-Regular"/>
              </a:rPr>
              <a:t>Portfolio: Dabur offers a diverse portfolio of products, including healthcare items (supplements, digestives, cough/cold remedies), hair care, oral care, skin care, and food and beverages like Real Juice.</a:t>
            </a:r>
          </a:p>
        </p:txBody>
      </p:sp>
      <p:sp>
        <p:nvSpPr>
          <p:cNvPr name="TextBox 19" id="19"/>
          <p:cNvSpPr txBox="true"/>
          <p:nvPr/>
        </p:nvSpPr>
        <p:spPr>
          <a:xfrm rot="0">
            <a:off x="498700" y="5923102"/>
            <a:ext cx="10304536" cy="529885"/>
          </a:xfrm>
          <a:prstGeom prst="rect">
            <a:avLst/>
          </a:prstGeom>
        </p:spPr>
        <p:txBody>
          <a:bodyPr anchor="t" rtlCol="false" tIns="0" lIns="0" bIns="0" rIns="0">
            <a:spAutoFit/>
          </a:bodyPr>
          <a:lstStyle/>
          <a:p>
            <a:pPr algn="l">
              <a:lnSpc>
                <a:spcPts val="1950"/>
              </a:lnSpc>
            </a:pPr>
            <a:r>
              <a:rPr lang="en-US" sz="1428">
                <a:solidFill>
                  <a:srgbClr val="000000"/>
                </a:solidFill>
                <a:latin typeface="CanvaSansSC-Regular"/>
                <a:ea typeface="CanvaSansSC-Regular"/>
                <a:cs typeface="CanvaSansSC-Regular"/>
                <a:sym typeface="CanvaSansSC-Regular"/>
              </a:rPr>
              <a:t>Natural and Ayurvedic focus: A core part of its strategy is emphasizing products made with natural ingredients and based on traditional Ayurvedic principles.</a:t>
            </a:r>
          </a:p>
        </p:txBody>
      </p:sp>
      <p:sp>
        <p:nvSpPr>
          <p:cNvPr name="TextBox 20" id="20"/>
          <p:cNvSpPr txBox="true"/>
          <p:nvPr/>
        </p:nvSpPr>
        <p:spPr>
          <a:xfrm rot="0">
            <a:off x="498700" y="6666052"/>
            <a:ext cx="9383887" cy="529885"/>
          </a:xfrm>
          <a:prstGeom prst="rect">
            <a:avLst/>
          </a:prstGeom>
        </p:spPr>
        <p:txBody>
          <a:bodyPr anchor="t" rtlCol="false" tIns="0" lIns="0" bIns="0" rIns="0">
            <a:spAutoFit/>
          </a:bodyPr>
          <a:lstStyle/>
          <a:p>
            <a:pPr algn="l">
              <a:lnSpc>
                <a:spcPts val="1950"/>
              </a:lnSpc>
            </a:pPr>
            <a:r>
              <a:rPr lang="en-US" sz="1428">
                <a:solidFill>
                  <a:srgbClr val="000000"/>
                </a:solidFill>
                <a:latin typeface="CanvaSansSC-Regular"/>
                <a:ea typeface="CanvaSansSC-Regular"/>
                <a:cs typeface="CanvaSansSC-Regular"/>
                <a:sym typeface="CanvaSansSC-Regular"/>
              </a:rPr>
              <a:t>Value-added offerings: Products like Vatika Hair Oil are positioned as value-added, using specific natural ingredients like henna, amla, and lemon in pure coconut oil.</a:t>
            </a:r>
          </a:p>
        </p:txBody>
      </p:sp>
      <p:sp>
        <p:nvSpPr>
          <p:cNvPr name="TextBox 21" id="21"/>
          <p:cNvSpPr txBox="true"/>
          <p:nvPr/>
        </p:nvSpPr>
        <p:spPr>
          <a:xfrm rot="0">
            <a:off x="498700" y="7409002"/>
            <a:ext cx="9997954" cy="529885"/>
          </a:xfrm>
          <a:prstGeom prst="rect">
            <a:avLst/>
          </a:prstGeom>
        </p:spPr>
        <p:txBody>
          <a:bodyPr anchor="t" rtlCol="false" tIns="0" lIns="0" bIns="0" rIns="0">
            <a:spAutoFit/>
          </a:bodyPr>
          <a:lstStyle/>
          <a:p>
            <a:pPr algn="l">
              <a:lnSpc>
                <a:spcPts val="1950"/>
              </a:lnSpc>
            </a:pPr>
            <a:r>
              <a:rPr lang="en-US" sz="1428">
                <a:solidFill>
                  <a:srgbClr val="000000"/>
                </a:solidFill>
                <a:latin typeface="CanvaSansSC-Regular"/>
                <a:ea typeface="CanvaSansSC-Regular"/>
                <a:cs typeface="CanvaSansSC-Regular"/>
                <a:sym typeface="CanvaSansSC-Regular"/>
              </a:rPr>
              <a:t>Quality assurance: Dabur's in-house research labs and the Dabur Research Foundation are used to ensure high- quality products that meet international standards. </a:t>
            </a:r>
          </a:p>
        </p:txBody>
      </p:sp>
      <p:sp>
        <p:nvSpPr>
          <p:cNvPr name="TextBox 22" id="22"/>
          <p:cNvSpPr txBox="true"/>
          <p:nvPr/>
        </p:nvSpPr>
        <p:spPr>
          <a:xfrm rot="0">
            <a:off x="498700" y="8151952"/>
            <a:ext cx="10292144" cy="777535"/>
          </a:xfrm>
          <a:prstGeom prst="rect">
            <a:avLst/>
          </a:prstGeom>
        </p:spPr>
        <p:txBody>
          <a:bodyPr anchor="t" rtlCol="false" tIns="0" lIns="0" bIns="0" rIns="0">
            <a:spAutoFit/>
          </a:bodyPr>
          <a:lstStyle/>
          <a:p>
            <a:pPr algn="l">
              <a:lnSpc>
                <a:spcPts val="1950"/>
              </a:lnSpc>
            </a:pPr>
            <a:r>
              <a:rPr lang="en-US" sz="1428">
                <a:solidFill>
                  <a:srgbClr val="000000"/>
                </a:solidFill>
                <a:latin typeface="CanvaSansSC-Regular"/>
                <a:ea typeface="CanvaSansSC-Regular"/>
                <a:cs typeface="CanvaSansSC-Regular"/>
                <a:sym typeface="CanvaSansSC-Regular"/>
              </a:rPr>
              <a:t>Price:-</a:t>
            </a:r>
          </a:p>
          <a:p>
            <a:pPr algn="l">
              <a:lnSpc>
                <a:spcPts val="1950"/>
              </a:lnSpc>
            </a:pPr>
            <a:r>
              <a:rPr lang="en-US" sz="1428">
                <a:solidFill>
                  <a:srgbClr val="000000"/>
                </a:solidFill>
                <a:latin typeface="CanvaSansSC-Regular"/>
                <a:ea typeface="CanvaSansSC-Regular"/>
                <a:cs typeface="CanvaSansSC-Regular"/>
                <a:sym typeface="CanvaSansSC-Regular"/>
              </a:rPr>
              <a:t>Variable pricing: The company uses a varied pricing strategy, with products ranging from mass-market to premium. For instance, some products target different income classes.</a:t>
            </a:r>
          </a:p>
        </p:txBody>
      </p:sp>
      <p:sp>
        <p:nvSpPr>
          <p:cNvPr name="TextBox 23" id="23"/>
          <p:cNvSpPr txBox="true"/>
          <p:nvPr/>
        </p:nvSpPr>
        <p:spPr>
          <a:xfrm rot="0">
            <a:off x="498700" y="9142552"/>
            <a:ext cx="9715500" cy="529885"/>
          </a:xfrm>
          <a:prstGeom prst="rect">
            <a:avLst/>
          </a:prstGeom>
        </p:spPr>
        <p:txBody>
          <a:bodyPr anchor="t" rtlCol="false" tIns="0" lIns="0" bIns="0" rIns="0">
            <a:spAutoFit/>
          </a:bodyPr>
          <a:lstStyle/>
          <a:p>
            <a:pPr algn="l">
              <a:lnSpc>
                <a:spcPts val="1950"/>
              </a:lnSpc>
            </a:pPr>
            <a:r>
              <a:rPr lang="en-US" sz="1428">
                <a:solidFill>
                  <a:srgbClr val="000000"/>
                </a:solidFill>
                <a:latin typeface="CanvaSansSC-Regular"/>
                <a:ea typeface="CanvaSansSC-Regular"/>
                <a:cs typeface="CanvaSansSC-Regular"/>
                <a:sym typeface="CanvaSansSC-Regular"/>
              </a:rPr>
              <a:t>Premium pricing example: In some cases, like Vatika Hair Oil, Dabur has successfully used a premium pricing strategy to achieve a significant market share, even when compared to lower-priced competitors.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D9A85F"/>
        </a:solidFill>
      </p:bgPr>
    </p:bg>
    <p:spTree>
      <p:nvGrpSpPr>
        <p:cNvPr id="1" name=""/>
        <p:cNvGrpSpPr/>
        <p:nvPr/>
      </p:nvGrpSpPr>
      <p:grpSpPr>
        <a:xfrm>
          <a:off x="0" y="0"/>
          <a:ext cx="0" cy="0"/>
          <a:chOff x="0" y="0"/>
          <a:chExt cx="0" cy="0"/>
        </a:xfrm>
      </p:grpSpPr>
      <p:grpSp>
        <p:nvGrpSpPr>
          <p:cNvPr name="Group 2" id="2"/>
          <p:cNvGrpSpPr/>
          <p:nvPr/>
        </p:nvGrpSpPr>
        <p:grpSpPr>
          <a:xfrm rot="0">
            <a:off x="1442866" y="6654917"/>
            <a:ext cx="4933950" cy="3513325"/>
            <a:chOff x="0" y="0"/>
            <a:chExt cx="6578600" cy="4684433"/>
          </a:xfrm>
        </p:grpSpPr>
        <p:sp>
          <p:nvSpPr>
            <p:cNvPr name="Freeform 3" id="3"/>
            <p:cNvSpPr/>
            <p:nvPr/>
          </p:nvSpPr>
          <p:spPr>
            <a:xfrm flipH="false" flipV="false" rot="0">
              <a:off x="0" y="0"/>
              <a:ext cx="6578600" cy="4684395"/>
            </a:xfrm>
            <a:custGeom>
              <a:avLst/>
              <a:gdLst/>
              <a:ahLst/>
              <a:cxnLst/>
              <a:rect r="r" b="b" t="t" l="l"/>
              <a:pathLst>
                <a:path h="4684395" w="6578600">
                  <a:moveTo>
                    <a:pt x="0" y="0"/>
                  </a:moveTo>
                  <a:lnTo>
                    <a:pt x="6578600" y="0"/>
                  </a:lnTo>
                  <a:lnTo>
                    <a:pt x="6578600" y="4684395"/>
                  </a:lnTo>
                  <a:lnTo>
                    <a:pt x="0" y="4684395"/>
                  </a:lnTo>
                  <a:lnTo>
                    <a:pt x="0" y="0"/>
                  </a:lnTo>
                  <a:close/>
                </a:path>
              </a:pathLst>
            </a:custGeom>
            <a:blipFill>
              <a:blip r:embed="rId2"/>
              <a:stretch>
                <a:fillRect l="0" t="-582" r="0" b="0"/>
              </a:stretch>
            </a:blipFill>
          </p:spPr>
        </p:sp>
      </p:grpSp>
      <p:grpSp>
        <p:nvGrpSpPr>
          <p:cNvPr name="Group 4" id="4"/>
          <p:cNvGrpSpPr/>
          <p:nvPr/>
        </p:nvGrpSpPr>
        <p:grpSpPr>
          <a:xfrm rot="0">
            <a:off x="10731379" y="6515671"/>
            <a:ext cx="4162425" cy="3705225"/>
            <a:chOff x="0" y="0"/>
            <a:chExt cx="5549900" cy="4940300"/>
          </a:xfrm>
        </p:grpSpPr>
        <p:sp>
          <p:nvSpPr>
            <p:cNvPr name="Freeform 5" id="5"/>
            <p:cNvSpPr/>
            <p:nvPr/>
          </p:nvSpPr>
          <p:spPr>
            <a:xfrm flipH="false" flipV="false" rot="0">
              <a:off x="0" y="0"/>
              <a:ext cx="5549900" cy="4940300"/>
            </a:xfrm>
            <a:custGeom>
              <a:avLst/>
              <a:gdLst/>
              <a:ahLst/>
              <a:cxnLst/>
              <a:rect r="r" b="b" t="t" l="l"/>
              <a:pathLst>
                <a:path h="4940300" w="5549900">
                  <a:moveTo>
                    <a:pt x="0" y="0"/>
                  </a:moveTo>
                  <a:lnTo>
                    <a:pt x="5549900" y="0"/>
                  </a:lnTo>
                  <a:lnTo>
                    <a:pt x="5549900" y="4940300"/>
                  </a:lnTo>
                  <a:lnTo>
                    <a:pt x="0" y="4940300"/>
                  </a:lnTo>
                  <a:lnTo>
                    <a:pt x="0" y="0"/>
                  </a:lnTo>
                  <a:close/>
                </a:path>
              </a:pathLst>
            </a:custGeom>
            <a:blipFill>
              <a:blip r:embed="rId3"/>
              <a:stretch>
                <a:fillRect l="0" t="0" r="0" b="0"/>
              </a:stretch>
            </a:blipFill>
          </p:spPr>
        </p:sp>
      </p:grpSp>
      <p:sp>
        <p:nvSpPr>
          <p:cNvPr name="TextBox 6" id="6"/>
          <p:cNvSpPr txBox="true"/>
          <p:nvPr/>
        </p:nvSpPr>
        <p:spPr>
          <a:xfrm rot="0">
            <a:off x="1217981" y="102660"/>
            <a:ext cx="2012823" cy="297475"/>
          </a:xfrm>
          <a:prstGeom prst="rect">
            <a:avLst/>
          </a:prstGeom>
        </p:spPr>
        <p:txBody>
          <a:bodyPr anchor="t" rtlCol="false" tIns="0" lIns="0" bIns="0" rIns="0">
            <a:spAutoFit/>
          </a:bodyPr>
          <a:lstStyle/>
          <a:p>
            <a:pPr algn="l">
              <a:lnSpc>
                <a:spcPts val="2135"/>
              </a:lnSpc>
            </a:pPr>
            <a:r>
              <a:rPr lang="en-US" sz="1525">
                <a:solidFill>
                  <a:srgbClr val="000000"/>
                </a:solidFill>
                <a:latin typeface="CanvaSansSC-Regular"/>
                <a:ea typeface="CanvaSansSC-Regular"/>
                <a:cs typeface="CanvaSansSC-Regular"/>
                <a:sym typeface="CanvaSansSC-Regular"/>
              </a:rPr>
              <a:t>Place (Distribution):-</a:t>
            </a:r>
          </a:p>
        </p:txBody>
      </p:sp>
      <p:sp>
        <p:nvSpPr>
          <p:cNvPr name="TextBox 7" id="7"/>
          <p:cNvSpPr txBox="true"/>
          <p:nvPr/>
        </p:nvSpPr>
        <p:spPr>
          <a:xfrm rot="0">
            <a:off x="1217981" y="636060"/>
            <a:ext cx="12259113" cy="564175"/>
          </a:xfrm>
          <a:prstGeom prst="rect">
            <a:avLst/>
          </a:prstGeom>
        </p:spPr>
        <p:txBody>
          <a:bodyPr anchor="t" rtlCol="false" tIns="0" lIns="0" bIns="0" rIns="0">
            <a:spAutoFit/>
          </a:bodyPr>
          <a:lstStyle/>
          <a:p>
            <a:pPr algn="l">
              <a:lnSpc>
                <a:spcPts val="2100"/>
              </a:lnSpc>
            </a:pPr>
            <a:r>
              <a:rPr lang="en-US" sz="1525">
                <a:solidFill>
                  <a:srgbClr val="000000"/>
                </a:solidFill>
                <a:latin typeface="CanvaSansSC-Regular"/>
                <a:ea typeface="CanvaSansSC-Regular"/>
                <a:cs typeface="CanvaSansSC-Regular"/>
                <a:sym typeface="CanvaSansSC-Regular"/>
              </a:rPr>
              <a:t>Extensive network: Dabur has one of the largest distribution networks in India, covering approximately 6 million retail outlets in both rural and urban areas across over 100 countries.</a:t>
            </a:r>
          </a:p>
        </p:txBody>
      </p:sp>
      <p:sp>
        <p:nvSpPr>
          <p:cNvPr name="TextBox 8" id="8"/>
          <p:cNvSpPr txBox="true"/>
          <p:nvPr/>
        </p:nvSpPr>
        <p:spPr>
          <a:xfrm rot="0">
            <a:off x="1217981" y="1436160"/>
            <a:ext cx="11926205" cy="564175"/>
          </a:xfrm>
          <a:prstGeom prst="rect">
            <a:avLst/>
          </a:prstGeom>
        </p:spPr>
        <p:txBody>
          <a:bodyPr anchor="t" rtlCol="false" tIns="0" lIns="0" bIns="0" rIns="0">
            <a:spAutoFit/>
          </a:bodyPr>
          <a:lstStyle/>
          <a:p>
            <a:pPr algn="l">
              <a:lnSpc>
                <a:spcPts val="2100"/>
              </a:lnSpc>
            </a:pPr>
            <a:r>
              <a:rPr lang="en-US" sz="1525">
                <a:solidFill>
                  <a:srgbClr val="000000"/>
                </a:solidFill>
                <a:latin typeface="CanvaSansSC-Regular"/>
                <a:ea typeface="CanvaSansSC-Regular"/>
                <a:cs typeface="CanvaSansSC-Regular"/>
                <a:sym typeface="CanvaSansSC-Regular"/>
              </a:rPr>
              <a:t>Multi-channel approach: The company distributes through a network of manufacturers, wholesalers, and retailers, as well as through e-commerce platforms. </a:t>
            </a:r>
          </a:p>
        </p:txBody>
      </p:sp>
      <p:sp>
        <p:nvSpPr>
          <p:cNvPr name="TextBox 9" id="9"/>
          <p:cNvSpPr txBox="true"/>
          <p:nvPr/>
        </p:nvSpPr>
        <p:spPr>
          <a:xfrm rot="0">
            <a:off x="1217981" y="2236260"/>
            <a:ext cx="12147252" cy="830875"/>
          </a:xfrm>
          <a:prstGeom prst="rect">
            <a:avLst/>
          </a:prstGeom>
        </p:spPr>
        <p:txBody>
          <a:bodyPr anchor="t" rtlCol="false" tIns="0" lIns="0" bIns="0" rIns="0">
            <a:spAutoFit/>
          </a:bodyPr>
          <a:lstStyle/>
          <a:p>
            <a:pPr algn="l">
              <a:lnSpc>
                <a:spcPts val="2100"/>
              </a:lnSpc>
            </a:pPr>
            <a:r>
              <a:rPr lang="en-US" sz="1525">
                <a:solidFill>
                  <a:srgbClr val="000000"/>
                </a:solidFill>
                <a:latin typeface="CanvaSansSC-Regular"/>
                <a:ea typeface="CanvaSansSC-Regular"/>
                <a:cs typeface="CanvaSansSC-Regular"/>
                <a:sym typeface="CanvaSansSC-Regular"/>
              </a:rPr>
              <a:t>Promotion:-</a:t>
            </a:r>
          </a:p>
          <a:p>
            <a:pPr algn="l">
              <a:lnSpc>
                <a:spcPts val="2100"/>
              </a:lnSpc>
            </a:pPr>
            <a:r>
              <a:rPr lang="en-US" sz="1525">
                <a:solidFill>
                  <a:srgbClr val="000000"/>
                </a:solidFill>
                <a:latin typeface="CanvaSansSC-Regular"/>
                <a:ea typeface="CanvaSansSC-Regular"/>
                <a:cs typeface="CanvaSansSC-Regular"/>
                <a:sym typeface="CanvaSansSC-Regular"/>
              </a:rPr>
              <a:t>Celebrity endorsements: A key strategy is using famous celebrities and sports figures to endorse its products, such as Amitabh Bachchan for Chyawanprash and Hajmola, and Sonakshi Sinha for Vatika.</a:t>
            </a:r>
          </a:p>
        </p:txBody>
      </p:sp>
      <p:sp>
        <p:nvSpPr>
          <p:cNvPr name="TextBox 10" id="10"/>
          <p:cNvSpPr txBox="true"/>
          <p:nvPr/>
        </p:nvSpPr>
        <p:spPr>
          <a:xfrm rot="0">
            <a:off x="1217981" y="3303060"/>
            <a:ext cx="11448193" cy="564175"/>
          </a:xfrm>
          <a:prstGeom prst="rect">
            <a:avLst/>
          </a:prstGeom>
        </p:spPr>
        <p:txBody>
          <a:bodyPr anchor="t" rtlCol="false" tIns="0" lIns="0" bIns="0" rIns="0">
            <a:spAutoFit/>
          </a:bodyPr>
          <a:lstStyle/>
          <a:p>
            <a:pPr algn="l">
              <a:lnSpc>
                <a:spcPts val="2100"/>
              </a:lnSpc>
            </a:pPr>
            <a:r>
              <a:rPr lang="en-US" sz="1525">
                <a:solidFill>
                  <a:srgbClr val="000000"/>
                </a:solidFill>
                <a:latin typeface="CanvaSansSC-Regular"/>
                <a:ea typeface="CanvaSansSC-Regular"/>
                <a:cs typeface="CanvaSansSC-Regular"/>
                <a:sym typeface="CanvaSansSC-Regular"/>
              </a:rPr>
              <a:t>Traditional media: Dabur runs advertisements on television and in newspapers, and uses hoardings at retail outlets and supermarkets.</a:t>
            </a:r>
          </a:p>
        </p:txBody>
      </p:sp>
      <p:sp>
        <p:nvSpPr>
          <p:cNvPr name="TextBox 11" id="11"/>
          <p:cNvSpPr txBox="true"/>
          <p:nvPr/>
        </p:nvSpPr>
        <p:spPr>
          <a:xfrm rot="0">
            <a:off x="1217981" y="4103160"/>
            <a:ext cx="12011568" cy="564175"/>
          </a:xfrm>
          <a:prstGeom prst="rect">
            <a:avLst/>
          </a:prstGeom>
        </p:spPr>
        <p:txBody>
          <a:bodyPr anchor="t" rtlCol="false" tIns="0" lIns="0" bIns="0" rIns="0">
            <a:spAutoFit/>
          </a:bodyPr>
          <a:lstStyle/>
          <a:p>
            <a:pPr algn="l">
              <a:lnSpc>
                <a:spcPts val="2100"/>
              </a:lnSpc>
            </a:pPr>
            <a:r>
              <a:rPr lang="en-US" sz="1525">
                <a:solidFill>
                  <a:srgbClr val="000000"/>
                </a:solidFill>
                <a:latin typeface="CanvaSansSC-Regular"/>
                <a:ea typeface="CanvaSansSC-Regular"/>
                <a:cs typeface="CanvaSansSC-Regular"/>
                <a:sym typeface="CanvaSansSC-Regular"/>
              </a:rPr>
              <a:t>Digital marketing: The company actively promotes its products through social media platforms like Facebook, Instagram, and Twitter, and uses platforms like YouTube for campaigns.</a:t>
            </a:r>
          </a:p>
        </p:txBody>
      </p:sp>
      <p:sp>
        <p:nvSpPr>
          <p:cNvPr name="TextBox 12" id="12"/>
          <p:cNvSpPr txBox="true"/>
          <p:nvPr/>
        </p:nvSpPr>
        <p:spPr>
          <a:xfrm rot="0">
            <a:off x="1217981" y="4903260"/>
            <a:ext cx="12128725" cy="564175"/>
          </a:xfrm>
          <a:prstGeom prst="rect">
            <a:avLst/>
          </a:prstGeom>
        </p:spPr>
        <p:txBody>
          <a:bodyPr anchor="t" rtlCol="false" tIns="0" lIns="0" bIns="0" rIns="0">
            <a:spAutoFit/>
          </a:bodyPr>
          <a:lstStyle/>
          <a:p>
            <a:pPr algn="l">
              <a:lnSpc>
                <a:spcPts val="2100"/>
              </a:lnSpc>
            </a:pPr>
            <a:r>
              <a:rPr lang="en-US" sz="1525">
                <a:solidFill>
                  <a:srgbClr val="000000"/>
                </a:solidFill>
                <a:latin typeface="CanvaSansSC-Regular"/>
                <a:ea typeface="CanvaSansSC-Regular"/>
                <a:cs typeface="CanvaSansSC-Regular"/>
                <a:sym typeface="CanvaSansSC-Regular"/>
              </a:rPr>
              <a:t>Corporate social responsibility campaigns: Dabur also engages in promotional campaigns that align with social causes, such as "Make your winter healthy with Dabur Chyawanprash" or joining hands with government initiatives. </a:t>
            </a:r>
          </a:p>
        </p:txBody>
      </p:sp>
      <p:sp>
        <p:nvSpPr>
          <p:cNvPr name="TextBox 13" id="13"/>
          <p:cNvSpPr txBox="true"/>
          <p:nvPr/>
        </p:nvSpPr>
        <p:spPr>
          <a:xfrm rot="0">
            <a:off x="1024785" y="5719734"/>
            <a:ext cx="11429867" cy="782993"/>
          </a:xfrm>
          <a:prstGeom prst="rect">
            <a:avLst/>
          </a:prstGeom>
        </p:spPr>
        <p:txBody>
          <a:bodyPr anchor="t" rtlCol="false" tIns="0" lIns="0" bIns="0" rIns="0">
            <a:spAutoFit/>
          </a:bodyPr>
          <a:lstStyle/>
          <a:p>
            <a:pPr algn="ctr">
              <a:lnSpc>
                <a:spcPts val="2924"/>
              </a:lnSpc>
            </a:pPr>
            <a:r>
              <a:rPr lang="en-US" sz="2128">
                <a:solidFill>
                  <a:srgbClr val="000000"/>
                </a:solidFill>
                <a:latin typeface="CanvaSansSC-Regular"/>
                <a:ea typeface="CanvaSansSC-Regular"/>
                <a:cs typeface="CanvaSansSC-Regular"/>
                <a:sym typeface="CanvaSansSC-Regular"/>
              </a:rPr>
              <a:t>Competition: HUL, Marico, Patanjali, Emami &amp; Himalaya remain strong competitors in personal care, oral care &amp; wellness.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D9A85F"/>
        </a:solidFill>
      </p:bgPr>
    </p:bg>
    <p:spTree>
      <p:nvGrpSpPr>
        <p:cNvPr id="1" name=""/>
        <p:cNvGrpSpPr/>
        <p:nvPr/>
      </p:nvGrpSpPr>
      <p:grpSpPr>
        <a:xfrm>
          <a:off x="0" y="0"/>
          <a:ext cx="0" cy="0"/>
          <a:chOff x="0" y="0"/>
          <a:chExt cx="0" cy="0"/>
        </a:xfrm>
      </p:grpSpPr>
      <p:grpSp>
        <p:nvGrpSpPr>
          <p:cNvPr name="Group 2" id="2"/>
          <p:cNvGrpSpPr/>
          <p:nvPr/>
        </p:nvGrpSpPr>
        <p:grpSpPr>
          <a:xfrm rot="0">
            <a:off x="136579" y="150476"/>
            <a:ext cx="6096000" cy="6448425"/>
            <a:chOff x="0" y="0"/>
            <a:chExt cx="8128000" cy="8597900"/>
          </a:xfrm>
        </p:grpSpPr>
        <p:sp>
          <p:nvSpPr>
            <p:cNvPr name="Freeform 3" id="3"/>
            <p:cNvSpPr/>
            <p:nvPr/>
          </p:nvSpPr>
          <p:spPr>
            <a:xfrm flipH="false" flipV="false" rot="0">
              <a:off x="0" y="0"/>
              <a:ext cx="8128000" cy="8597900"/>
            </a:xfrm>
            <a:custGeom>
              <a:avLst/>
              <a:gdLst/>
              <a:ahLst/>
              <a:cxnLst/>
              <a:rect r="r" b="b" t="t" l="l"/>
              <a:pathLst>
                <a:path h="8597900" w="8128000">
                  <a:moveTo>
                    <a:pt x="0" y="0"/>
                  </a:moveTo>
                  <a:lnTo>
                    <a:pt x="8128000" y="0"/>
                  </a:lnTo>
                  <a:lnTo>
                    <a:pt x="8128000" y="8597900"/>
                  </a:lnTo>
                  <a:lnTo>
                    <a:pt x="0" y="8597900"/>
                  </a:lnTo>
                  <a:lnTo>
                    <a:pt x="0" y="0"/>
                  </a:lnTo>
                  <a:close/>
                </a:path>
              </a:pathLst>
            </a:custGeom>
            <a:blipFill>
              <a:blip r:embed="rId2"/>
              <a:stretch>
                <a:fillRect l="-1451" t="0" r="-5423" b="-3249"/>
              </a:stretch>
            </a:blipFill>
          </p:spPr>
        </p:sp>
      </p:grpSp>
      <p:grpSp>
        <p:nvGrpSpPr>
          <p:cNvPr name="Group 4" id="4"/>
          <p:cNvGrpSpPr/>
          <p:nvPr/>
        </p:nvGrpSpPr>
        <p:grpSpPr>
          <a:xfrm rot="0">
            <a:off x="416509" y="6756949"/>
            <a:ext cx="5534025" cy="2705100"/>
            <a:chOff x="0" y="0"/>
            <a:chExt cx="7378700" cy="3606800"/>
          </a:xfrm>
        </p:grpSpPr>
        <p:sp>
          <p:nvSpPr>
            <p:cNvPr name="Freeform 5" id="5"/>
            <p:cNvSpPr/>
            <p:nvPr/>
          </p:nvSpPr>
          <p:spPr>
            <a:xfrm flipH="false" flipV="false" rot="0">
              <a:off x="0" y="0"/>
              <a:ext cx="7378700" cy="3606800"/>
            </a:xfrm>
            <a:custGeom>
              <a:avLst/>
              <a:gdLst/>
              <a:ahLst/>
              <a:cxnLst/>
              <a:rect r="r" b="b" t="t" l="l"/>
              <a:pathLst>
                <a:path h="3606800" w="7378700">
                  <a:moveTo>
                    <a:pt x="0" y="0"/>
                  </a:moveTo>
                  <a:lnTo>
                    <a:pt x="7378700" y="0"/>
                  </a:lnTo>
                  <a:lnTo>
                    <a:pt x="7378700" y="3606800"/>
                  </a:lnTo>
                  <a:lnTo>
                    <a:pt x="0" y="3606800"/>
                  </a:lnTo>
                  <a:lnTo>
                    <a:pt x="0" y="0"/>
                  </a:lnTo>
                  <a:close/>
                </a:path>
              </a:pathLst>
            </a:custGeom>
            <a:blipFill>
              <a:blip r:embed="rId3"/>
              <a:stretch>
                <a:fillRect l="0" t="0" r="0" b="0"/>
              </a:stretch>
            </a:blipFill>
          </p:spPr>
        </p:sp>
      </p:grpSp>
      <p:grpSp>
        <p:nvGrpSpPr>
          <p:cNvPr name="Group 6" id="6"/>
          <p:cNvGrpSpPr/>
          <p:nvPr/>
        </p:nvGrpSpPr>
        <p:grpSpPr>
          <a:xfrm rot="0">
            <a:off x="16155229" y="0"/>
            <a:ext cx="1838325" cy="1696907"/>
            <a:chOff x="0" y="0"/>
            <a:chExt cx="2451100" cy="2262543"/>
          </a:xfrm>
        </p:grpSpPr>
        <p:sp>
          <p:nvSpPr>
            <p:cNvPr name="Freeform 7" id="7"/>
            <p:cNvSpPr/>
            <p:nvPr/>
          </p:nvSpPr>
          <p:spPr>
            <a:xfrm flipH="false" flipV="false" rot="0">
              <a:off x="0" y="0"/>
              <a:ext cx="2451100" cy="2262505"/>
            </a:xfrm>
            <a:custGeom>
              <a:avLst/>
              <a:gdLst/>
              <a:ahLst/>
              <a:cxnLst/>
              <a:rect r="r" b="b" t="t" l="l"/>
              <a:pathLst>
                <a:path h="2262505" w="2451100">
                  <a:moveTo>
                    <a:pt x="0" y="0"/>
                  </a:moveTo>
                  <a:lnTo>
                    <a:pt x="2451100" y="0"/>
                  </a:lnTo>
                  <a:lnTo>
                    <a:pt x="2451100" y="2262505"/>
                  </a:lnTo>
                  <a:lnTo>
                    <a:pt x="0" y="2262505"/>
                  </a:lnTo>
                  <a:lnTo>
                    <a:pt x="0" y="0"/>
                  </a:lnTo>
                  <a:close/>
                </a:path>
              </a:pathLst>
            </a:custGeom>
            <a:blipFill>
              <a:blip r:embed="rId4"/>
              <a:stretch>
                <a:fillRect l="-61927" t="-9439" r="-65533" b="-12368"/>
              </a:stretch>
            </a:blipFill>
          </p:spPr>
        </p:sp>
      </p:grpSp>
      <p:sp>
        <p:nvSpPr>
          <p:cNvPr name="TextBox 8" id="8"/>
          <p:cNvSpPr txBox="true"/>
          <p:nvPr/>
        </p:nvSpPr>
        <p:spPr>
          <a:xfrm rot="0">
            <a:off x="11803694" y="707527"/>
            <a:ext cx="125959" cy="792385"/>
          </a:xfrm>
          <a:prstGeom prst="rect">
            <a:avLst/>
          </a:prstGeom>
        </p:spPr>
        <p:txBody>
          <a:bodyPr anchor="t" rtlCol="false" tIns="0" lIns="0" bIns="0" rIns="0">
            <a:spAutoFit/>
          </a:bodyPr>
          <a:lstStyle/>
          <a:p>
            <a:pPr algn="l">
              <a:lnSpc>
                <a:spcPts val="5772"/>
              </a:lnSpc>
            </a:pPr>
            <a:r>
              <a:rPr lang="en-US" sz="4122">
                <a:solidFill>
                  <a:srgbClr val="FFFFFF"/>
                </a:solidFill>
                <a:latin typeface="CanvaSansSC-Regular"/>
                <a:ea typeface="CanvaSansSC-Regular"/>
                <a:cs typeface="CanvaSansSC-Regular"/>
                <a:sym typeface="CanvaSansSC-Regular"/>
              </a:rPr>
              <a:t> </a:t>
            </a:r>
          </a:p>
        </p:txBody>
      </p:sp>
      <p:sp>
        <p:nvSpPr>
          <p:cNvPr name="TextBox 9" id="9"/>
          <p:cNvSpPr txBox="true"/>
          <p:nvPr/>
        </p:nvSpPr>
        <p:spPr>
          <a:xfrm rot="0">
            <a:off x="6498584" y="1292200"/>
            <a:ext cx="11720312" cy="1059675"/>
          </a:xfrm>
          <a:prstGeom prst="rect">
            <a:avLst/>
          </a:prstGeom>
        </p:spPr>
        <p:txBody>
          <a:bodyPr anchor="t" rtlCol="false" tIns="0" lIns="0" bIns="0" rIns="0">
            <a:spAutoFit/>
          </a:bodyPr>
          <a:lstStyle/>
          <a:p>
            <a:pPr algn="l">
              <a:lnSpc>
                <a:spcPts val="2700"/>
              </a:lnSpc>
            </a:pPr>
            <a:r>
              <a:rPr lang="en-US" sz="1950">
                <a:solidFill>
                  <a:srgbClr val="000000"/>
                </a:solidFill>
                <a:latin typeface="CanvaSansSC-Regular"/>
                <a:ea typeface="CanvaSansSC-Regular"/>
                <a:cs typeface="CanvaSansSC-Regular"/>
                <a:sym typeface="CanvaSansSC-Regular"/>
              </a:rPr>
              <a:t>• Strategic Role:</a:t>
            </a:r>
          </a:p>
          <a:p>
            <a:pPr algn="l">
              <a:lnSpc>
                <a:spcPts val="2700"/>
              </a:lnSpc>
            </a:pPr>
            <a:r>
              <a:rPr lang="en-US" sz="1950">
                <a:solidFill>
                  <a:srgbClr val="000000"/>
                </a:solidFill>
                <a:latin typeface="CanvaSansSC-Regular"/>
                <a:ea typeface="CanvaSansSC-Regular"/>
                <a:cs typeface="CanvaSansSC-Regular"/>
                <a:sym typeface="CanvaSansSC-Regular"/>
              </a:rPr>
              <a:t>Drives a performance-driven, employee-centric culture supporting Dabur’s global FMCG operations across 120+ countries.</a:t>
            </a:r>
          </a:p>
        </p:txBody>
      </p:sp>
      <p:sp>
        <p:nvSpPr>
          <p:cNvPr name="TextBox 10" id="10"/>
          <p:cNvSpPr txBox="true"/>
          <p:nvPr/>
        </p:nvSpPr>
        <p:spPr>
          <a:xfrm rot="0">
            <a:off x="6498584" y="2663800"/>
            <a:ext cx="11476415" cy="716775"/>
          </a:xfrm>
          <a:prstGeom prst="rect">
            <a:avLst/>
          </a:prstGeom>
        </p:spPr>
        <p:txBody>
          <a:bodyPr anchor="t" rtlCol="false" tIns="0" lIns="0" bIns="0" rIns="0">
            <a:spAutoFit/>
          </a:bodyPr>
          <a:lstStyle/>
          <a:p>
            <a:pPr algn="l">
              <a:lnSpc>
                <a:spcPts val="2700"/>
              </a:lnSpc>
            </a:pPr>
            <a:r>
              <a:rPr lang="en-US" sz="1950">
                <a:solidFill>
                  <a:srgbClr val="000000"/>
                </a:solidFill>
                <a:latin typeface="CanvaSansSC-Regular"/>
                <a:ea typeface="CanvaSansSC-Regular"/>
                <a:cs typeface="CanvaSansSC-Regular"/>
                <a:sym typeface="CanvaSansSC-Regular"/>
              </a:rPr>
              <a:t>• Structure:</a:t>
            </a:r>
          </a:p>
          <a:p>
            <a:pPr algn="l">
              <a:lnSpc>
                <a:spcPts val="2700"/>
              </a:lnSpc>
            </a:pPr>
            <a:r>
              <a:rPr lang="en-US" sz="1950">
                <a:solidFill>
                  <a:srgbClr val="000000"/>
                </a:solidFill>
                <a:latin typeface="CanvaSansSC-Regular"/>
                <a:ea typeface="CanvaSansSC-Regular"/>
                <a:cs typeface="CanvaSansSC-Regular"/>
                <a:sym typeface="CanvaSansSC-Regular"/>
              </a:rPr>
              <a:t>CHRO → HR Business Partners, Talent Acquisition, L&amp;D, Payroll, IR, Engagement, HR Analytics.</a:t>
            </a:r>
          </a:p>
        </p:txBody>
      </p:sp>
      <p:sp>
        <p:nvSpPr>
          <p:cNvPr name="TextBox 11" id="11"/>
          <p:cNvSpPr txBox="true"/>
          <p:nvPr/>
        </p:nvSpPr>
        <p:spPr>
          <a:xfrm rot="0">
            <a:off x="6498584" y="3692500"/>
            <a:ext cx="11720274" cy="1059675"/>
          </a:xfrm>
          <a:prstGeom prst="rect">
            <a:avLst/>
          </a:prstGeom>
        </p:spPr>
        <p:txBody>
          <a:bodyPr anchor="t" rtlCol="false" tIns="0" lIns="0" bIns="0" rIns="0">
            <a:spAutoFit/>
          </a:bodyPr>
          <a:lstStyle/>
          <a:p>
            <a:pPr algn="l">
              <a:lnSpc>
                <a:spcPts val="2700"/>
              </a:lnSpc>
            </a:pPr>
            <a:r>
              <a:rPr lang="en-US" sz="1950">
                <a:solidFill>
                  <a:srgbClr val="000000"/>
                </a:solidFill>
                <a:latin typeface="CanvaSansSC-Regular"/>
                <a:ea typeface="CanvaSansSC-Regular"/>
                <a:cs typeface="CanvaSansSC-Regular"/>
                <a:sym typeface="CanvaSansSC-Regular"/>
              </a:rPr>
              <a:t>• Key Functions:</a:t>
            </a:r>
          </a:p>
          <a:p>
            <a:pPr algn="l">
              <a:lnSpc>
                <a:spcPts val="2700"/>
              </a:lnSpc>
            </a:pPr>
            <a:r>
              <a:rPr lang="en-US" sz="1950">
                <a:solidFill>
                  <a:srgbClr val="000000"/>
                </a:solidFill>
                <a:latin typeface="CanvaSansSC-Regular"/>
                <a:ea typeface="CanvaSansSC-Regular"/>
                <a:cs typeface="CanvaSansSC-Regular"/>
                <a:sym typeface="CanvaSansSC-Regular"/>
              </a:rPr>
              <a:t>Recruitment &amp; selection, training &amp; capability building, performance management (KPI/MBO), compensation &amp; benefits, labour law compliance, employee relations, welfare, and HRIS.</a:t>
            </a:r>
          </a:p>
        </p:txBody>
      </p:sp>
      <p:sp>
        <p:nvSpPr>
          <p:cNvPr name="TextBox 12" id="12"/>
          <p:cNvSpPr txBox="true"/>
          <p:nvPr/>
        </p:nvSpPr>
        <p:spPr>
          <a:xfrm rot="0">
            <a:off x="6498584" y="5064100"/>
            <a:ext cx="11720274" cy="1059675"/>
          </a:xfrm>
          <a:prstGeom prst="rect">
            <a:avLst/>
          </a:prstGeom>
        </p:spPr>
        <p:txBody>
          <a:bodyPr anchor="t" rtlCol="false" tIns="0" lIns="0" bIns="0" rIns="0">
            <a:spAutoFit/>
          </a:bodyPr>
          <a:lstStyle/>
          <a:p>
            <a:pPr algn="l">
              <a:lnSpc>
                <a:spcPts val="2700"/>
              </a:lnSpc>
            </a:pPr>
            <a:r>
              <a:rPr lang="en-US" sz="1950">
                <a:solidFill>
                  <a:srgbClr val="000000"/>
                </a:solidFill>
                <a:latin typeface="CanvaSansSC-Regular"/>
                <a:ea typeface="CanvaSansSC-Regular"/>
                <a:cs typeface="CanvaSansSC-Regular"/>
                <a:sym typeface="CanvaSansSC-Regular"/>
              </a:rPr>
              <a:t>• Major HR Practices:</a:t>
            </a:r>
          </a:p>
          <a:p>
            <a:pPr algn="l">
              <a:lnSpc>
                <a:spcPts val="2700"/>
              </a:lnSpc>
            </a:pPr>
            <a:r>
              <a:rPr lang="en-US" sz="1950">
                <a:solidFill>
                  <a:srgbClr val="000000"/>
                </a:solidFill>
                <a:latin typeface="CanvaSansSC-Regular"/>
                <a:ea typeface="CanvaSansSC-Regular"/>
                <a:cs typeface="CanvaSansSC-Regular"/>
                <a:sym typeface="CanvaSansSC-Regular"/>
              </a:rPr>
              <a:t>Campus &amp; lateral hiring, annual TNA, leadership development, 360° feedback, digitized payroll, and data-driven HR dashboards.</a:t>
            </a:r>
          </a:p>
        </p:txBody>
      </p:sp>
      <p:sp>
        <p:nvSpPr>
          <p:cNvPr name="TextBox 13" id="13"/>
          <p:cNvSpPr txBox="true"/>
          <p:nvPr/>
        </p:nvSpPr>
        <p:spPr>
          <a:xfrm rot="0">
            <a:off x="6498584" y="6435700"/>
            <a:ext cx="11720332" cy="1059675"/>
          </a:xfrm>
          <a:prstGeom prst="rect">
            <a:avLst/>
          </a:prstGeom>
        </p:spPr>
        <p:txBody>
          <a:bodyPr anchor="t" rtlCol="false" tIns="0" lIns="0" bIns="0" rIns="0">
            <a:spAutoFit/>
          </a:bodyPr>
          <a:lstStyle/>
          <a:p>
            <a:pPr algn="l">
              <a:lnSpc>
                <a:spcPts val="2700"/>
              </a:lnSpc>
            </a:pPr>
            <a:r>
              <a:rPr lang="en-US" sz="1950">
                <a:solidFill>
                  <a:srgbClr val="000000"/>
                </a:solidFill>
                <a:latin typeface="CanvaSansSC-Regular"/>
                <a:ea typeface="CanvaSansSC-Regular"/>
                <a:cs typeface="CanvaSansSC-Regular"/>
                <a:sym typeface="CanvaSansSC-Regular"/>
              </a:rPr>
              <a:t>• Employee Welfare &amp; Culture:</a:t>
            </a:r>
          </a:p>
          <a:p>
            <a:pPr algn="l">
              <a:lnSpc>
                <a:spcPts val="2700"/>
              </a:lnSpc>
            </a:pPr>
            <a:r>
              <a:rPr lang="en-US" sz="1950">
                <a:solidFill>
                  <a:srgbClr val="000000"/>
                </a:solidFill>
                <a:latin typeface="CanvaSansSC-Regular"/>
                <a:ea typeface="CanvaSansSC-Regular"/>
                <a:cs typeface="CanvaSansSC-Regular"/>
                <a:sym typeface="CanvaSansSC-Regular"/>
              </a:rPr>
              <a:t>Strong engagement programs, recognition schemes, health &amp; safety initiatives, wellness activities, and value-driven Ayurveda-based culture.</a:t>
            </a:r>
          </a:p>
        </p:txBody>
      </p:sp>
      <p:sp>
        <p:nvSpPr>
          <p:cNvPr name="TextBox 14" id="14"/>
          <p:cNvSpPr txBox="true"/>
          <p:nvPr/>
        </p:nvSpPr>
        <p:spPr>
          <a:xfrm rot="0">
            <a:off x="6498584" y="7807300"/>
            <a:ext cx="11720322" cy="1059675"/>
          </a:xfrm>
          <a:prstGeom prst="rect">
            <a:avLst/>
          </a:prstGeom>
        </p:spPr>
        <p:txBody>
          <a:bodyPr anchor="t" rtlCol="false" tIns="0" lIns="0" bIns="0" rIns="0">
            <a:spAutoFit/>
          </a:bodyPr>
          <a:lstStyle/>
          <a:p>
            <a:pPr algn="l">
              <a:lnSpc>
                <a:spcPts val="2700"/>
              </a:lnSpc>
            </a:pPr>
            <a:r>
              <a:rPr lang="en-US" sz="1950">
                <a:solidFill>
                  <a:srgbClr val="000000"/>
                </a:solidFill>
                <a:latin typeface="CanvaSansSC-Regular"/>
                <a:ea typeface="CanvaSansSC-Regular"/>
                <a:cs typeface="CanvaSansSC-Regular"/>
                <a:sym typeface="CanvaSansSC-Regular"/>
              </a:rPr>
              <a:t>• Technology Use:</a:t>
            </a:r>
          </a:p>
          <a:p>
            <a:pPr algn="l">
              <a:lnSpc>
                <a:spcPts val="2700"/>
              </a:lnSpc>
            </a:pPr>
            <a:r>
              <a:rPr lang="en-US" sz="1950">
                <a:solidFill>
                  <a:srgbClr val="000000"/>
                </a:solidFill>
                <a:latin typeface="CanvaSansSC-Regular"/>
                <a:ea typeface="CanvaSansSC-Regular"/>
                <a:cs typeface="CanvaSansSC-Regular"/>
                <a:sym typeface="CanvaSansSC-Regular"/>
              </a:rPr>
              <a:t>HRMS for payroll/attendance, e-learning platforms, digital recruitment, mobile ESS, HR analytics for forecasting.</a:t>
            </a:r>
          </a:p>
        </p:txBody>
      </p:sp>
      <p:sp>
        <p:nvSpPr>
          <p:cNvPr name="TextBox 15" id="15"/>
          <p:cNvSpPr txBox="true"/>
          <p:nvPr/>
        </p:nvSpPr>
        <p:spPr>
          <a:xfrm rot="0">
            <a:off x="6498584" y="9178900"/>
            <a:ext cx="11720303" cy="1059675"/>
          </a:xfrm>
          <a:prstGeom prst="rect">
            <a:avLst/>
          </a:prstGeom>
        </p:spPr>
        <p:txBody>
          <a:bodyPr anchor="t" rtlCol="false" tIns="0" lIns="0" bIns="0" rIns="0">
            <a:spAutoFit/>
          </a:bodyPr>
          <a:lstStyle/>
          <a:p>
            <a:pPr algn="l">
              <a:lnSpc>
                <a:spcPts val="2700"/>
              </a:lnSpc>
            </a:pPr>
            <a:r>
              <a:rPr lang="en-US" sz="1950">
                <a:solidFill>
                  <a:srgbClr val="000000"/>
                </a:solidFill>
                <a:latin typeface="CanvaSansSC-Regular"/>
                <a:ea typeface="CanvaSansSC-Regular"/>
                <a:cs typeface="CanvaSansSC-Regular"/>
                <a:sym typeface="CanvaSansSC-Regular"/>
              </a:rPr>
              <a:t>• Current HR Focus Areas:</a:t>
            </a:r>
          </a:p>
          <a:p>
            <a:pPr algn="l">
              <a:lnSpc>
                <a:spcPts val="2700"/>
              </a:lnSpc>
            </a:pPr>
            <a:r>
              <a:rPr lang="en-US" sz="1950">
                <a:solidFill>
                  <a:srgbClr val="000000"/>
                </a:solidFill>
                <a:latin typeface="CanvaSansSC-Regular"/>
                <a:ea typeface="CanvaSansSC-Regular"/>
                <a:cs typeface="CanvaSansSC-Regular"/>
                <a:sym typeface="CanvaSansSC-Regular"/>
              </a:rPr>
              <a:t>Retention of high-performing sales staff, skill-gap bridging, automation of HR processes, and preparing future leaders.</a:t>
            </a:r>
          </a:p>
        </p:txBody>
      </p:sp>
      <p:sp>
        <p:nvSpPr>
          <p:cNvPr name="TextBox 16" id="16"/>
          <p:cNvSpPr txBox="true"/>
          <p:nvPr/>
        </p:nvSpPr>
        <p:spPr>
          <a:xfrm rot="0">
            <a:off x="8319630" y="-22689"/>
            <a:ext cx="7925181" cy="792385"/>
          </a:xfrm>
          <a:prstGeom prst="rect">
            <a:avLst/>
          </a:prstGeom>
        </p:spPr>
        <p:txBody>
          <a:bodyPr anchor="t" rtlCol="false" tIns="0" lIns="0" bIns="0" rIns="0">
            <a:spAutoFit/>
          </a:bodyPr>
          <a:lstStyle/>
          <a:p>
            <a:pPr algn="l">
              <a:lnSpc>
                <a:spcPts val="5772"/>
              </a:lnSpc>
            </a:pPr>
            <a:r>
              <a:rPr lang="en-US" sz="4122">
                <a:solidFill>
                  <a:srgbClr val="FFFFFF"/>
                </a:solidFill>
                <a:latin typeface="CanvaSansSC-Regular"/>
                <a:ea typeface="CanvaSansSC-Regular"/>
                <a:cs typeface="CanvaSansSC-Regular"/>
                <a:sym typeface="CanvaSansSC-Regular"/>
              </a:rPr>
              <a:t>HR DEPARTMENT OVERVIEW –</a:t>
            </a:r>
          </a:p>
        </p:txBody>
      </p:sp>
      <p:sp>
        <p:nvSpPr>
          <p:cNvPr name="TextBox 17" id="17"/>
          <p:cNvSpPr txBox="true"/>
          <p:nvPr/>
        </p:nvSpPr>
        <p:spPr>
          <a:xfrm rot="0">
            <a:off x="10221668" y="707527"/>
            <a:ext cx="4045125" cy="792385"/>
          </a:xfrm>
          <a:prstGeom prst="rect">
            <a:avLst/>
          </a:prstGeom>
        </p:spPr>
        <p:txBody>
          <a:bodyPr anchor="t" rtlCol="false" tIns="0" lIns="0" bIns="0" rIns="0">
            <a:spAutoFit/>
          </a:bodyPr>
          <a:lstStyle/>
          <a:p>
            <a:pPr algn="l">
              <a:lnSpc>
                <a:spcPts val="5772"/>
              </a:lnSpc>
            </a:pPr>
            <a:r>
              <a:rPr lang="en-US" sz="4122">
                <a:solidFill>
                  <a:srgbClr val="FFFFFF"/>
                </a:solidFill>
                <a:latin typeface="CanvaSansSC-Regular"/>
                <a:ea typeface="CanvaSansSC-Regular"/>
                <a:cs typeface="CanvaSansSC-Regular"/>
                <a:sym typeface="CanvaSansSC-Regular"/>
              </a:rPr>
              <a:t>Dabur India Ltd</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D9A85F"/>
        </a:solidFill>
      </p:bgPr>
    </p:bg>
    <p:spTree>
      <p:nvGrpSpPr>
        <p:cNvPr id="1" name=""/>
        <p:cNvGrpSpPr/>
        <p:nvPr/>
      </p:nvGrpSpPr>
      <p:grpSpPr>
        <a:xfrm>
          <a:off x="0" y="0"/>
          <a:ext cx="0" cy="0"/>
          <a:chOff x="0" y="0"/>
          <a:chExt cx="0" cy="0"/>
        </a:xfrm>
      </p:grpSpPr>
      <p:grpSp>
        <p:nvGrpSpPr>
          <p:cNvPr name="Group 2" id="2"/>
          <p:cNvGrpSpPr/>
          <p:nvPr/>
        </p:nvGrpSpPr>
        <p:grpSpPr>
          <a:xfrm rot="0">
            <a:off x="-63503" y="2177729"/>
            <a:ext cx="18418045" cy="8175812"/>
            <a:chOff x="0" y="0"/>
            <a:chExt cx="18418048" cy="8175815"/>
          </a:xfrm>
        </p:grpSpPr>
        <p:sp>
          <p:nvSpPr>
            <p:cNvPr name="Freeform 3" id="3"/>
            <p:cNvSpPr/>
            <p:nvPr/>
          </p:nvSpPr>
          <p:spPr>
            <a:xfrm flipH="false" flipV="false" rot="0">
              <a:off x="6152388" y="75184"/>
              <a:ext cx="9525" cy="8034019"/>
            </a:xfrm>
            <a:custGeom>
              <a:avLst/>
              <a:gdLst/>
              <a:ahLst/>
              <a:cxnLst/>
              <a:rect r="r" b="b" t="t" l="l"/>
              <a:pathLst>
                <a:path h="8034019" w="9525">
                  <a:moveTo>
                    <a:pt x="0" y="0"/>
                  </a:moveTo>
                  <a:lnTo>
                    <a:pt x="0" y="8034019"/>
                  </a:lnTo>
                  <a:lnTo>
                    <a:pt x="9525" y="8034019"/>
                  </a:lnTo>
                  <a:lnTo>
                    <a:pt x="9525" y="0"/>
                  </a:lnTo>
                  <a:close/>
                </a:path>
              </a:pathLst>
            </a:custGeom>
            <a:solidFill>
              <a:srgbClr val="272727"/>
            </a:solidFill>
          </p:spPr>
        </p:sp>
        <p:sp>
          <p:nvSpPr>
            <p:cNvPr name="Freeform 4" id="4"/>
            <p:cNvSpPr/>
            <p:nvPr/>
          </p:nvSpPr>
          <p:spPr>
            <a:xfrm flipH="false" flipV="false" rot="0">
              <a:off x="12232386" y="75184"/>
              <a:ext cx="9525" cy="8034019"/>
            </a:xfrm>
            <a:custGeom>
              <a:avLst/>
              <a:gdLst/>
              <a:ahLst/>
              <a:cxnLst/>
              <a:rect r="r" b="b" t="t" l="l"/>
              <a:pathLst>
                <a:path h="8034019" w="9525">
                  <a:moveTo>
                    <a:pt x="0" y="0"/>
                  </a:moveTo>
                  <a:lnTo>
                    <a:pt x="0" y="8034019"/>
                  </a:lnTo>
                  <a:lnTo>
                    <a:pt x="9525" y="8034019"/>
                  </a:lnTo>
                  <a:lnTo>
                    <a:pt x="9525" y="0"/>
                  </a:lnTo>
                  <a:close/>
                </a:path>
              </a:pathLst>
            </a:custGeom>
            <a:solidFill>
              <a:srgbClr val="272727"/>
            </a:solidFill>
          </p:spPr>
        </p:sp>
        <p:sp>
          <p:nvSpPr>
            <p:cNvPr name="Freeform 5" id="5"/>
            <p:cNvSpPr/>
            <p:nvPr/>
          </p:nvSpPr>
          <p:spPr>
            <a:xfrm flipH="false" flipV="false" rot="0">
              <a:off x="63500" y="63500"/>
              <a:ext cx="18288000" cy="9525"/>
            </a:xfrm>
            <a:custGeom>
              <a:avLst/>
              <a:gdLst/>
              <a:ahLst/>
              <a:cxnLst/>
              <a:rect r="r" b="b" t="t" l="l"/>
              <a:pathLst>
                <a:path h="9525" w="18288000">
                  <a:moveTo>
                    <a:pt x="0" y="0"/>
                  </a:moveTo>
                  <a:lnTo>
                    <a:pt x="0" y="9525"/>
                  </a:lnTo>
                  <a:lnTo>
                    <a:pt x="18288000" y="9525"/>
                  </a:lnTo>
                  <a:lnTo>
                    <a:pt x="18288000" y="0"/>
                  </a:lnTo>
                  <a:close/>
                </a:path>
              </a:pathLst>
            </a:custGeom>
            <a:solidFill>
              <a:srgbClr val="272727"/>
            </a:solidFill>
          </p:spPr>
        </p:sp>
        <p:sp>
          <p:nvSpPr>
            <p:cNvPr name="Freeform 6" id="6"/>
            <p:cNvSpPr/>
            <p:nvPr/>
          </p:nvSpPr>
          <p:spPr>
            <a:xfrm flipH="false" flipV="false" rot="0">
              <a:off x="63500" y="3403981"/>
              <a:ext cx="18288000" cy="9525"/>
            </a:xfrm>
            <a:custGeom>
              <a:avLst/>
              <a:gdLst/>
              <a:ahLst/>
              <a:cxnLst/>
              <a:rect r="r" b="b" t="t" l="l"/>
              <a:pathLst>
                <a:path h="9525" w="18288000">
                  <a:moveTo>
                    <a:pt x="0" y="0"/>
                  </a:moveTo>
                  <a:lnTo>
                    <a:pt x="0" y="9525"/>
                  </a:lnTo>
                  <a:lnTo>
                    <a:pt x="18288000" y="9525"/>
                  </a:lnTo>
                  <a:lnTo>
                    <a:pt x="18288000" y="0"/>
                  </a:lnTo>
                  <a:close/>
                </a:path>
              </a:pathLst>
            </a:custGeom>
            <a:solidFill>
              <a:srgbClr val="272727"/>
            </a:solidFill>
          </p:spPr>
        </p:sp>
      </p:grpSp>
      <p:grpSp>
        <p:nvGrpSpPr>
          <p:cNvPr name="Group 7" id="7"/>
          <p:cNvGrpSpPr/>
          <p:nvPr/>
        </p:nvGrpSpPr>
        <p:grpSpPr>
          <a:xfrm rot="0">
            <a:off x="8794556" y="2092204"/>
            <a:ext cx="9448800" cy="4777702"/>
            <a:chOff x="0" y="0"/>
            <a:chExt cx="12598400" cy="6370269"/>
          </a:xfrm>
        </p:grpSpPr>
        <p:sp>
          <p:nvSpPr>
            <p:cNvPr name="Freeform 8" id="8"/>
            <p:cNvSpPr/>
            <p:nvPr/>
          </p:nvSpPr>
          <p:spPr>
            <a:xfrm flipH="false" flipV="false" rot="0">
              <a:off x="0" y="0"/>
              <a:ext cx="12598400" cy="6370320"/>
            </a:xfrm>
            <a:custGeom>
              <a:avLst/>
              <a:gdLst/>
              <a:ahLst/>
              <a:cxnLst/>
              <a:rect r="r" b="b" t="t" l="l"/>
              <a:pathLst>
                <a:path h="6370320" w="12598400">
                  <a:moveTo>
                    <a:pt x="0" y="0"/>
                  </a:moveTo>
                  <a:lnTo>
                    <a:pt x="12598400" y="0"/>
                  </a:lnTo>
                  <a:lnTo>
                    <a:pt x="12598400" y="6370320"/>
                  </a:lnTo>
                  <a:lnTo>
                    <a:pt x="0" y="6370320"/>
                  </a:lnTo>
                  <a:lnTo>
                    <a:pt x="0" y="0"/>
                  </a:lnTo>
                  <a:close/>
                </a:path>
              </a:pathLst>
            </a:custGeom>
            <a:blipFill>
              <a:blip r:embed="rId2"/>
              <a:stretch>
                <a:fillRect l="0" t="0" r="0" b="0"/>
              </a:stretch>
            </a:blipFill>
          </p:spPr>
        </p:sp>
      </p:grpSp>
      <p:grpSp>
        <p:nvGrpSpPr>
          <p:cNvPr name="Group 9" id="9"/>
          <p:cNvGrpSpPr/>
          <p:nvPr/>
        </p:nvGrpSpPr>
        <p:grpSpPr>
          <a:xfrm rot="0">
            <a:off x="-63503" y="2177729"/>
            <a:ext cx="18414997" cy="8172764"/>
            <a:chOff x="0" y="0"/>
            <a:chExt cx="18415000" cy="8172768"/>
          </a:xfrm>
        </p:grpSpPr>
        <p:sp>
          <p:nvSpPr>
            <p:cNvPr name="Freeform 10" id="10"/>
            <p:cNvSpPr/>
            <p:nvPr/>
          </p:nvSpPr>
          <p:spPr>
            <a:xfrm flipH="false" flipV="false" rot="0">
              <a:off x="63500" y="63500"/>
              <a:ext cx="18288000" cy="9525"/>
            </a:xfrm>
            <a:custGeom>
              <a:avLst/>
              <a:gdLst/>
              <a:ahLst/>
              <a:cxnLst/>
              <a:rect r="r" b="b" t="t" l="l"/>
              <a:pathLst>
                <a:path h="9525" w="18288000">
                  <a:moveTo>
                    <a:pt x="0" y="0"/>
                  </a:moveTo>
                  <a:lnTo>
                    <a:pt x="0" y="9525"/>
                  </a:lnTo>
                  <a:lnTo>
                    <a:pt x="18288000" y="9525"/>
                  </a:lnTo>
                  <a:lnTo>
                    <a:pt x="18288000" y="0"/>
                  </a:lnTo>
                  <a:close/>
                </a:path>
              </a:pathLst>
            </a:custGeom>
            <a:solidFill>
              <a:srgbClr val="000000">
                <a:alpha val="0"/>
              </a:srgbClr>
            </a:solidFill>
          </p:spPr>
        </p:sp>
        <p:sp>
          <p:nvSpPr>
            <p:cNvPr name="Freeform 11" id="11"/>
            <p:cNvSpPr/>
            <p:nvPr/>
          </p:nvSpPr>
          <p:spPr>
            <a:xfrm flipH="false" flipV="false" rot="0">
              <a:off x="6152388" y="75184"/>
              <a:ext cx="9525" cy="8034019"/>
            </a:xfrm>
            <a:custGeom>
              <a:avLst/>
              <a:gdLst/>
              <a:ahLst/>
              <a:cxnLst/>
              <a:rect r="r" b="b" t="t" l="l"/>
              <a:pathLst>
                <a:path h="8034019" w="9525">
                  <a:moveTo>
                    <a:pt x="0" y="0"/>
                  </a:moveTo>
                  <a:lnTo>
                    <a:pt x="0" y="8034019"/>
                  </a:lnTo>
                  <a:lnTo>
                    <a:pt x="9525" y="8034019"/>
                  </a:lnTo>
                  <a:lnTo>
                    <a:pt x="9525" y="0"/>
                  </a:lnTo>
                  <a:close/>
                </a:path>
              </a:pathLst>
            </a:custGeom>
            <a:solidFill>
              <a:srgbClr val="000000">
                <a:alpha val="0"/>
              </a:srgbClr>
            </a:solidFill>
          </p:spPr>
        </p:sp>
        <p:sp>
          <p:nvSpPr>
            <p:cNvPr name="Freeform 12" id="12"/>
            <p:cNvSpPr/>
            <p:nvPr/>
          </p:nvSpPr>
          <p:spPr>
            <a:xfrm flipH="false" flipV="false" rot="0">
              <a:off x="12232386" y="75184"/>
              <a:ext cx="9525" cy="8034019"/>
            </a:xfrm>
            <a:custGeom>
              <a:avLst/>
              <a:gdLst/>
              <a:ahLst/>
              <a:cxnLst/>
              <a:rect r="r" b="b" t="t" l="l"/>
              <a:pathLst>
                <a:path h="8034019" w="9525">
                  <a:moveTo>
                    <a:pt x="0" y="0"/>
                  </a:moveTo>
                  <a:lnTo>
                    <a:pt x="0" y="8034019"/>
                  </a:lnTo>
                  <a:lnTo>
                    <a:pt x="9525" y="8034019"/>
                  </a:lnTo>
                  <a:lnTo>
                    <a:pt x="9525" y="0"/>
                  </a:lnTo>
                  <a:close/>
                </a:path>
              </a:pathLst>
            </a:custGeom>
            <a:solidFill>
              <a:srgbClr val="000000">
                <a:alpha val="0"/>
              </a:srgbClr>
            </a:solidFill>
          </p:spPr>
        </p:sp>
        <p:sp>
          <p:nvSpPr>
            <p:cNvPr name="Freeform 13" id="13"/>
            <p:cNvSpPr/>
            <p:nvPr/>
          </p:nvSpPr>
          <p:spPr>
            <a:xfrm flipH="false" flipV="false" rot="0">
              <a:off x="63500" y="3403981"/>
              <a:ext cx="18288000" cy="9525"/>
            </a:xfrm>
            <a:custGeom>
              <a:avLst/>
              <a:gdLst/>
              <a:ahLst/>
              <a:cxnLst/>
              <a:rect r="r" b="b" t="t" l="l"/>
              <a:pathLst>
                <a:path h="9525" w="18288000">
                  <a:moveTo>
                    <a:pt x="0" y="0"/>
                  </a:moveTo>
                  <a:lnTo>
                    <a:pt x="0" y="9525"/>
                  </a:lnTo>
                  <a:lnTo>
                    <a:pt x="18288000" y="9525"/>
                  </a:lnTo>
                  <a:lnTo>
                    <a:pt x="18288000" y="0"/>
                  </a:lnTo>
                  <a:close/>
                </a:path>
              </a:pathLst>
            </a:custGeom>
            <a:solidFill>
              <a:srgbClr val="000000">
                <a:alpha val="0"/>
              </a:srgbClr>
            </a:solidFill>
          </p:spPr>
        </p:sp>
      </p:grpSp>
      <p:sp>
        <p:nvSpPr>
          <p:cNvPr name="TextBox 14" id="14"/>
          <p:cNvSpPr txBox="true"/>
          <p:nvPr/>
        </p:nvSpPr>
        <p:spPr>
          <a:xfrm rot="0">
            <a:off x="204406" y="141084"/>
            <a:ext cx="9308430" cy="581882"/>
          </a:xfrm>
          <a:prstGeom prst="rect">
            <a:avLst/>
          </a:prstGeom>
        </p:spPr>
        <p:txBody>
          <a:bodyPr anchor="t" rtlCol="false" tIns="0" lIns="0" bIns="0" rIns="0">
            <a:spAutoFit/>
          </a:bodyPr>
          <a:lstStyle/>
          <a:p>
            <a:pPr algn="l">
              <a:lnSpc>
                <a:spcPts val="4239"/>
              </a:lnSpc>
            </a:pPr>
            <a:r>
              <a:rPr lang="en-US" sz="3028">
                <a:solidFill>
                  <a:srgbClr val="FFFFFF"/>
                </a:solidFill>
                <a:latin typeface="CanvaSansSC-Regular"/>
                <a:ea typeface="CanvaSansSC-Regular"/>
                <a:cs typeface="CanvaSansSC-Regular"/>
                <a:sym typeface="CanvaSansSC-Regular"/>
              </a:rPr>
              <a:t>FINANCE DEPARTMENT OVERVIEW – DABUR LTD</a:t>
            </a:r>
          </a:p>
        </p:txBody>
      </p:sp>
      <p:sp>
        <p:nvSpPr>
          <p:cNvPr name="TextBox 15" id="15"/>
          <p:cNvSpPr txBox="true"/>
          <p:nvPr/>
        </p:nvSpPr>
        <p:spPr>
          <a:xfrm rot="0">
            <a:off x="862736" y="1046855"/>
            <a:ext cx="7121376" cy="1681315"/>
          </a:xfrm>
          <a:prstGeom prst="rect">
            <a:avLst/>
          </a:prstGeom>
        </p:spPr>
        <p:txBody>
          <a:bodyPr anchor="t" rtlCol="false" tIns="0" lIns="0" bIns="0" rIns="0">
            <a:spAutoFit/>
          </a:bodyPr>
          <a:lstStyle/>
          <a:p>
            <a:pPr algn="l">
              <a:lnSpc>
                <a:spcPts val="3225"/>
              </a:lnSpc>
            </a:pPr>
            <a:r>
              <a:rPr lang="en-US" sz="2328">
                <a:solidFill>
                  <a:srgbClr val="000000"/>
                </a:solidFill>
                <a:latin typeface="CanvaSansSC-Regular"/>
                <a:ea typeface="CanvaSansSC-Regular"/>
                <a:cs typeface="CanvaSansSC-Regular"/>
                <a:sym typeface="CanvaSansSC-Regular"/>
              </a:rPr>
              <a:t>1. STEADY REVENUE GROWTH: CONSOLIDATED REVENUE GREW FROM </a:t>
            </a:r>
            <a:r>
              <a:rPr lang="en-US" sz="2328">
                <a:solidFill>
                  <a:srgbClr val="000000"/>
                </a:solidFill>
                <a:latin typeface="CanvaSansSC-Regular"/>
                <a:ea typeface="CanvaSansSC-Regular"/>
                <a:cs typeface="CanvaSansSC-Regular"/>
                <a:sym typeface="CanvaSansSC-Regular"/>
              </a:rPr>
              <a:t>₹</a:t>
            </a:r>
            <a:r>
              <a:rPr lang="en-US" sz="2328">
                <a:solidFill>
                  <a:srgbClr val="000000"/>
                </a:solidFill>
                <a:latin typeface="CanvaSansSC-Regular"/>
                <a:ea typeface="CanvaSansSC-Regular"/>
                <a:cs typeface="CanvaSansSC-Regular"/>
                <a:sym typeface="CanvaSansSC-Regular"/>
              </a:rPr>
              <a:t>9,887 CRORE IN FY21 TO </a:t>
            </a:r>
            <a:r>
              <a:rPr lang="en-US" sz="2328">
                <a:solidFill>
                  <a:srgbClr val="000000"/>
                </a:solidFill>
                <a:latin typeface="CanvaSansSC-Regular"/>
                <a:ea typeface="CanvaSansSC-Regular"/>
                <a:cs typeface="CanvaSansSC-Regular"/>
                <a:sym typeface="CanvaSansSC-Regular"/>
              </a:rPr>
              <a:t>₹</a:t>
            </a:r>
            <a:r>
              <a:rPr lang="en-US" sz="2328">
                <a:solidFill>
                  <a:srgbClr val="000000"/>
                </a:solidFill>
                <a:latin typeface="CanvaSansSC-Regular"/>
                <a:ea typeface="CanvaSansSC-Regular"/>
                <a:cs typeface="CanvaSansSC-Regular"/>
                <a:sym typeface="CanvaSansSC-Regular"/>
              </a:rPr>
              <a:t>13,113 CRORE IN FY25, DEMONSTRATING CONSISTENT TOP-LINE EXPANSION.</a:t>
            </a:r>
          </a:p>
        </p:txBody>
      </p:sp>
      <p:sp>
        <p:nvSpPr>
          <p:cNvPr name="TextBox 16" id="16"/>
          <p:cNvSpPr txBox="true"/>
          <p:nvPr/>
        </p:nvSpPr>
        <p:spPr>
          <a:xfrm rot="0">
            <a:off x="862736" y="3094730"/>
            <a:ext cx="7769638" cy="1681315"/>
          </a:xfrm>
          <a:prstGeom prst="rect">
            <a:avLst/>
          </a:prstGeom>
        </p:spPr>
        <p:txBody>
          <a:bodyPr anchor="t" rtlCol="false" tIns="0" lIns="0" bIns="0" rIns="0">
            <a:spAutoFit/>
          </a:bodyPr>
          <a:lstStyle/>
          <a:p>
            <a:pPr algn="l">
              <a:lnSpc>
                <a:spcPts val="3225"/>
              </a:lnSpc>
            </a:pPr>
            <a:r>
              <a:rPr lang="en-US" sz="2328">
                <a:solidFill>
                  <a:srgbClr val="000000"/>
                </a:solidFill>
                <a:latin typeface="CanvaSansSC-Regular"/>
                <a:ea typeface="CanvaSansSC-Regular"/>
                <a:cs typeface="CanvaSansSC-Regular"/>
                <a:sym typeface="CanvaSansSC-Regular"/>
              </a:rPr>
              <a:t>2. STABLE BUT PRESSURED PROFITABILITY: NET PROFIT REMAINED IN THE RANGE OF ~</a:t>
            </a:r>
            <a:r>
              <a:rPr lang="en-US" sz="2328">
                <a:solidFill>
                  <a:srgbClr val="000000"/>
                </a:solidFill>
                <a:latin typeface="CanvaSansSC-Regular"/>
                <a:ea typeface="CanvaSansSC-Regular"/>
                <a:cs typeface="CanvaSansSC-Regular"/>
                <a:sym typeface="CanvaSansSC-Regular"/>
              </a:rPr>
              <a:t>₹</a:t>
            </a:r>
            <a:r>
              <a:rPr lang="en-US" sz="2328">
                <a:solidFill>
                  <a:srgbClr val="000000"/>
                </a:solidFill>
                <a:latin typeface="CanvaSansSC-Regular"/>
                <a:ea typeface="CanvaSansSC-Regular"/>
                <a:cs typeface="CanvaSansSC-Regular"/>
                <a:sym typeface="CanvaSansSC-Regular"/>
              </a:rPr>
              <a:t>1,700-</a:t>
            </a:r>
            <a:r>
              <a:rPr lang="en-US" sz="2328">
                <a:solidFill>
                  <a:srgbClr val="000000"/>
                </a:solidFill>
                <a:latin typeface="CanvaSansSC-Regular"/>
                <a:ea typeface="CanvaSansSC-Regular"/>
                <a:cs typeface="CanvaSansSC-Regular"/>
                <a:sym typeface="CanvaSansSC-Regular"/>
              </a:rPr>
              <a:t>₹</a:t>
            </a:r>
            <a:r>
              <a:rPr lang="en-US" sz="2328">
                <a:solidFill>
                  <a:srgbClr val="000000"/>
                </a:solidFill>
                <a:latin typeface="CanvaSansSC-Regular"/>
                <a:ea typeface="CanvaSansSC-Regular"/>
                <a:cs typeface="CanvaSansSC-Regular"/>
                <a:sym typeface="CanvaSansSC-Regular"/>
              </a:rPr>
              <a:t>1,843 CRORE OVER THE LAST FIVE YEARS, WITH A SLIGHT MARGIN CONTRACTION TO 13.9% IN FY25.</a:t>
            </a:r>
          </a:p>
        </p:txBody>
      </p:sp>
      <p:sp>
        <p:nvSpPr>
          <p:cNvPr name="TextBox 17" id="17"/>
          <p:cNvSpPr txBox="true"/>
          <p:nvPr/>
        </p:nvSpPr>
        <p:spPr>
          <a:xfrm rot="0">
            <a:off x="862736" y="5142605"/>
            <a:ext cx="7710021" cy="2090890"/>
          </a:xfrm>
          <a:prstGeom prst="rect">
            <a:avLst/>
          </a:prstGeom>
        </p:spPr>
        <p:txBody>
          <a:bodyPr anchor="t" rtlCol="false" tIns="0" lIns="0" bIns="0" rIns="0">
            <a:spAutoFit/>
          </a:bodyPr>
          <a:lstStyle/>
          <a:p>
            <a:pPr algn="l">
              <a:lnSpc>
                <a:spcPts val="3225"/>
              </a:lnSpc>
            </a:pPr>
            <a:r>
              <a:rPr lang="en-US" sz="2328">
                <a:solidFill>
                  <a:srgbClr val="000000"/>
                </a:solidFill>
                <a:latin typeface="CanvaSansSC-Regular"/>
                <a:ea typeface="CanvaSansSC-Regular"/>
                <a:cs typeface="CanvaSansSC-Regular"/>
                <a:sym typeface="CanvaSansSC-Regular"/>
              </a:rPr>
              <a:t>3. STRONG FINANCIAL HEALTH: THE COMPANY HAS A ROBUST CURRENT RATIO OF 1.51 AND AN EXTREMELY LOW DEBT-EQUITY RATIO OF -0.03, INDICATING HIGH LIQUIDITY AND MINIMAL LEVERAGE.</a:t>
            </a:r>
          </a:p>
        </p:txBody>
      </p:sp>
      <p:sp>
        <p:nvSpPr>
          <p:cNvPr name="TextBox 18" id="18"/>
          <p:cNvSpPr txBox="true"/>
          <p:nvPr/>
        </p:nvSpPr>
        <p:spPr>
          <a:xfrm rot="0">
            <a:off x="862736" y="7600055"/>
            <a:ext cx="7386561" cy="2090890"/>
          </a:xfrm>
          <a:prstGeom prst="rect">
            <a:avLst/>
          </a:prstGeom>
        </p:spPr>
        <p:txBody>
          <a:bodyPr anchor="t" rtlCol="false" tIns="0" lIns="0" bIns="0" rIns="0">
            <a:spAutoFit/>
          </a:bodyPr>
          <a:lstStyle/>
          <a:p>
            <a:pPr algn="l">
              <a:lnSpc>
                <a:spcPts val="3225"/>
              </a:lnSpc>
            </a:pPr>
            <a:r>
              <a:rPr lang="en-US" sz="2328">
                <a:solidFill>
                  <a:srgbClr val="000000"/>
                </a:solidFill>
                <a:latin typeface="CanvaSansSC-Regular"/>
                <a:ea typeface="CanvaSansSC-Regular"/>
                <a:cs typeface="CanvaSansSC-Regular"/>
                <a:sym typeface="CanvaSansSC-Regular"/>
              </a:rPr>
              <a:t>4. HEALTHY CASH FLOW GENERATION: THE COMPANY MAINTAINS STRONG OPERATING CASH FLOW (</a:t>
            </a:r>
            <a:r>
              <a:rPr lang="en-US" sz="2328">
                <a:solidFill>
                  <a:srgbClr val="000000"/>
                </a:solidFill>
                <a:latin typeface="CanvaSansSC-Regular"/>
                <a:ea typeface="CanvaSansSC-Regular"/>
                <a:cs typeface="CanvaSansSC-Regular"/>
                <a:sym typeface="CanvaSansSC-Regular"/>
              </a:rPr>
              <a:t>₹</a:t>
            </a:r>
            <a:r>
              <a:rPr lang="en-US" sz="2328">
                <a:solidFill>
                  <a:srgbClr val="000000"/>
                </a:solidFill>
                <a:latin typeface="CanvaSansSC-Regular"/>
                <a:ea typeface="CanvaSansSC-Regular"/>
                <a:cs typeface="CanvaSansSC-Regular"/>
                <a:sym typeface="CanvaSansSC-Regular"/>
              </a:rPr>
              <a:t>1,986 CRORE IN FY25), WHICH ENSURES LIQUIDITY FOR OPERATIONS AND EXPANSION.  REWARDING ITS INVESTORS.</a:t>
            </a:r>
          </a:p>
        </p:txBody>
      </p:sp>
      <p:sp>
        <p:nvSpPr>
          <p:cNvPr name="TextBox 19" id="19"/>
          <p:cNvSpPr txBox="true"/>
          <p:nvPr/>
        </p:nvSpPr>
        <p:spPr>
          <a:xfrm rot="0">
            <a:off x="8893883" y="8011668"/>
            <a:ext cx="9092727" cy="1395813"/>
          </a:xfrm>
          <a:prstGeom prst="rect">
            <a:avLst/>
          </a:prstGeom>
        </p:spPr>
        <p:txBody>
          <a:bodyPr anchor="t" rtlCol="false" tIns="0" lIns="0" bIns="0" rIns="0">
            <a:spAutoFit/>
          </a:bodyPr>
          <a:lstStyle/>
          <a:p>
            <a:pPr algn="ctr">
              <a:lnSpc>
                <a:spcPts val="3481"/>
              </a:lnSpc>
            </a:pPr>
            <a:r>
              <a:rPr lang="en-US" sz="2513">
                <a:solidFill>
                  <a:srgbClr val="000000"/>
                </a:solidFill>
                <a:latin typeface="CanvaSansSC-Regular"/>
                <a:ea typeface="CanvaSansSC-Regular"/>
                <a:cs typeface="CanvaSansSC-Regular"/>
                <a:sym typeface="CanvaSansSC-Regular"/>
              </a:rPr>
              <a:t>5. SIGNIFICANT SHAREHOLDER RETURNS: DABUR PAID A DIVIDEND OF </a:t>
            </a:r>
            <a:r>
              <a:rPr lang="en-US" sz="2513">
                <a:solidFill>
                  <a:srgbClr val="000000"/>
                </a:solidFill>
                <a:latin typeface="CanvaSansSC-Regular"/>
                <a:ea typeface="CanvaSansSC-Regular"/>
                <a:cs typeface="CanvaSansSC-Regular"/>
                <a:sym typeface="CanvaSansSC-Regular"/>
              </a:rPr>
              <a:t>₹</a:t>
            </a:r>
            <a:r>
              <a:rPr lang="en-US" sz="2513">
                <a:solidFill>
                  <a:srgbClr val="000000"/>
                </a:solidFill>
                <a:latin typeface="CanvaSansSC-Regular"/>
                <a:ea typeface="CanvaSansSC-Regular"/>
                <a:cs typeface="CanvaSansSC-Regular"/>
                <a:sym typeface="CanvaSansSC-Regular"/>
              </a:rPr>
              <a:t>8.007 PER SHARE IN FY25, WITH A TOTAL PAYOUT OF </a:t>
            </a:r>
            <a:r>
              <a:rPr lang="en-US" sz="2513">
                <a:solidFill>
                  <a:srgbClr val="000000"/>
                </a:solidFill>
                <a:latin typeface="CanvaSansSC-Regular"/>
                <a:ea typeface="CanvaSansSC-Regular"/>
                <a:cs typeface="CanvaSansSC-Regular"/>
                <a:sym typeface="CanvaSansSC-Regular"/>
              </a:rPr>
              <a:t>₹</a:t>
            </a:r>
            <a:r>
              <a:rPr lang="en-US" sz="2513">
                <a:solidFill>
                  <a:srgbClr val="000000"/>
                </a:solidFill>
                <a:latin typeface="CanvaSansSC-Regular"/>
                <a:ea typeface="CanvaSansSC-Regular"/>
                <a:cs typeface="CanvaSansSC-Regular"/>
                <a:sym typeface="CanvaSansSC-Regular"/>
              </a:rPr>
              <a:t>1,418 CRORE,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D9A85F"/>
        </a:solidFill>
      </p:bgPr>
    </p:bg>
    <p:spTree>
      <p:nvGrpSpPr>
        <p:cNvPr id="1" name=""/>
        <p:cNvGrpSpPr/>
        <p:nvPr/>
      </p:nvGrpSpPr>
      <p:grpSpPr>
        <a:xfrm>
          <a:off x="0" y="0"/>
          <a:ext cx="0" cy="0"/>
          <a:chOff x="0" y="0"/>
          <a:chExt cx="0" cy="0"/>
        </a:xfrm>
      </p:grpSpPr>
      <p:grpSp>
        <p:nvGrpSpPr>
          <p:cNvPr name="Group 2" id="2"/>
          <p:cNvGrpSpPr/>
          <p:nvPr/>
        </p:nvGrpSpPr>
        <p:grpSpPr>
          <a:xfrm rot="0">
            <a:off x="319640" y="1392926"/>
            <a:ext cx="10582275" cy="7096125"/>
            <a:chOff x="0" y="0"/>
            <a:chExt cx="14109700" cy="9461500"/>
          </a:xfrm>
        </p:grpSpPr>
        <p:sp>
          <p:nvSpPr>
            <p:cNvPr name="Freeform 3" id="3"/>
            <p:cNvSpPr/>
            <p:nvPr/>
          </p:nvSpPr>
          <p:spPr>
            <a:xfrm flipH="false" flipV="false" rot="0">
              <a:off x="0" y="0"/>
              <a:ext cx="14109700" cy="9461500"/>
            </a:xfrm>
            <a:custGeom>
              <a:avLst/>
              <a:gdLst/>
              <a:ahLst/>
              <a:cxnLst/>
              <a:rect r="r" b="b" t="t" l="l"/>
              <a:pathLst>
                <a:path h="9461500" w="14109700">
                  <a:moveTo>
                    <a:pt x="0" y="0"/>
                  </a:moveTo>
                  <a:lnTo>
                    <a:pt x="14109700" y="0"/>
                  </a:lnTo>
                  <a:lnTo>
                    <a:pt x="14109700" y="9461500"/>
                  </a:lnTo>
                  <a:lnTo>
                    <a:pt x="0" y="9461500"/>
                  </a:lnTo>
                  <a:lnTo>
                    <a:pt x="0" y="0"/>
                  </a:lnTo>
                  <a:close/>
                </a:path>
              </a:pathLst>
            </a:custGeom>
            <a:blipFill>
              <a:blip r:embed="rId2"/>
              <a:stretch>
                <a:fillRect l="-308" t="0" r="-231" b="0"/>
              </a:stretch>
            </a:blipFill>
          </p:spPr>
        </p:sp>
      </p:grpSp>
      <p:sp>
        <p:nvSpPr>
          <p:cNvPr name="TextBox 4" id="4"/>
          <p:cNvSpPr txBox="true"/>
          <p:nvPr/>
        </p:nvSpPr>
        <p:spPr>
          <a:xfrm rot="0">
            <a:off x="11244729" y="731815"/>
            <a:ext cx="6784400" cy="1483309"/>
          </a:xfrm>
          <a:prstGeom prst="rect">
            <a:avLst/>
          </a:prstGeom>
        </p:spPr>
        <p:txBody>
          <a:bodyPr anchor="t" rtlCol="false" tIns="0" lIns="0" bIns="0" rIns="0">
            <a:spAutoFit/>
          </a:bodyPr>
          <a:lstStyle/>
          <a:p>
            <a:pPr algn="l">
              <a:lnSpc>
                <a:spcPts val="2850"/>
              </a:lnSpc>
            </a:pPr>
            <a:r>
              <a:rPr lang="en-US" sz="2039">
                <a:solidFill>
                  <a:srgbClr val="000000"/>
                </a:solidFill>
                <a:latin typeface="CanvaSansSC-Regular"/>
                <a:ea typeface="CanvaSansSC-Regular"/>
                <a:cs typeface="CanvaSansSC-Regular"/>
                <a:sym typeface="CanvaSansSC-Regular"/>
              </a:rPr>
              <a:t>6. RISING COSTS ARE A CHALLENGE: THE COMPANY FACED PRESSURE FROM RISING DEPRECIATION (+11.7%) AND INTEREST COSTS (+31.7%), IMPACTING NET PROFIT.</a:t>
            </a:r>
          </a:p>
        </p:txBody>
      </p:sp>
      <p:sp>
        <p:nvSpPr>
          <p:cNvPr name="TextBox 5" id="5"/>
          <p:cNvSpPr txBox="true"/>
          <p:nvPr/>
        </p:nvSpPr>
        <p:spPr>
          <a:xfrm rot="0">
            <a:off x="11244729" y="2541565"/>
            <a:ext cx="6978758" cy="1483309"/>
          </a:xfrm>
          <a:prstGeom prst="rect">
            <a:avLst/>
          </a:prstGeom>
        </p:spPr>
        <p:txBody>
          <a:bodyPr anchor="t" rtlCol="false" tIns="0" lIns="0" bIns="0" rIns="0">
            <a:spAutoFit/>
          </a:bodyPr>
          <a:lstStyle/>
          <a:p>
            <a:pPr algn="l">
              <a:lnSpc>
                <a:spcPts val="2850"/>
              </a:lnSpc>
            </a:pPr>
            <a:r>
              <a:rPr lang="en-US" sz="2039">
                <a:solidFill>
                  <a:srgbClr val="000000"/>
                </a:solidFill>
                <a:latin typeface="CanvaSansSC-Regular"/>
                <a:ea typeface="CanvaSansSC-Regular"/>
                <a:cs typeface="CanvaSansSC-Regular"/>
                <a:sym typeface="CanvaSansSC-Regular"/>
              </a:rPr>
              <a:t>7. HIGH MARKETING INVESTMENT: MARKETING SPENDS WERE HIGH AT </a:t>
            </a:r>
            <a:r>
              <a:rPr lang="en-US" sz="2039">
                <a:solidFill>
                  <a:srgbClr val="000000"/>
                </a:solidFill>
                <a:latin typeface="CanvaSansSC-Regular"/>
                <a:ea typeface="CanvaSansSC-Regular"/>
                <a:cs typeface="CanvaSansSC-Regular"/>
                <a:sym typeface="CanvaSansSC-Regular"/>
              </a:rPr>
              <a:t>₹</a:t>
            </a:r>
            <a:r>
              <a:rPr lang="en-US" sz="2039">
                <a:solidFill>
                  <a:srgbClr val="000000"/>
                </a:solidFill>
                <a:latin typeface="CanvaSansSC-Regular"/>
                <a:ea typeface="CanvaSansSC-Regular"/>
                <a:cs typeface="CanvaSansSC-Regular"/>
                <a:sym typeface="CanvaSansSC-Regular"/>
              </a:rPr>
              <a:t>864.6 CRORE, IDENTIFIED AS AN AREA REQUIRING TIGHT CONTROL TO PROTECT PROFITABILITY.</a:t>
            </a:r>
          </a:p>
        </p:txBody>
      </p:sp>
      <p:sp>
        <p:nvSpPr>
          <p:cNvPr name="TextBox 6" id="6"/>
          <p:cNvSpPr txBox="true"/>
          <p:nvPr/>
        </p:nvSpPr>
        <p:spPr>
          <a:xfrm rot="0">
            <a:off x="11244729" y="4351315"/>
            <a:ext cx="6625828" cy="1483309"/>
          </a:xfrm>
          <a:prstGeom prst="rect">
            <a:avLst/>
          </a:prstGeom>
        </p:spPr>
        <p:txBody>
          <a:bodyPr anchor="t" rtlCol="false" tIns="0" lIns="0" bIns="0" rIns="0">
            <a:spAutoFit/>
          </a:bodyPr>
          <a:lstStyle/>
          <a:p>
            <a:pPr algn="l">
              <a:lnSpc>
                <a:spcPts val="2850"/>
              </a:lnSpc>
            </a:pPr>
            <a:r>
              <a:rPr lang="en-US" sz="2039">
                <a:solidFill>
                  <a:srgbClr val="000000"/>
                </a:solidFill>
                <a:latin typeface="CanvaSansSC-Regular"/>
                <a:ea typeface="CanvaSansSC-Regular"/>
                <a:cs typeface="CanvaSansSC-Regular"/>
                <a:sym typeface="CanvaSansSC-Regular"/>
              </a:rPr>
              <a:t>8. AGGRESSIVE DEBT REDUCTION: DABUR SIGNIFICANTLY REDUCED ITS LONG-TERM DEBT BY 43%, BRINGING IT DOWN TO JUST </a:t>
            </a:r>
            <a:r>
              <a:rPr lang="en-US" sz="2039">
                <a:solidFill>
                  <a:srgbClr val="000000"/>
                </a:solidFill>
                <a:latin typeface="CanvaSansSC-Regular"/>
                <a:ea typeface="CanvaSansSC-Regular"/>
                <a:cs typeface="CanvaSansSC-Regular"/>
                <a:sym typeface="CanvaSansSC-Regular"/>
              </a:rPr>
              <a:t>₹</a:t>
            </a:r>
            <a:r>
              <a:rPr lang="en-US" sz="2039">
                <a:solidFill>
                  <a:srgbClr val="000000"/>
                </a:solidFill>
                <a:latin typeface="CanvaSansSC-Regular"/>
                <a:ea typeface="CanvaSansSC-Regular"/>
                <a:cs typeface="CanvaSansSC-Regular"/>
                <a:sym typeface="CanvaSansSC-Regular"/>
              </a:rPr>
              <a:t>30.61 CRORE, MINIMIZING FINANCE COSTS.</a:t>
            </a:r>
          </a:p>
        </p:txBody>
      </p:sp>
      <p:sp>
        <p:nvSpPr>
          <p:cNvPr name="TextBox 7" id="7"/>
          <p:cNvSpPr txBox="true"/>
          <p:nvPr/>
        </p:nvSpPr>
        <p:spPr>
          <a:xfrm rot="0">
            <a:off x="11244729" y="6161065"/>
            <a:ext cx="6753758" cy="1121359"/>
          </a:xfrm>
          <a:prstGeom prst="rect">
            <a:avLst/>
          </a:prstGeom>
        </p:spPr>
        <p:txBody>
          <a:bodyPr anchor="t" rtlCol="false" tIns="0" lIns="0" bIns="0" rIns="0">
            <a:spAutoFit/>
          </a:bodyPr>
          <a:lstStyle/>
          <a:p>
            <a:pPr algn="l">
              <a:lnSpc>
                <a:spcPts val="2850"/>
              </a:lnSpc>
            </a:pPr>
            <a:r>
              <a:rPr lang="en-US" sz="2039">
                <a:solidFill>
                  <a:srgbClr val="000000"/>
                </a:solidFill>
                <a:latin typeface="CanvaSansSC-Regular"/>
                <a:ea typeface="CanvaSansSC-Regular"/>
                <a:cs typeface="CanvaSansSC-Regular"/>
                <a:sym typeface="CanvaSansSC-Regular"/>
              </a:rPr>
              <a:t>9. SUBDUED OPERATING MARGIN: THE OPERATING PROFIT MARGIN WAS REPORTED AT -18.4%, A KEY AREA OF CONCERN THAT REQUIRES IMPROVEMENT.</a:t>
            </a:r>
          </a:p>
        </p:txBody>
      </p:sp>
      <p:sp>
        <p:nvSpPr>
          <p:cNvPr name="TextBox 8" id="8"/>
          <p:cNvSpPr txBox="true"/>
          <p:nvPr/>
        </p:nvSpPr>
        <p:spPr>
          <a:xfrm rot="0">
            <a:off x="11244729" y="7608865"/>
            <a:ext cx="6179696" cy="1845259"/>
          </a:xfrm>
          <a:prstGeom prst="rect">
            <a:avLst/>
          </a:prstGeom>
        </p:spPr>
        <p:txBody>
          <a:bodyPr anchor="t" rtlCol="false" tIns="0" lIns="0" bIns="0" rIns="0">
            <a:spAutoFit/>
          </a:bodyPr>
          <a:lstStyle/>
          <a:p>
            <a:pPr algn="l">
              <a:lnSpc>
                <a:spcPts val="2850"/>
              </a:lnSpc>
            </a:pPr>
            <a:r>
              <a:rPr lang="en-US" sz="2039">
                <a:solidFill>
                  <a:srgbClr val="000000"/>
                </a:solidFill>
                <a:latin typeface="CanvaSansSC-Regular"/>
                <a:ea typeface="CanvaSansSC-Regular"/>
                <a:cs typeface="CanvaSansSC-Regular"/>
                <a:sym typeface="CanvaSansSC-Regular"/>
              </a:rPr>
              <a:t>10. STRATEGIC FOCUS ON AUTOMATION &amp; RISK MANAGEMENT: RECOMMENDATIONS INCLUDE USING AI FOR FORECASTING, STRENGTHENING CREDIT CONTROL, AND ENHANCING FOREX HEDGING FOR ITS 120+ COUNTRY OPERATIONS.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D9A85F"/>
        </a:solidFill>
      </p:bgPr>
    </p:bg>
    <p:spTree>
      <p:nvGrpSpPr>
        <p:cNvPr id="1" name=""/>
        <p:cNvGrpSpPr/>
        <p:nvPr/>
      </p:nvGrpSpPr>
      <p:grpSpPr>
        <a:xfrm>
          <a:off x="0" y="0"/>
          <a:ext cx="0" cy="0"/>
          <a:chOff x="0" y="0"/>
          <a:chExt cx="0" cy="0"/>
        </a:xfrm>
      </p:grpSpPr>
      <p:grpSp>
        <p:nvGrpSpPr>
          <p:cNvPr name="Group 2" id="2"/>
          <p:cNvGrpSpPr/>
          <p:nvPr/>
        </p:nvGrpSpPr>
        <p:grpSpPr>
          <a:xfrm rot="0">
            <a:off x="1028700" y="518760"/>
            <a:ext cx="6286500" cy="9439275"/>
            <a:chOff x="0" y="0"/>
            <a:chExt cx="8382000" cy="12585700"/>
          </a:xfrm>
        </p:grpSpPr>
        <p:sp>
          <p:nvSpPr>
            <p:cNvPr name="Freeform 3" id="3"/>
            <p:cNvSpPr/>
            <p:nvPr/>
          </p:nvSpPr>
          <p:spPr>
            <a:xfrm flipH="false" flipV="false" rot="0">
              <a:off x="0" y="0"/>
              <a:ext cx="8382000" cy="12585700"/>
            </a:xfrm>
            <a:custGeom>
              <a:avLst/>
              <a:gdLst/>
              <a:ahLst/>
              <a:cxnLst/>
              <a:rect r="r" b="b" t="t" l="l"/>
              <a:pathLst>
                <a:path h="12585700" w="8382000">
                  <a:moveTo>
                    <a:pt x="0" y="0"/>
                  </a:moveTo>
                  <a:lnTo>
                    <a:pt x="8382000" y="0"/>
                  </a:lnTo>
                  <a:lnTo>
                    <a:pt x="8382000" y="12585700"/>
                  </a:lnTo>
                  <a:lnTo>
                    <a:pt x="0" y="12585700"/>
                  </a:lnTo>
                  <a:lnTo>
                    <a:pt x="0" y="0"/>
                  </a:lnTo>
                  <a:close/>
                </a:path>
              </a:pathLst>
            </a:custGeom>
            <a:blipFill>
              <a:blip r:embed="rId2"/>
              <a:stretch>
                <a:fillRect l="0" t="0" r="0" b="0"/>
              </a:stretch>
            </a:blipFill>
          </p:spPr>
        </p:sp>
      </p:grpSp>
      <p:grpSp>
        <p:nvGrpSpPr>
          <p:cNvPr name="Group 4" id="4"/>
          <p:cNvGrpSpPr/>
          <p:nvPr/>
        </p:nvGrpSpPr>
        <p:grpSpPr>
          <a:xfrm rot="0">
            <a:off x="8420738" y="518760"/>
            <a:ext cx="9439275" cy="9439275"/>
            <a:chOff x="0" y="0"/>
            <a:chExt cx="12585700" cy="12585700"/>
          </a:xfrm>
        </p:grpSpPr>
        <p:sp>
          <p:nvSpPr>
            <p:cNvPr name="Freeform 5" id="5"/>
            <p:cNvSpPr/>
            <p:nvPr/>
          </p:nvSpPr>
          <p:spPr>
            <a:xfrm flipH="false" flipV="false" rot="0">
              <a:off x="0" y="0"/>
              <a:ext cx="12585700" cy="12585700"/>
            </a:xfrm>
            <a:custGeom>
              <a:avLst/>
              <a:gdLst/>
              <a:ahLst/>
              <a:cxnLst/>
              <a:rect r="r" b="b" t="t" l="l"/>
              <a:pathLst>
                <a:path h="12585700" w="12585700">
                  <a:moveTo>
                    <a:pt x="0" y="0"/>
                  </a:moveTo>
                  <a:lnTo>
                    <a:pt x="12585700" y="0"/>
                  </a:lnTo>
                  <a:lnTo>
                    <a:pt x="12585700" y="12585700"/>
                  </a:lnTo>
                  <a:lnTo>
                    <a:pt x="0" y="12585700"/>
                  </a:lnTo>
                  <a:lnTo>
                    <a:pt x="0" y="0"/>
                  </a:lnTo>
                  <a:close/>
                </a:path>
              </a:pathLst>
            </a:custGeom>
            <a:blipFill>
              <a:blip r:embed="rId3"/>
              <a:stretch>
                <a:fillRect l="0" t="0" r="0" b="0"/>
              </a:stretch>
            </a:blipFill>
          </p:spPr>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D9A85F"/>
        </a:solidFill>
      </p:bgPr>
    </p:bg>
    <p:spTree>
      <p:nvGrpSpPr>
        <p:cNvPr id="1" name=""/>
        <p:cNvGrpSpPr/>
        <p:nvPr/>
      </p:nvGrpSpPr>
      <p:grpSpPr>
        <a:xfrm>
          <a:off x="0" y="0"/>
          <a:ext cx="0" cy="0"/>
          <a:chOff x="0" y="0"/>
          <a:chExt cx="0" cy="0"/>
        </a:xfrm>
      </p:grpSpPr>
      <p:grpSp>
        <p:nvGrpSpPr>
          <p:cNvPr name="Group 2" id="2"/>
          <p:cNvGrpSpPr/>
          <p:nvPr/>
        </p:nvGrpSpPr>
        <p:grpSpPr>
          <a:xfrm rot="0">
            <a:off x="9926155" y="238201"/>
            <a:ext cx="6934200" cy="9429750"/>
            <a:chOff x="0" y="0"/>
            <a:chExt cx="9245600" cy="12573000"/>
          </a:xfrm>
        </p:grpSpPr>
        <p:sp>
          <p:nvSpPr>
            <p:cNvPr name="Freeform 3" id="3"/>
            <p:cNvSpPr/>
            <p:nvPr/>
          </p:nvSpPr>
          <p:spPr>
            <a:xfrm flipH="false" flipV="false" rot="0">
              <a:off x="0" y="0"/>
              <a:ext cx="9245600" cy="12573000"/>
            </a:xfrm>
            <a:custGeom>
              <a:avLst/>
              <a:gdLst/>
              <a:ahLst/>
              <a:cxnLst/>
              <a:rect r="r" b="b" t="t" l="l"/>
              <a:pathLst>
                <a:path h="12573000" w="9245600">
                  <a:moveTo>
                    <a:pt x="0" y="0"/>
                  </a:moveTo>
                  <a:lnTo>
                    <a:pt x="9245600" y="0"/>
                  </a:lnTo>
                  <a:lnTo>
                    <a:pt x="9245600" y="12573000"/>
                  </a:lnTo>
                  <a:lnTo>
                    <a:pt x="0" y="12573000"/>
                  </a:lnTo>
                  <a:lnTo>
                    <a:pt x="0" y="0"/>
                  </a:lnTo>
                  <a:close/>
                </a:path>
              </a:pathLst>
            </a:custGeom>
            <a:blipFill>
              <a:blip r:embed="rId2"/>
              <a:stretch>
                <a:fillRect l="0" t="-5167" r="0" b="-5135"/>
              </a:stretch>
            </a:blipFill>
          </p:spPr>
        </p:sp>
      </p:grpSp>
      <p:grpSp>
        <p:nvGrpSpPr>
          <p:cNvPr name="Group 4" id="4"/>
          <p:cNvGrpSpPr/>
          <p:nvPr/>
        </p:nvGrpSpPr>
        <p:grpSpPr>
          <a:xfrm rot="0">
            <a:off x="552345" y="1495168"/>
            <a:ext cx="8591550" cy="6448425"/>
            <a:chOff x="0" y="0"/>
            <a:chExt cx="11455400" cy="8597900"/>
          </a:xfrm>
        </p:grpSpPr>
        <p:sp>
          <p:nvSpPr>
            <p:cNvPr name="Freeform 5" id="5"/>
            <p:cNvSpPr/>
            <p:nvPr/>
          </p:nvSpPr>
          <p:spPr>
            <a:xfrm flipH="false" flipV="false" rot="0">
              <a:off x="0" y="0"/>
              <a:ext cx="11455400" cy="8597900"/>
            </a:xfrm>
            <a:custGeom>
              <a:avLst/>
              <a:gdLst/>
              <a:ahLst/>
              <a:cxnLst/>
              <a:rect r="r" b="b" t="t" l="l"/>
              <a:pathLst>
                <a:path h="8597900" w="11455400">
                  <a:moveTo>
                    <a:pt x="0" y="0"/>
                  </a:moveTo>
                  <a:lnTo>
                    <a:pt x="11455400" y="0"/>
                  </a:lnTo>
                  <a:lnTo>
                    <a:pt x="11455400" y="8597900"/>
                  </a:lnTo>
                  <a:lnTo>
                    <a:pt x="0" y="8597900"/>
                  </a:lnTo>
                  <a:lnTo>
                    <a:pt x="0" y="0"/>
                  </a:lnTo>
                  <a:close/>
                </a:path>
              </a:pathLst>
            </a:custGeom>
            <a:blipFill>
              <a:blip r:embed="rId3"/>
              <a:stretch>
                <a:fillRect l="0" t="0" r="0" b="0"/>
              </a:stretch>
            </a:blipFill>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D9A85F"/>
        </a:solidFill>
      </p:bgPr>
    </p:bg>
    <p:spTree>
      <p:nvGrpSpPr>
        <p:cNvPr id="1" name=""/>
        <p:cNvGrpSpPr/>
        <p:nvPr/>
      </p:nvGrpSpPr>
      <p:grpSpPr>
        <a:xfrm>
          <a:off x="0" y="0"/>
          <a:ext cx="0" cy="0"/>
          <a:chOff x="0" y="0"/>
          <a:chExt cx="0" cy="0"/>
        </a:xfrm>
      </p:grpSpPr>
      <p:grpSp>
        <p:nvGrpSpPr>
          <p:cNvPr name="Group 2" id="2"/>
          <p:cNvGrpSpPr/>
          <p:nvPr/>
        </p:nvGrpSpPr>
        <p:grpSpPr>
          <a:xfrm rot="0">
            <a:off x="1335472" y="1626241"/>
            <a:ext cx="7400925" cy="7400925"/>
            <a:chOff x="0" y="0"/>
            <a:chExt cx="9867900" cy="9867900"/>
          </a:xfrm>
        </p:grpSpPr>
        <p:sp>
          <p:nvSpPr>
            <p:cNvPr name="Freeform 3" id="3"/>
            <p:cNvSpPr/>
            <p:nvPr/>
          </p:nvSpPr>
          <p:spPr>
            <a:xfrm flipH="false" flipV="false" rot="0">
              <a:off x="0" y="0"/>
              <a:ext cx="9867900" cy="9867900"/>
            </a:xfrm>
            <a:custGeom>
              <a:avLst/>
              <a:gdLst/>
              <a:ahLst/>
              <a:cxnLst/>
              <a:rect r="r" b="b" t="t" l="l"/>
              <a:pathLst>
                <a:path h="9867900" w="9867900">
                  <a:moveTo>
                    <a:pt x="0" y="0"/>
                  </a:moveTo>
                  <a:lnTo>
                    <a:pt x="9867900" y="0"/>
                  </a:lnTo>
                  <a:lnTo>
                    <a:pt x="9867900" y="9867900"/>
                  </a:lnTo>
                  <a:lnTo>
                    <a:pt x="0" y="9867900"/>
                  </a:lnTo>
                  <a:lnTo>
                    <a:pt x="0" y="0"/>
                  </a:lnTo>
                  <a:close/>
                </a:path>
              </a:pathLst>
            </a:custGeom>
            <a:blipFill>
              <a:blip r:embed="rId2"/>
              <a:stretch>
                <a:fillRect l="0" t="0" r="0" b="0"/>
              </a:stretch>
            </a:blipFill>
          </p:spPr>
        </p:sp>
      </p:grpSp>
      <p:grpSp>
        <p:nvGrpSpPr>
          <p:cNvPr name="Group 4" id="4"/>
          <p:cNvGrpSpPr/>
          <p:nvPr/>
        </p:nvGrpSpPr>
        <p:grpSpPr>
          <a:xfrm rot="0">
            <a:off x="10357980" y="1490462"/>
            <a:ext cx="5181600" cy="7772400"/>
            <a:chOff x="0" y="0"/>
            <a:chExt cx="6908800" cy="10363200"/>
          </a:xfrm>
        </p:grpSpPr>
        <p:sp>
          <p:nvSpPr>
            <p:cNvPr name="Freeform 5" id="5"/>
            <p:cNvSpPr/>
            <p:nvPr/>
          </p:nvSpPr>
          <p:spPr>
            <a:xfrm flipH="false" flipV="false" rot="0">
              <a:off x="0" y="0"/>
              <a:ext cx="6908800" cy="10363200"/>
            </a:xfrm>
            <a:custGeom>
              <a:avLst/>
              <a:gdLst/>
              <a:ahLst/>
              <a:cxnLst/>
              <a:rect r="r" b="b" t="t" l="l"/>
              <a:pathLst>
                <a:path h="10363200" w="6908800">
                  <a:moveTo>
                    <a:pt x="0" y="0"/>
                  </a:moveTo>
                  <a:lnTo>
                    <a:pt x="6908800" y="0"/>
                  </a:lnTo>
                  <a:lnTo>
                    <a:pt x="6908800" y="10363200"/>
                  </a:lnTo>
                  <a:lnTo>
                    <a:pt x="0" y="10363200"/>
                  </a:lnTo>
                  <a:lnTo>
                    <a:pt x="0" y="0"/>
                  </a:lnTo>
                  <a:close/>
                </a:path>
              </a:pathLst>
            </a:custGeom>
            <a:blipFill>
              <a:blip r:embed="rId3"/>
              <a:stretch>
                <a:fillRect l="0" t="0" r="0" b="0"/>
              </a:stretch>
            </a:blipFill>
          </p:spPr>
        </p:sp>
      </p:grpSp>
      <p:sp>
        <p:nvSpPr>
          <p:cNvPr name="TextBox 6" id="6"/>
          <p:cNvSpPr txBox="true"/>
          <p:nvPr/>
        </p:nvSpPr>
        <p:spPr>
          <a:xfrm rot="0">
            <a:off x="1817675" y="-260318"/>
            <a:ext cx="10395680" cy="1744542"/>
          </a:xfrm>
          <a:prstGeom prst="rect">
            <a:avLst/>
          </a:prstGeom>
        </p:spPr>
        <p:txBody>
          <a:bodyPr anchor="t" rtlCol="false" tIns="0" lIns="0" bIns="0" rIns="0">
            <a:spAutoFit/>
          </a:bodyPr>
          <a:lstStyle/>
          <a:p>
            <a:pPr algn="l">
              <a:lnSpc>
                <a:spcPts val="12879"/>
              </a:lnSpc>
            </a:pPr>
            <a:r>
              <a:rPr lang="en-US" sz="9199">
                <a:solidFill>
                  <a:srgbClr val="FFFFFF"/>
                </a:solidFill>
                <a:latin typeface="CanvaSansSC-Regular"/>
                <a:ea typeface="CanvaSansSC-Regular"/>
                <a:cs typeface="CanvaSansSC-Regular"/>
                <a:sym typeface="CanvaSansSC-Regular"/>
              </a:rPr>
              <a:t>PESTLE ANALYSIS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D9A85F"/>
        </a:solidFill>
      </p:bgPr>
    </p:bg>
    <p:spTree>
      <p:nvGrpSpPr>
        <p:cNvPr id="1" name=""/>
        <p:cNvGrpSpPr/>
        <p:nvPr/>
      </p:nvGrpSpPr>
      <p:grpSpPr>
        <a:xfrm>
          <a:off x="0" y="0"/>
          <a:ext cx="0" cy="0"/>
          <a:chOff x="0" y="0"/>
          <a:chExt cx="0" cy="0"/>
        </a:xfrm>
      </p:grpSpPr>
      <p:sp>
        <p:nvSpPr>
          <p:cNvPr name="Freeform 2" id="2"/>
          <p:cNvSpPr/>
          <p:nvPr/>
        </p:nvSpPr>
        <p:spPr>
          <a:xfrm flipH="false" flipV="false" rot="0">
            <a:off x="6235598" y="2346103"/>
            <a:ext cx="11910546" cy="7121471"/>
          </a:xfrm>
          <a:custGeom>
            <a:avLst/>
            <a:gdLst/>
            <a:ahLst/>
            <a:cxnLst/>
            <a:rect r="r" b="b" t="t" l="l"/>
            <a:pathLst>
              <a:path h="7121471" w="11910546">
                <a:moveTo>
                  <a:pt x="0" y="0"/>
                </a:moveTo>
                <a:lnTo>
                  <a:pt x="11910546" y="0"/>
                </a:lnTo>
                <a:lnTo>
                  <a:pt x="11910546" y="7121471"/>
                </a:lnTo>
                <a:lnTo>
                  <a:pt x="0" y="71214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308553" y="2886123"/>
            <a:ext cx="5657850" cy="5657850"/>
            <a:chOff x="0" y="0"/>
            <a:chExt cx="7543800" cy="7543800"/>
          </a:xfrm>
        </p:grpSpPr>
        <p:sp>
          <p:nvSpPr>
            <p:cNvPr name="Freeform 4" id="4"/>
            <p:cNvSpPr/>
            <p:nvPr/>
          </p:nvSpPr>
          <p:spPr>
            <a:xfrm flipH="false" flipV="false" rot="0">
              <a:off x="0" y="0"/>
              <a:ext cx="7543800" cy="7543800"/>
            </a:xfrm>
            <a:custGeom>
              <a:avLst/>
              <a:gdLst/>
              <a:ahLst/>
              <a:cxnLst/>
              <a:rect r="r" b="b" t="t" l="l"/>
              <a:pathLst>
                <a:path h="7543800" w="7543800">
                  <a:moveTo>
                    <a:pt x="0" y="0"/>
                  </a:moveTo>
                  <a:lnTo>
                    <a:pt x="7543800" y="0"/>
                  </a:lnTo>
                  <a:lnTo>
                    <a:pt x="7543800" y="7543800"/>
                  </a:lnTo>
                  <a:lnTo>
                    <a:pt x="0" y="7543800"/>
                  </a:lnTo>
                  <a:lnTo>
                    <a:pt x="0" y="0"/>
                  </a:lnTo>
                  <a:close/>
                </a:path>
              </a:pathLst>
            </a:custGeom>
            <a:blipFill>
              <a:blip r:embed="rId4"/>
              <a:stretch>
                <a:fillRect l="0" t="0" r="0" b="0"/>
              </a:stretch>
            </a:blipFill>
          </p:spPr>
        </p:sp>
      </p:grpSp>
      <p:sp>
        <p:nvSpPr>
          <p:cNvPr name="TextBox 5" id="5"/>
          <p:cNvSpPr txBox="true"/>
          <p:nvPr/>
        </p:nvSpPr>
        <p:spPr>
          <a:xfrm rot="0">
            <a:off x="9323527" y="6840817"/>
            <a:ext cx="2279447" cy="826856"/>
          </a:xfrm>
          <a:prstGeom prst="rect">
            <a:avLst/>
          </a:prstGeom>
        </p:spPr>
        <p:txBody>
          <a:bodyPr anchor="t" rtlCol="false" tIns="0" lIns="0" bIns="0" rIns="0">
            <a:spAutoFit/>
          </a:bodyPr>
          <a:lstStyle/>
          <a:p>
            <a:pPr algn="l">
              <a:lnSpc>
                <a:spcPts val="2100"/>
              </a:lnSpc>
            </a:pPr>
            <a:r>
              <a:rPr lang="en-US" sz="1500">
                <a:solidFill>
                  <a:srgbClr val="000000"/>
                </a:solidFill>
                <a:latin typeface="CanvaSansSC-Regular"/>
                <a:ea typeface="CanvaSansSC-Regular"/>
                <a:cs typeface="CanvaSansSC-Regular"/>
                <a:sym typeface="CanvaSansSC-Regular"/>
              </a:rPr>
              <a:t>New Foods &amp; Beverages, International/Premium Personal Care</a:t>
            </a:r>
          </a:p>
        </p:txBody>
      </p:sp>
      <p:sp>
        <p:nvSpPr>
          <p:cNvPr name="TextBox 6" id="6"/>
          <p:cNvSpPr txBox="true"/>
          <p:nvPr/>
        </p:nvSpPr>
        <p:spPr>
          <a:xfrm rot="0">
            <a:off x="9323527" y="5443795"/>
            <a:ext cx="2676125" cy="826856"/>
          </a:xfrm>
          <a:prstGeom prst="rect">
            <a:avLst/>
          </a:prstGeom>
        </p:spPr>
        <p:txBody>
          <a:bodyPr anchor="t" rtlCol="false" tIns="0" lIns="0" bIns="0" rIns="0">
            <a:spAutoFit/>
          </a:bodyPr>
          <a:lstStyle/>
          <a:p>
            <a:pPr algn="l">
              <a:lnSpc>
                <a:spcPts val="2100"/>
              </a:lnSpc>
            </a:pPr>
            <a:r>
              <a:rPr lang="en-US" sz="1500">
                <a:solidFill>
                  <a:srgbClr val="000000"/>
                </a:solidFill>
                <a:latin typeface="CanvaSansSC-Regular"/>
                <a:ea typeface="CanvaSansSC-Regular"/>
                <a:cs typeface="CanvaSansSC-Regular"/>
                <a:sym typeface="CanvaSansSC-Regular"/>
              </a:rPr>
              <a:t>Hajmola Digestives, Hair Oils (Amla/Vatika), Oral Care (Dabur Red)</a:t>
            </a:r>
          </a:p>
        </p:txBody>
      </p:sp>
      <p:sp>
        <p:nvSpPr>
          <p:cNvPr name="TextBox 7" id="7"/>
          <p:cNvSpPr txBox="true"/>
          <p:nvPr/>
        </p:nvSpPr>
        <p:spPr>
          <a:xfrm rot="0">
            <a:off x="9323527" y="8504539"/>
            <a:ext cx="2740171" cy="293456"/>
          </a:xfrm>
          <a:prstGeom prst="rect">
            <a:avLst/>
          </a:prstGeom>
        </p:spPr>
        <p:txBody>
          <a:bodyPr anchor="t" rtlCol="false" tIns="0" lIns="0" bIns="0" rIns="0">
            <a:spAutoFit/>
          </a:bodyPr>
          <a:lstStyle/>
          <a:p>
            <a:pPr algn="l">
              <a:lnSpc>
                <a:spcPts val="2100"/>
              </a:lnSpc>
            </a:pPr>
            <a:r>
              <a:rPr lang="en-US" sz="1500">
                <a:solidFill>
                  <a:srgbClr val="000000"/>
                </a:solidFill>
                <a:latin typeface="CanvaSansSC-Regular"/>
                <a:ea typeface="CanvaSansSC-Regular"/>
                <a:cs typeface="CanvaSansSC-Regular"/>
                <a:sym typeface="CanvaSansSC-Regular"/>
              </a:rPr>
              <a:t>Low-Performing Legacy SKUs</a:t>
            </a:r>
          </a:p>
        </p:txBody>
      </p:sp>
      <p:sp>
        <p:nvSpPr>
          <p:cNvPr name="TextBox 8" id="8"/>
          <p:cNvSpPr txBox="true"/>
          <p:nvPr/>
        </p:nvSpPr>
        <p:spPr>
          <a:xfrm rot="0">
            <a:off x="12267095" y="8371189"/>
            <a:ext cx="2250510" cy="560156"/>
          </a:xfrm>
          <a:prstGeom prst="rect">
            <a:avLst/>
          </a:prstGeom>
        </p:spPr>
        <p:txBody>
          <a:bodyPr anchor="t" rtlCol="false" tIns="0" lIns="0" bIns="0" rIns="0">
            <a:spAutoFit/>
          </a:bodyPr>
          <a:lstStyle/>
          <a:p>
            <a:pPr algn="l">
              <a:lnSpc>
                <a:spcPts val="2100"/>
              </a:lnSpc>
            </a:pPr>
            <a:r>
              <a:rPr lang="en-US" sz="1500">
                <a:solidFill>
                  <a:srgbClr val="000000"/>
                </a:solidFill>
                <a:latin typeface="CanvaSansSC-Regular"/>
                <a:ea typeface="CanvaSansSC-Regular"/>
                <a:cs typeface="CanvaSansSC-Regular"/>
                <a:sym typeface="CanvaSansSC-Regular"/>
              </a:rPr>
              <a:t>Low Market Share + Low Market Growth</a:t>
            </a:r>
          </a:p>
        </p:txBody>
      </p:sp>
      <p:sp>
        <p:nvSpPr>
          <p:cNvPr name="TextBox 9" id="9"/>
          <p:cNvSpPr txBox="true"/>
          <p:nvPr/>
        </p:nvSpPr>
        <p:spPr>
          <a:xfrm rot="0">
            <a:off x="12267095" y="5577145"/>
            <a:ext cx="2294153" cy="560156"/>
          </a:xfrm>
          <a:prstGeom prst="rect">
            <a:avLst/>
          </a:prstGeom>
        </p:spPr>
        <p:txBody>
          <a:bodyPr anchor="t" rtlCol="false" tIns="0" lIns="0" bIns="0" rIns="0">
            <a:spAutoFit/>
          </a:bodyPr>
          <a:lstStyle/>
          <a:p>
            <a:pPr algn="l">
              <a:lnSpc>
                <a:spcPts val="2100"/>
              </a:lnSpc>
            </a:pPr>
            <a:r>
              <a:rPr lang="en-US" sz="1500">
                <a:solidFill>
                  <a:srgbClr val="000000"/>
                </a:solidFill>
                <a:latin typeface="CanvaSansSC-Regular"/>
                <a:ea typeface="CanvaSansSC-Regular"/>
                <a:cs typeface="CanvaSansSC-Regular"/>
                <a:sym typeface="CanvaSansSC-Regular"/>
              </a:rPr>
              <a:t>High Market Share + Low Market Growth</a:t>
            </a:r>
          </a:p>
        </p:txBody>
      </p:sp>
      <p:sp>
        <p:nvSpPr>
          <p:cNvPr name="TextBox 10" id="10"/>
          <p:cNvSpPr txBox="true"/>
          <p:nvPr/>
        </p:nvSpPr>
        <p:spPr>
          <a:xfrm rot="0">
            <a:off x="12267095" y="6974167"/>
            <a:ext cx="2294153" cy="560156"/>
          </a:xfrm>
          <a:prstGeom prst="rect">
            <a:avLst/>
          </a:prstGeom>
        </p:spPr>
        <p:txBody>
          <a:bodyPr anchor="t" rtlCol="false" tIns="0" lIns="0" bIns="0" rIns="0">
            <a:spAutoFit/>
          </a:bodyPr>
          <a:lstStyle/>
          <a:p>
            <a:pPr algn="l">
              <a:lnSpc>
                <a:spcPts val="2100"/>
              </a:lnSpc>
            </a:pPr>
            <a:r>
              <a:rPr lang="en-US" sz="1500">
                <a:solidFill>
                  <a:srgbClr val="000000"/>
                </a:solidFill>
                <a:latin typeface="CanvaSansSC-Regular"/>
                <a:ea typeface="CanvaSansSC-Regular"/>
                <a:cs typeface="CanvaSansSC-Regular"/>
                <a:sym typeface="CanvaSansSC-Regular"/>
              </a:rPr>
              <a:t>Low Market Share + High Market Growth</a:t>
            </a:r>
          </a:p>
        </p:txBody>
      </p:sp>
      <p:sp>
        <p:nvSpPr>
          <p:cNvPr name="TextBox 11" id="11"/>
          <p:cNvSpPr txBox="true"/>
          <p:nvPr/>
        </p:nvSpPr>
        <p:spPr>
          <a:xfrm rot="0">
            <a:off x="9323527" y="4180132"/>
            <a:ext cx="2788558" cy="560156"/>
          </a:xfrm>
          <a:prstGeom prst="rect">
            <a:avLst/>
          </a:prstGeom>
        </p:spPr>
        <p:txBody>
          <a:bodyPr anchor="t" rtlCol="false" tIns="0" lIns="0" bIns="0" rIns="0">
            <a:spAutoFit/>
          </a:bodyPr>
          <a:lstStyle/>
          <a:p>
            <a:pPr algn="l">
              <a:lnSpc>
                <a:spcPts val="2100"/>
              </a:lnSpc>
            </a:pPr>
            <a:r>
              <a:rPr lang="en-US" sz="1500">
                <a:solidFill>
                  <a:srgbClr val="000000"/>
                </a:solidFill>
                <a:latin typeface="CanvaSansSC-Regular"/>
                <a:ea typeface="CanvaSansSC-Regular"/>
                <a:cs typeface="CanvaSansSC-Regular"/>
                <a:sym typeface="CanvaSansSC-Regular"/>
              </a:rPr>
              <a:t>Real Juices, Health</a:t>
            </a:r>
          </a:p>
          <a:p>
            <a:pPr algn="l">
              <a:lnSpc>
                <a:spcPts val="2100"/>
              </a:lnSpc>
            </a:pPr>
            <a:r>
              <a:rPr lang="en-US" sz="1500">
                <a:solidFill>
                  <a:srgbClr val="000000"/>
                </a:solidFill>
                <a:latin typeface="CanvaSansSC-Regular"/>
                <a:ea typeface="CanvaSansSC-Regular"/>
                <a:cs typeface="CanvaSansSC-Regular"/>
                <a:sym typeface="CanvaSansSC-Regular"/>
              </a:rPr>
              <a:t>Supplements / Nutraceuticals</a:t>
            </a:r>
          </a:p>
        </p:txBody>
      </p:sp>
      <p:sp>
        <p:nvSpPr>
          <p:cNvPr name="TextBox 12" id="12"/>
          <p:cNvSpPr txBox="true"/>
          <p:nvPr/>
        </p:nvSpPr>
        <p:spPr>
          <a:xfrm rot="0">
            <a:off x="12267095" y="4180132"/>
            <a:ext cx="2337797" cy="560156"/>
          </a:xfrm>
          <a:prstGeom prst="rect">
            <a:avLst/>
          </a:prstGeom>
        </p:spPr>
        <p:txBody>
          <a:bodyPr anchor="t" rtlCol="false" tIns="0" lIns="0" bIns="0" rIns="0">
            <a:spAutoFit/>
          </a:bodyPr>
          <a:lstStyle/>
          <a:p>
            <a:pPr algn="l">
              <a:lnSpc>
                <a:spcPts val="2100"/>
              </a:lnSpc>
            </a:pPr>
            <a:r>
              <a:rPr lang="en-US" sz="1500">
                <a:solidFill>
                  <a:srgbClr val="000000"/>
                </a:solidFill>
                <a:latin typeface="CanvaSansSC-Regular"/>
                <a:ea typeface="CanvaSansSC-Regular"/>
                <a:cs typeface="CanvaSansSC-Regular"/>
                <a:sym typeface="CanvaSansSC-Regular"/>
              </a:rPr>
              <a:t>High Market Share + High</a:t>
            </a:r>
          </a:p>
          <a:p>
            <a:pPr algn="l">
              <a:lnSpc>
                <a:spcPts val="2100"/>
              </a:lnSpc>
            </a:pPr>
            <a:r>
              <a:rPr lang="en-US" sz="1500">
                <a:solidFill>
                  <a:srgbClr val="000000"/>
                </a:solidFill>
                <a:latin typeface="CanvaSansSC-Regular"/>
                <a:ea typeface="CanvaSansSC-Regular"/>
                <a:cs typeface="CanvaSansSC-Regular"/>
                <a:sym typeface="CanvaSansSC-Regular"/>
              </a:rPr>
              <a:t>Market Growth</a:t>
            </a:r>
          </a:p>
        </p:txBody>
      </p:sp>
      <p:sp>
        <p:nvSpPr>
          <p:cNvPr name="TextBox 13" id="13"/>
          <p:cNvSpPr txBox="true"/>
          <p:nvPr/>
        </p:nvSpPr>
        <p:spPr>
          <a:xfrm rot="0">
            <a:off x="15210663" y="2921851"/>
            <a:ext cx="809120" cy="293456"/>
          </a:xfrm>
          <a:prstGeom prst="rect">
            <a:avLst/>
          </a:prstGeom>
        </p:spPr>
        <p:txBody>
          <a:bodyPr anchor="t" rtlCol="false" tIns="0" lIns="0" bIns="0" rIns="0">
            <a:spAutoFit/>
          </a:bodyPr>
          <a:lstStyle/>
          <a:p>
            <a:pPr algn="l">
              <a:lnSpc>
                <a:spcPts val="2100"/>
              </a:lnSpc>
            </a:pPr>
            <a:r>
              <a:rPr lang="en-US" sz="1500">
                <a:solidFill>
                  <a:srgbClr val="000000"/>
                </a:solidFill>
                <a:latin typeface="CanvaSansSC-Regular"/>
                <a:ea typeface="CanvaSansSC-Regular"/>
                <a:cs typeface="CanvaSansSC-Regular"/>
                <a:sym typeface="CanvaSansSC-Regular"/>
              </a:rPr>
              <a:t>Strategy</a:t>
            </a:r>
          </a:p>
        </p:txBody>
      </p:sp>
      <p:sp>
        <p:nvSpPr>
          <p:cNvPr name="TextBox 14" id="14"/>
          <p:cNvSpPr txBox="true"/>
          <p:nvPr/>
        </p:nvSpPr>
        <p:spPr>
          <a:xfrm rot="0">
            <a:off x="15210663" y="8371189"/>
            <a:ext cx="2050694" cy="560156"/>
          </a:xfrm>
          <a:prstGeom prst="rect">
            <a:avLst/>
          </a:prstGeom>
        </p:spPr>
        <p:txBody>
          <a:bodyPr anchor="t" rtlCol="false" tIns="0" lIns="0" bIns="0" rIns="0">
            <a:spAutoFit/>
          </a:bodyPr>
          <a:lstStyle/>
          <a:p>
            <a:pPr algn="l">
              <a:lnSpc>
                <a:spcPts val="2100"/>
              </a:lnSpc>
            </a:pPr>
            <a:r>
              <a:rPr lang="en-US" sz="1500">
                <a:solidFill>
                  <a:srgbClr val="000000"/>
                </a:solidFill>
                <a:latin typeface="CanvaSansSC-Regular"/>
                <a:ea typeface="CanvaSansSC-Regular"/>
                <a:cs typeface="CanvaSansSC-Regular"/>
                <a:sym typeface="CanvaSansSC-Regular"/>
              </a:rPr>
              <a:t>Divest or discontinue; minimize cost drain</a:t>
            </a:r>
          </a:p>
        </p:txBody>
      </p:sp>
      <p:sp>
        <p:nvSpPr>
          <p:cNvPr name="TextBox 15" id="15"/>
          <p:cNvSpPr txBox="true"/>
          <p:nvPr/>
        </p:nvSpPr>
        <p:spPr>
          <a:xfrm rot="0">
            <a:off x="15210663" y="6840817"/>
            <a:ext cx="2388556" cy="826856"/>
          </a:xfrm>
          <a:prstGeom prst="rect">
            <a:avLst/>
          </a:prstGeom>
        </p:spPr>
        <p:txBody>
          <a:bodyPr anchor="t" rtlCol="false" tIns="0" lIns="0" bIns="0" rIns="0">
            <a:spAutoFit/>
          </a:bodyPr>
          <a:lstStyle/>
          <a:p>
            <a:pPr algn="just">
              <a:lnSpc>
                <a:spcPts val="2100"/>
              </a:lnSpc>
            </a:pPr>
            <a:r>
              <a:rPr lang="en-US" sz="1500">
                <a:solidFill>
                  <a:srgbClr val="000000"/>
                </a:solidFill>
                <a:latin typeface="CanvaSansSC-Regular"/>
                <a:ea typeface="CanvaSansSC-Regular"/>
                <a:cs typeface="CanvaSansSC-Regular"/>
                <a:sym typeface="CanvaSansSC-Regular"/>
              </a:rPr>
              <a:t>Selectively invest in high- potential ones; divest the weak</a:t>
            </a:r>
          </a:p>
        </p:txBody>
      </p:sp>
      <p:sp>
        <p:nvSpPr>
          <p:cNvPr name="TextBox 16" id="16"/>
          <p:cNvSpPr txBox="true"/>
          <p:nvPr/>
        </p:nvSpPr>
        <p:spPr>
          <a:xfrm rot="0">
            <a:off x="15210663" y="4180132"/>
            <a:ext cx="2734094" cy="560156"/>
          </a:xfrm>
          <a:prstGeom prst="rect">
            <a:avLst/>
          </a:prstGeom>
        </p:spPr>
        <p:txBody>
          <a:bodyPr anchor="t" rtlCol="false" tIns="0" lIns="0" bIns="0" rIns="0">
            <a:spAutoFit/>
          </a:bodyPr>
          <a:lstStyle/>
          <a:p>
            <a:pPr algn="l">
              <a:lnSpc>
                <a:spcPts val="2100"/>
              </a:lnSpc>
            </a:pPr>
            <a:r>
              <a:rPr lang="en-US" sz="1500">
                <a:solidFill>
                  <a:srgbClr val="000000"/>
                </a:solidFill>
                <a:latin typeface="CanvaSansSC-Regular"/>
                <a:ea typeface="CanvaSansSC-Regular"/>
                <a:cs typeface="CanvaSansSC-Regular"/>
                <a:sym typeface="CanvaSansSC-Regular"/>
              </a:rPr>
              <a:t>Invest to grow; strengthen leadership; future Cash Cows</a:t>
            </a:r>
          </a:p>
        </p:txBody>
      </p:sp>
      <p:sp>
        <p:nvSpPr>
          <p:cNvPr name="TextBox 17" id="17"/>
          <p:cNvSpPr txBox="true"/>
          <p:nvPr/>
        </p:nvSpPr>
        <p:spPr>
          <a:xfrm rot="0">
            <a:off x="15210663" y="5443795"/>
            <a:ext cx="2831630" cy="826856"/>
          </a:xfrm>
          <a:prstGeom prst="rect">
            <a:avLst/>
          </a:prstGeom>
        </p:spPr>
        <p:txBody>
          <a:bodyPr anchor="t" rtlCol="false" tIns="0" lIns="0" bIns="0" rIns="0">
            <a:spAutoFit/>
          </a:bodyPr>
          <a:lstStyle/>
          <a:p>
            <a:pPr algn="l">
              <a:lnSpc>
                <a:spcPts val="2100"/>
              </a:lnSpc>
            </a:pPr>
            <a:r>
              <a:rPr lang="en-US" sz="1500">
                <a:solidFill>
                  <a:srgbClr val="000000"/>
                </a:solidFill>
                <a:latin typeface="CanvaSansSC-Regular"/>
                <a:ea typeface="CanvaSansSC-Regular"/>
                <a:cs typeface="CanvaSansSC-Regular"/>
                <a:sym typeface="CanvaSansSC-Regular"/>
              </a:rPr>
              <a:t>Harvest/hold; maximize profit; fund Stars &amp; promising Question Marks</a:t>
            </a:r>
          </a:p>
        </p:txBody>
      </p:sp>
      <p:sp>
        <p:nvSpPr>
          <p:cNvPr name="TextBox 18" id="18"/>
          <p:cNvSpPr txBox="true"/>
          <p:nvPr/>
        </p:nvSpPr>
        <p:spPr>
          <a:xfrm rot="0">
            <a:off x="6379959" y="4368194"/>
            <a:ext cx="192976" cy="218151"/>
          </a:xfrm>
          <a:prstGeom prst="rect">
            <a:avLst/>
          </a:prstGeom>
        </p:spPr>
        <p:txBody>
          <a:bodyPr anchor="t" rtlCol="false" tIns="0" lIns="0" bIns="0" rIns="0">
            <a:spAutoFit/>
          </a:bodyPr>
          <a:lstStyle/>
          <a:p>
            <a:pPr algn="l">
              <a:lnSpc>
                <a:spcPts val="1399"/>
              </a:lnSpc>
            </a:pPr>
            <a:r>
              <a:rPr lang="en-US" sz="999">
                <a:solidFill>
                  <a:srgbClr val="000000"/>
                </a:solidFill>
                <a:latin typeface="CanvaSansSC-Regular"/>
                <a:ea typeface="CanvaSansSC-Regular"/>
                <a:cs typeface="CanvaSansSC-Regular"/>
                <a:sym typeface="CanvaSansSC-Regular"/>
              </a:rPr>
              <a:t>⭐ </a:t>
            </a:r>
          </a:p>
        </p:txBody>
      </p:sp>
      <p:sp>
        <p:nvSpPr>
          <p:cNvPr name="TextBox 19" id="19"/>
          <p:cNvSpPr txBox="true"/>
          <p:nvPr/>
        </p:nvSpPr>
        <p:spPr>
          <a:xfrm rot="0">
            <a:off x="6379959" y="7162229"/>
            <a:ext cx="192976" cy="218151"/>
          </a:xfrm>
          <a:prstGeom prst="rect">
            <a:avLst/>
          </a:prstGeom>
        </p:spPr>
        <p:txBody>
          <a:bodyPr anchor="t" rtlCol="false" tIns="0" lIns="0" bIns="0" rIns="0">
            <a:spAutoFit/>
          </a:bodyPr>
          <a:lstStyle/>
          <a:p>
            <a:pPr algn="l">
              <a:lnSpc>
                <a:spcPts val="1399"/>
              </a:lnSpc>
            </a:pPr>
            <a:r>
              <a:rPr lang="en-US" sz="999">
                <a:solidFill>
                  <a:srgbClr val="000000"/>
                </a:solidFill>
                <a:latin typeface="CanvaSansSC-Regular"/>
                <a:ea typeface="CanvaSansSC-Regular"/>
                <a:cs typeface="CanvaSansSC-Regular"/>
                <a:sym typeface="CanvaSansSC-Regular"/>
              </a:rPr>
              <a:t>❓ </a:t>
            </a:r>
          </a:p>
        </p:txBody>
      </p:sp>
      <p:sp>
        <p:nvSpPr>
          <p:cNvPr name="TextBox 20" id="20"/>
          <p:cNvSpPr txBox="true"/>
          <p:nvPr/>
        </p:nvSpPr>
        <p:spPr>
          <a:xfrm rot="0">
            <a:off x="6379959" y="5765216"/>
            <a:ext cx="192976" cy="218151"/>
          </a:xfrm>
          <a:prstGeom prst="rect">
            <a:avLst/>
          </a:prstGeom>
        </p:spPr>
        <p:txBody>
          <a:bodyPr anchor="t" rtlCol="false" tIns="0" lIns="0" bIns="0" rIns="0">
            <a:spAutoFit/>
          </a:bodyPr>
          <a:lstStyle/>
          <a:p>
            <a:pPr algn="l">
              <a:lnSpc>
                <a:spcPts val="1399"/>
              </a:lnSpc>
            </a:pPr>
            <a:r>
              <a:rPr lang="en-US" sz="999">
                <a:solidFill>
                  <a:srgbClr val="000000"/>
                </a:solidFill>
                <a:latin typeface="CanvaSansSC-Regular"/>
                <a:ea typeface="CanvaSansSC-Regular"/>
                <a:cs typeface="CanvaSansSC-Regular"/>
                <a:sym typeface="CanvaSansSC-Regular"/>
              </a:rPr>
              <a:t>🐄 </a:t>
            </a:r>
          </a:p>
        </p:txBody>
      </p:sp>
      <p:sp>
        <p:nvSpPr>
          <p:cNvPr name="TextBox 21" id="21"/>
          <p:cNvSpPr txBox="true"/>
          <p:nvPr/>
        </p:nvSpPr>
        <p:spPr>
          <a:xfrm rot="0">
            <a:off x="6379959" y="8559251"/>
            <a:ext cx="192976" cy="218151"/>
          </a:xfrm>
          <a:prstGeom prst="rect">
            <a:avLst/>
          </a:prstGeom>
        </p:spPr>
        <p:txBody>
          <a:bodyPr anchor="t" rtlCol="false" tIns="0" lIns="0" bIns="0" rIns="0">
            <a:spAutoFit/>
          </a:bodyPr>
          <a:lstStyle/>
          <a:p>
            <a:pPr algn="l">
              <a:lnSpc>
                <a:spcPts val="1399"/>
              </a:lnSpc>
            </a:pPr>
            <a:r>
              <a:rPr lang="en-US" sz="999">
                <a:solidFill>
                  <a:srgbClr val="000000"/>
                </a:solidFill>
                <a:latin typeface="CanvaSansSC-Regular"/>
                <a:ea typeface="CanvaSansSC-Regular"/>
                <a:cs typeface="CanvaSansSC-Regular"/>
                <a:sym typeface="CanvaSansSC-Regular"/>
              </a:rPr>
              <a:t>🐕 </a:t>
            </a:r>
          </a:p>
        </p:txBody>
      </p:sp>
      <p:sp>
        <p:nvSpPr>
          <p:cNvPr name="TextBox 22" id="22"/>
          <p:cNvSpPr txBox="true"/>
          <p:nvPr/>
        </p:nvSpPr>
        <p:spPr>
          <a:xfrm rot="0">
            <a:off x="6569269" y="8586026"/>
            <a:ext cx="316716" cy="195596"/>
          </a:xfrm>
          <a:prstGeom prst="rect">
            <a:avLst/>
          </a:prstGeom>
        </p:spPr>
        <p:txBody>
          <a:bodyPr anchor="t" rtlCol="false" tIns="0" lIns="0" bIns="0" rIns="0">
            <a:spAutoFit/>
          </a:bodyPr>
          <a:lstStyle/>
          <a:p>
            <a:pPr algn="l">
              <a:lnSpc>
                <a:spcPts val="1399"/>
              </a:lnSpc>
            </a:pPr>
            <a:r>
              <a:rPr lang="en-US" sz="999">
                <a:solidFill>
                  <a:srgbClr val="000000"/>
                </a:solidFill>
                <a:latin typeface="CanvaSansSC-Regular"/>
                <a:ea typeface="CanvaSansSC-Regular"/>
                <a:cs typeface="CanvaSansSC-Regular"/>
                <a:sym typeface="CanvaSansSC-Regular"/>
              </a:rPr>
              <a:t>Dogs</a:t>
            </a:r>
          </a:p>
        </p:txBody>
      </p:sp>
      <p:sp>
        <p:nvSpPr>
          <p:cNvPr name="TextBox 23" id="23"/>
          <p:cNvSpPr txBox="true"/>
          <p:nvPr/>
        </p:nvSpPr>
        <p:spPr>
          <a:xfrm rot="0">
            <a:off x="6569269" y="4394968"/>
            <a:ext cx="326136" cy="195596"/>
          </a:xfrm>
          <a:prstGeom prst="rect">
            <a:avLst/>
          </a:prstGeom>
        </p:spPr>
        <p:txBody>
          <a:bodyPr anchor="t" rtlCol="false" tIns="0" lIns="0" bIns="0" rIns="0">
            <a:spAutoFit/>
          </a:bodyPr>
          <a:lstStyle/>
          <a:p>
            <a:pPr algn="l">
              <a:lnSpc>
                <a:spcPts val="1399"/>
              </a:lnSpc>
            </a:pPr>
            <a:r>
              <a:rPr lang="en-US" sz="999">
                <a:solidFill>
                  <a:srgbClr val="000000"/>
                </a:solidFill>
                <a:latin typeface="CanvaSansSC-Regular"/>
                <a:ea typeface="CanvaSansSC-Regular"/>
                <a:cs typeface="CanvaSansSC-Regular"/>
                <a:sym typeface="CanvaSansSC-Regular"/>
              </a:rPr>
              <a:t>Stars</a:t>
            </a:r>
          </a:p>
        </p:txBody>
      </p:sp>
      <p:sp>
        <p:nvSpPr>
          <p:cNvPr name="TextBox 24" id="24"/>
          <p:cNvSpPr txBox="true"/>
          <p:nvPr/>
        </p:nvSpPr>
        <p:spPr>
          <a:xfrm rot="0">
            <a:off x="6569269" y="5791991"/>
            <a:ext cx="678752" cy="195596"/>
          </a:xfrm>
          <a:prstGeom prst="rect">
            <a:avLst/>
          </a:prstGeom>
        </p:spPr>
        <p:txBody>
          <a:bodyPr anchor="t" rtlCol="false" tIns="0" lIns="0" bIns="0" rIns="0">
            <a:spAutoFit/>
          </a:bodyPr>
          <a:lstStyle/>
          <a:p>
            <a:pPr algn="l">
              <a:lnSpc>
                <a:spcPts val="1399"/>
              </a:lnSpc>
            </a:pPr>
            <a:r>
              <a:rPr lang="en-US" sz="999">
                <a:solidFill>
                  <a:srgbClr val="000000"/>
                </a:solidFill>
                <a:latin typeface="CanvaSansSC-Regular"/>
                <a:ea typeface="CanvaSansSC-Regular"/>
                <a:cs typeface="CanvaSansSC-Regular"/>
                <a:sym typeface="CanvaSansSC-Regular"/>
              </a:rPr>
              <a:t>Cash Cows</a:t>
            </a:r>
          </a:p>
        </p:txBody>
      </p:sp>
      <p:sp>
        <p:nvSpPr>
          <p:cNvPr name="TextBox 25" id="25"/>
          <p:cNvSpPr txBox="true"/>
          <p:nvPr/>
        </p:nvSpPr>
        <p:spPr>
          <a:xfrm rot="0">
            <a:off x="6569269" y="7189003"/>
            <a:ext cx="988381" cy="195596"/>
          </a:xfrm>
          <a:prstGeom prst="rect">
            <a:avLst/>
          </a:prstGeom>
        </p:spPr>
        <p:txBody>
          <a:bodyPr anchor="t" rtlCol="false" tIns="0" lIns="0" bIns="0" rIns="0">
            <a:spAutoFit/>
          </a:bodyPr>
          <a:lstStyle/>
          <a:p>
            <a:pPr algn="l">
              <a:lnSpc>
                <a:spcPts val="1399"/>
              </a:lnSpc>
            </a:pPr>
            <a:r>
              <a:rPr lang="en-US" sz="999">
                <a:solidFill>
                  <a:srgbClr val="000000"/>
                </a:solidFill>
                <a:latin typeface="CanvaSansSC-Regular"/>
                <a:ea typeface="CanvaSansSC-Regular"/>
                <a:cs typeface="CanvaSansSC-Regular"/>
                <a:sym typeface="CanvaSansSC-Regular"/>
              </a:rPr>
              <a:t>Question Marks</a:t>
            </a:r>
          </a:p>
        </p:txBody>
      </p:sp>
      <p:sp>
        <p:nvSpPr>
          <p:cNvPr name="TextBox 26" id="26"/>
          <p:cNvSpPr txBox="true"/>
          <p:nvPr/>
        </p:nvSpPr>
        <p:spPr>
          <a:xfrm rot="0">
            <a:off x="2723531" y="307172"/>
            <a:ext cx="11542547" cy="1744542"/>
          </a:xfrm>
          <a:prstGeom prst="rect">
            <a:avLst/>
          </a:prstGeom>
        </p:spPr>
        <p:txBody>
          <a:bodyPr anchor="t" rtlCol="false" tIns="0" lIns="0" bIns="0" rIns="0">
            <a:spAutoFit/>
          </a:bodyPr>
          <a:lstStyle/>
          <a:p>
            <a:pPr algn="l">
              <a:lnSpc>
                <a:spcPts val="12879"/>
              </a:lnSpc>
            </a:pPr>
            <a:r>
              <a:rPr lang="en-US" sz="9199">
                <a:solidFill>
                  <a:srgbClr val="FFFFFF"/>
                </a:solidFill>
                <a:latin typeface="CanvaSansSC-Regular"/>
                <a:ea typeface="CanvaSansSC-Regular"/>
                <a:cs typeface="CanvaSansSC-Regular"/>
                <a:sym typeface="CanvaSansSC-Regular"/>
              </a:rPr>
              <a:t>BCG matrix analysis</a:t>
            </a:r>
          </a:p>
        </p:txBody>
      </p:sp>
      <p:sp>
        <p:nvSpPr>
          <p:cNvPr name="TextBox 27" id="27"/>
          <p:cNvSpPr txBox="true"/>
          <p:nvPr/>
        </p:nvSpPr>
        <p:spPr>
          <a:xfrm rot="0">
            <a:off x="6379959" y="2921851"/>
            <a:ext cx="904284" cy="293456"/>
          </a:xfrm>
          <a:prstGeom prst="rect">
            <a:avLst/>
          </a:prstGeom>
        </p:spPr>
        <p:txBody>
          <a:bodyPr anchor="t" rtlCol="false" tIns="0" lIns="0" bIns="0" rIns="0">
            <a:spAutoFit/>
          </a:bodyPr>
          <a:lstStyle/>
          <a:p>
            <a:pPr algn="l">
              <a:lnSpc>
                <a:spcPts val="2100"/>
              </a:lnSpc>
            </a:pPr>
            <a:r>
              <a:rPr lang="en-US" sz="1500">
                <a:solidFill>
                  <a:srgbClr val="000000"/>
                </a:solidFill>
                <a:latin typeface="CanvaSansSC-Regular"/>
                <a:ea typeface="CanvaSansSC-Regular"/>
                <a:cs typeface="CanvaSansSC-Regular"/>
                <a:sym typeface="CanvaSansSC-Regular"/>
              </a:rPr>
              <a:t>Quadrant</a:t>
            </a:r>
          </a:p>
        </p:txBody>
      </p:sp>
      <p:sp>
        <p:nvSpPr>
          <p:cNvPr name="TextBox 28" id="28"/>
          <p:cNvSpPr txBox="true"/>
          <p:nvPr/>
        </p:nvSpPr>
        <p:spPr>
          <a:xfrm rot="0">
            <a:off x="9323527" y="2921851"/>
            <a:ext cx="1313488" cy="293456"/>
          </a:xfrm>
          <a:prstGeom prst="rect">
            <a:avLst/>
          </a:prstGeom>
        </p:spPr>
        <p:txBody>
          <a:bodyPr anchor="t" rtlCol="false" tIns="0" lIns="0" bIns="0" rIns="0">
            <a:spAutoFit/>
          </a:bodyPr>
          <a:lstStyle/>
          <a:p>
            <a:pPr algn="l">
              <a:lnSpc>
                <a:spcPts val="2100"/>
              </a:lnSpc>
            </a:pPr>
            <a:r>
              <a:rPr lang="en-US" sz="1500">
                <a:solidFill>
                  <a:srgbClr val="000000"/>
                </a:solidFill>
                <a:latin typeface="CanvaSansSC-Regular"/>
                <a:ea typeface="CanvaSansSC-Regular"/>
                <a:cs typeface="CanvaSansSC-Regular"/>
                <a:sym typeface="CanvaSansSC-Regular"/>
              </a:rPr>
              <a:t>Product Lines</a:t>
            </a:r>
          </a:p>
        </p:txBody>
      </p:sp>
      <p:sp>
        <p:nvSpPr>
          <p:cNvPr name="TextBox 29" id="29"/>
          <p:cNvSpPr txBox="true"/>
          <p:nvPr/>
        </p:nvSpPr>
        <p:spPr>
          <a:xfrm rot="0">
            <a:off x="12267095" y="2921851"/>
            <a:ext cx="1441294" cy="293456"/>
          </a:xfrm>
          <a:prstGeom prst="rect">
            <a:avLst/>
          </a:prstGeom>
        </p:spPr>
        <p:txBody>
          <a:bodyPr anchor="t" rtlCol="false" tIns="0" lIns="0" bIns="0" rIns="0">
            <a:spAutoFit/>
          </a:bodyPr>
          <a:lstStyle/>
          <a:p>
            <a:pPr algn="l">
              <a:lnSpc>
                <a:spcPts val="2100"/>
              </a:lnSpc>
            </a:pPr>
            <a:r>
              <a:rPr lang="en-US" sz="1500">
                <a:solidFill>
                  <a:srgbClr val="000000"/>
                </a:solidFill>
                <a:latin typeface="CanvaSansSC-Regular"/>
                <a:ea typeface="CanvaSansSC-Regular"/>
                <a:cs typeface="CanvaSansSC-Regular"/>
                <a:sym typeface="CanvaSansSC-Regular"/>
              </a:rPr>
              <a:t>Characteristics</a:t>
            </a: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D9A85F"/>
        </a:solidFill>
      </p:bgPr>
    </p:bg>
    <p:spTree>
      <p:nvGrpSpPr>
        <p:cNvPr id="1" name=""/>
        <p:cNvGrpSpPr/>
        <p:nvPr/>
      </p:nvGrpSpPr>
      <p:grpSpPr>
        <a:xfrm>
          <a:off x="0" y="0"/>
          <a:ext cx="0" cy="0"/>
          <a:chOff x="0" y="0"/>
          <a:chExt cx="0" cy="0"/>
        </a:xfrm>
      </p:grpSpPr>
      <p:sp>
        <p:nvSpPr>
          <p:cNvPr name="TextBox 2" id="2"/>
          <p:cNvSpPr txBox="true"/>
          <p:nvPr/>
        </p:nvSpPr>
        <p:spPr>
          <a:xfrm rot="0">
            <a:off x="408632" y="415995"/>
            <a:ext cx="3882495" cy="990610"/>
          </a:xfrm>
          <a:prstGeom prst="rect">
            <a:avLst/>
          </a:prstGeom>
        </p:spPr>
        <p:txBody>
          <a:bodyPr anchor="t" rtlCol="false" tIns="0" lIns="0" bIns="0" rIns="0">
            <a:spAutoFit/>
          </a:bodyPr>
          <a:lstStyle/>
          <a:p>
            <a:pPr algn="l">
              <a:lnSpc>
                <a:spcPts val="7279"/>
              </a:lnSpc>
            </a:pPr>
            <a:r>
              <a:rPr lang="en-US" sz="5199">
                <a:solidFill>
                  <a:srgbClr val="000000"/>
                </a:solidFill>
                <a:latin typeface="CanvaSansSC-Regular"/>
                <a:ea typeface="CanvaSansSC-Regular"/>
                <a:cs typeface="CanvaSansSC-Regular"/>
                <a:sym typeface="CanvaSansSC-Regular"/>
              </a:rPr>
              <a:t>Conclusion:</a:t>
            </a:r>
          </a:p>
        </p:txBody>
      </p:sp>
      <p:sp>
        <p:nvSpPr>
          <p:cNvPr name="TextBox 3" id="3"/>
          <p:cNvSpPr txBox="true"/>
          <p:nvPr/>
        </p:nvSpPr>
        <p:spPr>
          <a:xfrm rot="0">
            <a:off x="1028700" y="2352942"/>
            <a:ext cx="16420862" cy="2660875"/>
          </a:xfrm>
          <a:prstGeom prst="rect">
            <a:avLst/>
          </a:prstGeom>
        </p:spPr>
        <p:txBody>
          <a:bodyPr anchor="t" rtlCol="false" tIns="0" lIns="0" bIns="0" rIns="0">
            <a:spAutoFit/>
          </a:bodyPr>
          <a:lstStyle/>
          <a:p>
            <a:pPr algn="l">
              <a:lnSpc>
                <a:spcPts val="3450"/>
              </a:lnSpc>
            </a:pPr>
            <a:r>
              <a:rPr lang="en-US" sz="2500">
                <a:solidFill>
                  <a:srgbClr val="000000"/>
                </a:solidFill>
                <a:latin typeface="CanvaSansSC-Regular"/>
                <a:ea typeface="CanvaSansSC-Regular"/>
                <a:cs typeface="CanvaSansSC-Regular"/>
                <a:sym typeface="CanvaSansSC-Regular"/>
              </a:rPr>
              <a:t>Dabur India Ltd. stands as one of the most financially stable and strategically resilient FMCG companies in India, driven by its strong foundation in Ayurveda and a diversified global presence. The company’s robust financial systems, including disciplined budgeting, low-debt capital structure, and high operating cash flows, showcase its capability to sustain long-term growth while minimizing risk. The Finance Department plays a critical role in enabling this stability through efficient planning, strict cost controls, transparent reporting, and effective working capital management.</a:t>
            </a:r>
          </a:p>
        </p:txBody>
      </p:sp>
      <p:sp>
        <p:nvSpPr>
          <p:cNvPr name="TextBox 4" id="4"/>
          <p:cNvSpPr txBox="true"/>
          <p:nvPr/>
        </p:nvSpPr>
        <p:spPr>
          <a:xfrm rot="0">
            <a:off x="1028700" y="5419992"/>
            <a:ext cx="16591150" cy="3099025"/>
          </a:xfrm>
          <a:prstGeom prst="rect">
            <a:avLst/>
          </a:prstGeom>
        </p:spPr>
        <p:txBody>
          <a:bodyPr anchor="t" rtlCol="false" tIns="0" lIns="0" bIns="0" rIns="0">
            <a:spAutoFit/>
          </a:bodyPr>
          <a:lstStyle/>
          <a:p>
            <a:pPr algn="l">
              <a:lnSpc>
                <a:spcPts val="3450"/>
              </a:lnSpc>
            </a:pPr>
            <a:r>
              <a:rPr lang="en-US" sz="2500">
                <a:solidFill>
                  <a:srgbClr val="000000"/>
                </a:solidFill>
                <a:latin typeface="CanvaSansSC-Regular"/>
                <a:ea typeface="CanvaSansSC-Regular"/>
                <a:cs typeface="CanvaSansSC-Regular"/>
                <a:sym typeface="CanvaSansSC-Regular"/>
              </a:rPr>
              <a:t>Dabur’s strategic alignment across finance, marketing, HR, and operations ensures that the company remains competitive against major FMCG players like HUL, Patanjali, and Marico. Despite challenges such as rising costs and market volatility, Dabur continues to strengthen its performance through digital transformation, improved forecasting, and global expansion initiatives. With its strong internal systems, disciplined financial governance, and commitment to innovation and sustainability, Dabur is well positioned to achieve continued growth, enhance shareholder value, and maintain its leadership in the Ayurveda-based FMCG sector.</a:t>
            </a: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783434"/>
        </a:solidFill>
      </p:bgPr>
    </p:bg>
    <p:spTree>
      <p:nvGrpSpPr>
        <p:cNvPr id="1" name=""/>
        <p:cNvGrpSpPr/>
        <p:nvPr/>
      </p:nvGrpSpPr>
      <p:grpSpPr>
        <a:xfrm>
          <a:off x="0" y="0"/>
          <a:ext cx="0" cy="0"/>
          <a:chOff x="0" y="0"/>
          <a:chExt cx="0" cy="0"/>
        </a:xfrm>
      </p:grpSpPr>
      <p:sp>
        <p:nvSpPr>
          <p:cNvPr name="TextBox 2" id="2"/>
          <p:cNvSpPr txBox="true"/>
          <p:nvPr/>
        </p:nvSpPr>
        <p:spPr>
          <a:xfrm rot="0">
            <a:off x="5228873" y="4075481"/>
            <a:ext cx="7986608" cy="2044808"/>
          </a:xfrm>
          <a:prstGeom prst="rect">
            <a:avLst/>
          </a:prstGeom>
        </p:spPr>
        <p:txBody>
          <a:bodyPr anchor="t" rtlCol="false" tIns="0" lIns="0" bIns="0" rIns="0">
            <a:spAutoFit/>
          </a:bodyPr>
          <a:lstStyle/>
          <a:p>
            <a:pPr algn="l">
              <a:lnSpc>
                <a:spcPts val="15039"/>
              </a:lnSpc>
            </a:pPr>
            <a:r>
              <a:rPr lang="en-US" sz="10742">
                <a:solidFill>
                  <a:srgbClr val="FFFFFF"/>
                </a:solidFill>
                <a:latin typeface="CanvaSansSC-Regular"/>
                <a:ea typeface="CanvaSansSC-Regular"/>
                <a:cs typeface="CanvaSansSC-Regular"/>
                <a:sym typeface="CanvaSansSC-Regular"/>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DAHV5Qxg6Es</dc:identifier>
  <dcterms:modified xsi:type="dcterms:W3CDTF">2011-08-01T06:04:30Z</dcterms:modified>
  <cp:revision>1</cp:revision>
  <dc:title>yuvan pppt.pdf</dc:title>
</cp:coreProperties>
</file>